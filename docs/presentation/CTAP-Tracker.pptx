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1.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1.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6" r:id="rId17"/>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  <Relationship Id="rId17" Type="http://schemas.openxmlformats.org/officeDocument/2006/relationships/slide" Target="slides/slide1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CTAP Tracker — a personal tool for Service &amp; Repair engineers to track their CTAP bonus in real time. Built by an engineer, running on ten phones for the trial. Everything you see is on-device; I will come back to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scheme is real money, but the feedback loop is broken. MI is ten to fourteen days behind, so you learn about a bad week when there is nothing left to do about it. This app closes that loop — it does not replace MI, it just tells you where you are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bit engineers actually care about. You can talk a day in, or catch a whole week up on a Friday by naming the days. Critically it produces a draft, not a write — you see the proposed entries and anything it could not match, and nothing lands until you confirm. The worst outcome would be wrong figures you did not know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open. The app deliberately does not look finished until it is — the starting balance is the one setting that makes the headline number theirs rather than fictional, so the card names it rather than leaving it at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your multiplier and tax band and it shows gross and take-home. Example figures on screen. This is the thing that turns the bonus from an abstraction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History gives the pattern rather than a single week. The exclude toggle matters for fairness — a week of certified sickness should not drag a balance down, and deleting the data to achieve that would be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optional, both off in one tap. I want to be explicit about the check-in because it is the one people will ask about: it is a private diary, there is no management view of it, and that is a property of the build rather than a promise.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will want. The employer blocker was never about access control — it was about the data leaving the device, and the only answer to that is that nothing is transmitted. The cost is real and we state it up front: no backup, no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straight about what is not done. The catalogue figures are the one that could affect an engineer directly, so that is the priority. Offline is tested but not yet watched on a handset.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Anyone can install it from that link in under a minute. Happy to walk a group through the first-run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New since the first version of this deck. Shift times are set in a picker with a Confirm, because the iPhone time wheel used to close after the first scroll. An engineer on a rota can copy a shift to exactly the days they work. A day with no times is a rest day: it isn't leave, so the week keeps its 40 hours, and nobody has to mark it, because it's read from the Schedule.</a:t>
            </a:r>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GB"/>
              <a:t>5</a:t>
            </a:fld>
            <a:endParaRPr lang="en-GB"/>
          </a:p>
        </p:txBody>
      </p:sp>
    </p:spTree>
    <p:extLst>
      <p:ext uri="{BB962C8B-B14F-4D97-AF65-F5344CB8AC3E}">
        <p14:creationId xmlns:p14="http://schemas.microsoft.com/office/powerpoint/2010/main" val="209173461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2057400"/>
            <a:ext cx="6583680" cy="1051560"/>
          </a:xfrm>
          <a:prstGeom prst="rect">
            <a:avLst/>
          </a:prstGeom>
          <a:noFill/>
          <a:ln/>
        </p:spPr>
        <p:txBody>
          <a:bodyPr wrap="square" lIns="0" tIns="0" rIns="0" bIns="0" rtlCol="0" anchor="ctr"/>
          <a:lstStyle/>
          <a:p>
            <a:pPr indent="0" marL="0">
              <a:buNone/>
            </a:pPr>
            <a:r>
              <a:rPr lang="en-US" sz="7200" b="1" spc="-150" kern="0" dirty="0">
                <a:solidFill>
                  <a:srgbClr val="0F1522"/>
                </a:solidFill>
                <a:latin typeface="Arial" pitchFamily="34" charset="0"/>
                <a:ea typeface="Arial" pitchFamily="34" charset="-122"/>
                <a:cs typeface="Arial" pitchFamily="34" charset="-120"/>
              </a:rPr>
              <a:t>CTAP</a:t>
            </a:r>
            <a:endParaRPr lang="en-US" sz="7200" dirty="0"/>
          </a:p>
        </p:txBody>
      </p:sp>
      <p:sp>
        <p:nvSpPr>
          <p:cNvPr id="3" name="Text 1"/>
          <p:cNvSpPr txBox="1"/>
          <p:nvPr/>
        </p:nvSpPr>
        <p:spPr>
          <a:xfrm>
            <a:off x="566928" y="3035808"/>
            <a:ext cx="6583680" cy="1051560"/>
          </a:xfrm>
          <a:prstGeom prst="rect">
            <a:avLst/>
          </a:prstGeom>
          <a:noFill/>
          <a:ln/>
        </p:spPr>
        <p:txBody>
          <a:bodyPr wrap="square" lIns="0" tIns="0" rIns="0" bIns="0" rtlCol="0" anchor="ctr"/>
          <a:lstStyle/>
          <a:p>
            <a:pPr indent="0" marL="0">
              <a:buNone/>
            </a:pPr>
            <a:r>
              <a:rPr lang="en-US" sz="7200" b="1" spc="-150" kern="0" dirty="0">
                <a:solidFill>
                  <a:srgbClr val="2F6BC4"/>
                </a:solidFill>
                <a:latin typeface="Arial" pitchFamily="34" charset="0"/>
                <a:ea typeface="Arial" pitchFamily="34" charset="-122"/>
                <a:cs typeface="Arial" pitchFamily="34" charset="-120"/>
              </a:rPr>
              <a:t>Tracker</a:t>
            </a:r>
            <a:endParaRPr lang="en-US" sz="7200" dirty="0"/>
          </a:p>
        </p:txBody>
      </p:sp>
      <p:sp>
        <p:nvSpPr>
          <p:cNvPr id="4" name="Text 2"/>
          <p:cNvSpPr txBox="1"/>
          <p:nvPr/>
        </p:nvSpPr>
        <p:spPr>
          <a:xfrm>
            <a:off x="566928" y="4224528"/>
            <a:ext cx="5852160" cy="457200"/>
          </a:xfrm>
          <a:prstGeom prst="rect">
            <a:avLst/>
          </a:prstGeom>
          <a:noFill/>
          <a:ln/>
        </p:spPr>
        <p:txBody>
          <a:bodyPr wrap="square" lIns="0" tIns="0" rIns="0" bIns="0" rtlCol="0" anchor="ctr"/>
          <a:lstStyle/>
          <a:p>
            <a:pPr indent="0" marL="0">
              <a:buNone/>
            </a:pPr>
            <a:r>
              <a:rPr lang="en-US" sz="1800" dirty="0">
                <a:solidFill>
                  <a:srgbClr val="4B5565"/>
                </a:solidFill>
                <a:latin typeface="Calibri" pitchFamily="34" charset="0"/>
                <a:ea typeface="Calibri" pitchFamily="34" charset="-122"/>
                <a:cs typeface="Calibri" pitchFamily="34" charset="-120"/>
              </a:rPr>
              <a:t>Know where your CTAP stands today, not next month.</a:t>
            </a:r>
            <a:endParaRPr lang="en-US" sz="1800" dirty="0"/>
          </a:p>
        </p:txBody>
      </p:sp>
      <p:sp>
        <p:nvSpPr>
          <p:cNvPr id="5" name="Text 3"/>
          <p:cNvSpPr txBox="1"/>
          <p:nvPr/>
        </p:nvSpPr>
        <p:spPr>
          <a:xfrm>
            <a:off x="566928" y="4892040"/>
            <a:ext cx="5852160" cy="274320"/>
          </a:xfrm>
          <a:prstGeom prst="rect">
            <a:avLst/>
          </a:prstGeom>
          <a:noFill/>
          <a:ln/>
        </p:spPr>
        <p:txBody>
          <a:bodyPr wrap="square" lIns="0" tIns="0" rIns="0" bIns="0" rtlCol="0" anchor="ctr"/>
          <a:lstStyle/>
          <a:p>
            <a:pPr indent="0" marL="0">
              <a:buNone/>
            </a:pPr>
            <a:r>
              <a:rPr lang="en-US" sz="1100" spc="180" kern="0" dirty="0">
                <a:solidFill>
                  <a:srgbClr val="6B7485"/>
                </a:solidFill>
                <a:latin typeface="Arial" pitchFamily="34" charset="0"/>
                <a:ea typeface="Arial" pitchFamily="34" charset="-122"/>
                <a:cs typeface="Arial" pitchFamily="34" charset="-120"/>
              </a:rPr>
              <a:t>TRIAL BUILD  ·  v0.8.0  ·  SERVICE + REPAIR</a:t>
            </a:r>
            <a:endParaRPr lang="en-US" sz="1100" dirty="0"/>
          </a:p>
        </p:txBody>
      </p:sp>
      <p:sp>
        <p:nvSpPr>
          <p:cNvPr id="6" name="Shape 4"/>
          <p:cNvSpPr/>
          <p:nvPr/>
        </p:nvSpPr>
        <p:spPr>
          <a:xfrm>
            <a:off x="7795260" y="708660"/>
            <a:ext cx="2587839" cy="5440680"/>
          </a:xfrm>
          <a:prstGeom prst="roundRect">
            <a:avLst>
              <a:gd name="adj" fmla="val 7774"/>
            </a:avLst>
          </a:prstGeom>
          <a:solidFill>
            <a:srgbClr val="DDE3EC"/>
          </a:solidFill>
          <a:ln w="12700">
            <a:solidFill>
              <a:srgbClr val="DDE3EC"/>
            </a:solidFill>
            <a:prstDash val="solid"/>
          </a:ln>
        </p:spPr>
      </p:sp>
      <p:pic>
        <p:nvPicPr>
          <p:cNvPr id="7" name="Image 0" descr="shots/dashboard.png">    </p:cNvPr>
          <p:cNvPicPr>
            <a:picLocks noChangeAspect="1"/>
          </p:cNvPicPr>
          <p:nvPr/>
        </p:nvPicPr>
        <p:blipFill>
          <a:blip r:embed="rId1"/>
          <a:stretch>
            <a:fillRect/>
          </a:stretch>
        </p:blipFill>
        <p:spPr>
          <a:xfrm>
            <a:off x="7863840" y="777240"/>
            <a:ext cx="2450679" cy="5303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0584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566928" y="877824"/>
            <a:ext cx="10058400" cy="1371600"/>
          </a:xfrm>
          <a:prstGeom prst="rect">
            <a:avLst/>
          </a:prstGeom>
          <a:noFill/>
          <a:ln/>
        </p:spPr>
        <p:txBody>
          <a:bodyPr wrap="square" lIns="0" tIns="0" rIns="0" bIns="0" rtlCol="0" anchor="ctr"/>
          <a:lstStyle/>
          <a:p>
            <a:pPr indent="0" marL="0">
              <a:lnSpc>
                <a:spcPts val="4600"/>
              </a:lnSpc>
              <a:buNone/>
            </a:pPr>
            <a:r>
              <a:rPr lang="en-US" sz="3800" b="1" dirty="0">
                <a:solidFill>
                  <a:srgbClr val="0F1522"/>
                </a:solidFill>
                <a:latin typeface="Arial" pitchFamily="34" charset="0"/>
                <a:ea typeface="Arial" pitchFamily="34" charset="-122"/>
                <a:cs typeface="Arial" pitchFamily="34" charset="-120"/>
              </a:rPr>
              <a:t>You find out a week was short</a:t>
            </a:r>
            <a:endParaRPr lang="en-US" sz="3800" dirty="0"/>
          </a:p>
          <a:p>
            <a:pPr indent="0" marL="0">
              <a:lnSpc>
                <a:spcPts val="4600"/>
              </a:lnSpc>
              <a:buNone/>
            </a:pPr>
            <a:r>
              <a:rPr lang="en-US" sz="3800" b="1" dirty="0">
                <a:solidFill>
                  <a:srgbClr val="0F1522"/>
                </a:solidFill>
                <a:latin typeface="Arial" pitchFamily="34" charset="0"/>
                <a:ea typeface="Arial" pitchFamily="34" charset="-122"/>
                <a:cs typeface="Arial" pitchFamily="34" charset="-120"/>
              </a:rPr>
              <a:t>when it is already gone.</a:t>
            </a:r>
            <a:endParaRPr lang="en-US" sz="3800" dirty="0"/>
          </a:p>
        </p:txBody>
      </p:sp>
      <p:sp>
        <p:nvSpPr>
          <p:cNvPr id="4" name="Shape 2"/>
          <p:cNvSpPr/>
          <p:nvPr/>
        </p:nvSpPr>
        <p:spPr>
          <a:xfrm>
            <a:off x="566928" y="2514600"/>
            <a:ext cx="3493008" cy="2788920"/>
          </a:xfrm>
          <a:prstGeom prst="roundRect">
            <a:avLst>
              <a:gd name="adj" fmla="val 3934"/>
            </a:avLst>
          </a:prstGeom>
          <a:solidFill>
            <a:srgbClr val="F2F2F7"/>
          </a:solidFill>
          <a:ln w="12700">
            <a:solidFill>
              <a:srgbClr val="DDE3EC"/>
            </a:solidFill>
            <a:prstDash val="solid"/>
          </a:ln>
        </p:spPr>
      </p:sp>
      <p:sp>
        <p:nvSpPr>
          <p:cNvPr id="5" name="Text 3"/>
          <p:cNvSpPr txBox="1"/>
          <p:nvPr/>
        </p:nvSpPr>
        <p:spPr>
          <a:xfrm>
            <a:off x="859536"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10–14</a:t>
            </a:r>
            <a:endParaRPr lang="en-US" sz="5000" dirty="0"/>
          </a:p>
        </p:txBody>
      </p:sp>
      <p:sp>
        <p:nvSpPr>
          <p:cNvPr id="6" name="Text 4"/>
          <p:cNvSpPr txBox="1"/>
          <p:nvPr/>
        </p:nvSpPr>
        <p:spPr>
          <a:xfrm>
            <a:off x="859536"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DAYS</a:t>
            </a:r>
            <a:endParaRPr lang="en-US" sz="1000" dirty="0"/>
          </a:p>
        </p:txBody>
      </p:sp>
      <p:sp>
        <p:nvSpPr>
          <p:cNvPr id="7" name="Text 5"/>
          <p:cNvSpPr txBox="1"/>
          <p:nvPr/>
        </p:nvSpPr>
        <p:spPr>
          <a:xfrm>
            <a:off x="859536"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Before MI lands</a:t>
            </a:r>
            <a:endParaRPr lang="en-US" sz="1600" dirty="0"/>
          </a:p>
        </p:txBody>
      </p:sp>
      <p:sp>
        <p:nvSpPr>
          <p:cNvPr id="8" name="Text 6"/>
          <p:cNvSpPr txBox="1"/>
          <p:nvPr/>
        </p:nvSpPr>
        <p:spPr>
          <a:xfrm>
            <a:off x="859536"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By the time the figures come back, the week they describe is long finished.</a:t>
            </a:r>
            <a:endParaRPr lang="en-US" sz="1300" dirty="0"/>
          </a:p>
        </p:txBody>
      </p:sp>
      <p:sp>
        <p:nvSpPr>
          <p:cNvPr id="9" name="Shape 7"/>
          <p:cNvSpPr/>
          <p:nvPr/>
        </p:nvSpPr>
        <p:spPr>
          <a:xfrm>
            <a:off x="4334256" y="2514600"/>
            <a:ext cx="3493008" cy="2788920"/>
          </a:xfrm>
          <a:prstGeom prst="roundRect">
            <a:avLst>
              <a:gd name="adj" fmla="val 3934"/>
            </a:avLst>
          </a:prstGeom>
          <a:solidFill>
            <a:srgbClr val="F2F2F7"/>
          </a:solidFill>
          <a:ln w="12700">
            <a:solidFill>
              <a:srgbClr val="DDE3EC"/>
            </a:solidFill>
            <a:prstDash val="solid"/>
          </a:ln>
        </p:spPr>
      </p:sp>
      <p:sp>
        <p:nvSpPr>
          <p:cNvPr id="10" name="Text 8"/>
          <p:cNvSpPr txBox="1"/>
          <p:nvPr/>
        </p:nvSpPr>
        <p:spPr>
          <a:xfrm>
            <a:off x="4626864"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0</a:t>
            </a:r>
            <a:endParaRPr lang="en-US" sz="5000" dirty="0"/>
          </a:p>
        </p:txBody>
      </p:sp>
      <p:sp>
        <p:nvSpPr>
          <p:cNvPr id="11" name="Text 9"/>
          <p:cNvSpPr txBox="1"/>
          <p:nvPr/>
        </p:nvSpPr>
        <p:spPr>
          <a:xfrm>
            <a:off x="4626864"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IN-WEEK VIEW</a:t>
            </a:r>
            <a:endParaRPr lang="en-US" sz="1000" dirty="0"/>
          </a:p>
        </p:txBody>
      </p:sp>
      <p:sp>
        <p:nvSpPr>
          <p:cNvPr id="12" name="Text 10"/>
          <p:cNvSpPr txBox="1"/>
          <p:nvPr/>
        </p:nvSpPr>
        <p:spPr>
          <a:xfrm>
            <a:off x="4626864"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Nothing to act on</a:t>
            </a:r>
            <a:endParaRPr lang="en-US" sz="1600" dirty="0"/>
          </a:p>
        </p:txBody>
      </p:sp>
      <p:sp>
        <p:nvSpPr>
          <p:cNvPr id="13" name="Text 11"/>
          <p:cNvSpPr txBox="1"/>
          <p:nvPr/>
        </p:nvSpPr>
        <p:spPr>
          <a:xfrm>
            <a:off x="4626864"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No way to see mid-week that you are behind while there is still week left to fix it.</a:t>
            </a:r>
            <a:endParaRPr lang="en-US" sz="1300" dirty="0"/>
          </a:p>
        </p:txBody>
      </p:sp>
      <p:sp>
        <p:nvSpPr>
          <p:cNvPr id="14" name="Shape 12"/>
          <p:cNvSpPr/>
          <p:nvPr/>
        </p:nvSpPr>
        <p:spPr>
          <a:xfrm>
            <a:off x="8101584" y="2514600"/>
            <a:ext cx="3493008" cy="2788920"/>
          </a:xfrm>
          <a:prstGeom prst="roundRect">
            <a:avLst>
              <a:gd name="adj" fmla="val 3934"/>
            </a:avLst>
          </a:prstGeom>
          <a:solidFill>
            <a:srgbClr val="F2F2F7"/>
          </a:solidFill>
          <a:ln w="12700">
            <a:solidFill>
              <a:srgbClr val="DDE3EC"/>
            </a:solidFill>
            <a:prstDash val="solid"/>
          </a:ln>
        </p:spPr>
      </p:sp>
      <p:sp>
        <p:nvSpPr>
          <p:cNvPr id="15" name="Text 13"/>
          <p:cNvSpPr txBox="1"/>
          <p:nvPr/>
        </p:nvSpPr>
        <p:spPr>
          <a:xfrm>
            <a:off x="8394192" y="2788920"/>
            <a:ext cx="2926080" cy="777240"/>
          </a:xfrm>
          <a:prstGeom prst="rect">
            <a:avLst/>
          </a:prstGeom>
          <a:noFill/>
          <a:ln/>
        </p:spPr>
        <p:txBody>
          <a:bodyPr wrap="square" lIns="0" tIns="0" rIns="0" bIns="0" rtlCol="0" anchor="ctr"/>
          <a:lstStyle/>
          <a:p>
            <a:pPr indent="0" marL="0">
              <a:buNone/>
            </a:pPr>
            <a:r>
              <a:rPr lang="en-US" sz="5000" b="1" dirty="0">
                <a:solidFill>
                  <a:srgbClr val="2F6BC4"/>
                </a:solidFill>
                <a:latin typeface="Arial" pitchFamily="34" charset="0"/>
                <a:ea typeface="Arial" pitchFamily="34" charset="-122"/>
                <a:cs typeface="Arial" pitchFamily="34" charset="-120"/>
              </a:rPr>
              <a:t>?</a:t>
            </a:r>
            <a:endParaRPr lang="en-US" sz="5000" dirty="0"/>
          </a:p>
        </p:txBody>
      </p:sp>
      <p:sp>
        <p:nvSpPr>
          <p:cNvPr id="16" name="Text 14"/>
          <p:cNvSpPr txBox="1"/>
          <p:nvPr/>
        </p:nvSpPr>
        <p:spPr>
          <a:xfrm>
            <a:off x="8394192" y="3584448"/>
            <a:ext cx="2926080" cy="228600"/>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AFTER TAX</a:t>
            </a:r>
            <a:endParaRPr lang="en-US" sz="1000" dirty="0"/>
          </a:p>
        </p:txBody>
      </p:sp>
      <p:sp>
        <p:nvSpPr>
          <p:cNvPr id="17" name="Text 15"/>
          <p:cNvSpPr txBox="1"/>
          <p:nvPr/>
        </p:nvSpPr>
        <p:spPr>
          <a:xfrm>
            <a:off x="8394192" y="3977640"/>
            <a:ext cx="2926080" cy="320040"/>
          </a:xfrm>
          <a:prstGeom prst="rect">
            <a:avLst/>
          </a:prstGeom>
          <a:noFill/>
          <a:ln/>
        </p:spPr>
        <p:txBody>
          <a:bodyPr wrap="square" lIns="0" tIns="0" rIns="0" bIns="0" rtlCol="0" anchor="ctr"/>
          <a:lstStyle/>
          <a:p>
            <a:pPr indent="0" marL="0">
              <a:buNone/>
            </a:pPr>
            <a:r>
              <a:rPr lang="en-US" sz="1600" b="1" dirty="0">
                <a:solidFill>
                  <a:srgbClr val="0F1522"/>
                </a:solidFill>
                <a:latin typeface="Arial" pitchFamily="34" charset="0"/>
                <a:ea typeface="Arial" pitchFamily="34" charset="-122"/>
                <a:cs typeface="Arial" pitchFamily="34" charset="-120"/>
              </a:rPr>
              <a:t>A balance in hours</a:t>
            </a:r>
            <a:endParaRPr lang="en-US" sz="1600" dirty="0"/>
          </a:p>
        </p:txBody>
      </p:sp>
      <p:sp>
        <p:nvSpPr>
          <p:cNvPr id="18" name="Text 16"/>
          <p:cNvSpPr txBox="1"/>
          <p:nvPr/>
        </p:nvSpPr>
        <p:spPr>
          <a:xfrm>
            <a:off x="8394192" y="4370832"/>
            <a:ext cx="2926080" cy="86868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 bonus sits as a number of hours nobody converts into what actually reaches your bank.</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9494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LOG IT</a:t>
            </a:r>
            <a:endParaRPr lang="en-US" sz="1100" dirty="0"/>
          </a:p>
        </p:txBody>
      </p:sp>
      <p:sp>
        <p:nvSpPr>
          <p:cNvPr id="3" name="Text 1"/>
          <p:cNvSpPr txBox="1"/>
          <p:nvPr/>
        </p:nvSpPr>
        <p:spPr>
          <a:xfrm>
            <a:off x="566928" y="877824"/>
            <a:ext cx="694944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Say the day. It writes nothing</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until you confirm.</a:t>
            </a:r>
            <a:endParaRPr lang="en-US" sz="3200" dirty="0"/>
          </a:p>
        </p:txBody>
      </p:sp>
      <p:sp>
        <p:nvSpPr>
          <p:cNvPr id="4" name="Shape 2"/>
          <p:cNvSpPr/>
          <p:nvPr/>
        </p:nvSpPr>
        <p:spPr>
          <a:xfrm>
            <a:off x="566928" y="2331720"/>
            <a:ext cx="32004" cy="621792"/>
          </a:xfrm>
          <a:prstGeom prst="rect">
            <a:avLst/>
          </a:prstGeom>
          <a:solidFill>
            <a:srgbClr val="2F6BC4"/>
          </a:solidFill>
          <a:ln w="12700">
            <a:solidFill>
              <a:srgbClr val="2F6BC4"/>
            </a:solidFill>
            <a:prstDash val="solid"/>
          </a:ln>
        </p:spPr>
      </p:sp>
      <p:sp>
        <p:nvSpPr>
          <p:cNvPr id="5" name="Text 3"/>
          <p:cNvSpPr txBox="1"/>
          <p:nvPr/>
        </p:nvSpPr>
        <p:spPr>
          <a:xfrm>
            <a:off x="804672" y="2331720"/>
            <a:ext cx="6400800" cy="310896"/>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“Six breakdowns and two services.”</a:t>
            </a:r>
            <a:endParaRPr lang="en-US" sz="1800" dirty="0"/>
          </a:p>
        </p:txBody>
      </p:sp>
      <p:sp>
        <p:nvSpPr>
          <p:cNvPr id="6" name="Text 4"/>
          <p:cNvSpPr txBox="1"/>
          <p:nvPr/>
        </p:nvSpPr>
        <p:spPr>
          <a:xfrm>
            <a:off x="804672" y="2679192"/>
            <a:ext cx="6400800" cy="2743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day, said once.</a:t>
            </a:r>
            <a:endParaRPr lang="en-US" sz="1250" dirty="0"/>
          </a:p>
        </p:txBody>
      </p:sp>
      <p:sp>
        <p:nvSpPr>
          <p:cNvPr id="7" name="Shape 5"/>
          <p:cNvSpPr/>
          <p:nvPr/>
        </p:nvSpPr>
        <p:spPr>
          <a:xfrm>
            <a:off x="566928" y="3419856"/>
            <a:ext cx="32004" cy="1161288"/>
          </a:xfrm>
          <a:prstGeom prst="rect">
            <a:avLst/>
          </a:prstGeom>
          <a:solidFill>
            <a:srgbClr val="2F6BC4"/>
          </a:solidFill>
          <a:ln w="12700">
            <a:solidFill>
              <a:srgbClr val="2F6BC4"/>
            </a:solidFill>
            <a:prstDash val="solid"/>
          </a:ln>
        </p:spPr>
      </p:sp>
      <p:sp>
        <p:nvSpPr>
          <p:cNvPr id="8" name="Text 6"/>
          <p:cNvSpPr txBox="1"/>
          <p:nvPr/>
        </p:nvSpPr>
        <p:spPr>
          <a:xfrm>
            <a:off x="804672" y="3419856"/>
            <a:ext cx="6400800" cy="621792"/>
          </a:xfrm>
          <a:prstGeom prst="rect">
            <a:avLst/>
          </a:prstGeom>
          <a:noFill/>
          <a:ln/>
        </p:spPr>
        <p:txBody>
          <a:bodyPr wrap="square" lIns="0" tIns="0" rIns="0" bIns="0" rtlCol="0" anchor="ctr"/>
          <a:lstStyle/>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“Monday six breakdowns, Tuesday three services</a:t>
            </a:r>
            <a:endParaRPr lang="en-US" sz="1800" dirty="0"/>
          </a:p>
          <a:p>
            <a:pPr indent="0" marL="0">
              <a:lnSpc>
                <a:spcPts val="2400"/>
              </a:lnSpc>
              <a:buNone/>
            </a:pPr>
            <a:r>
              <a:rPr lang="en-US" sz="1800" i="1" dirty="0">
                <a:solidFill>
                  <a:srgbClr val="0F1522"/>
                </a:solidFill>
                <a:latin typeface="Calibri" pitchFamily="34" charset="0"/>
                <a:ea typeface="Calibri" pitchFamily="34" charset="-122"/>
                <a:cs typeface="Calibri" pitchFamily="34" charset="-120"/>
              </a:rPr>
              <a:t>and an inhibitor, Wednesday a long duration.”</a:t>
            </a:r>
            <a:endParaRPr lang="en-US" sz="1800" dirty="0"/>
          </a:p>
        </p:txBody>
      </p:sp>
      <p:sp>
        <p:nvSpPr>
          <p:cNvPr id="9" name="Text 7"/>
          <p:cNvSpPr txBox="1"/>
          <p:nvPr/>
        </p:nvSpPr>
        <p:spPr>
          <a:xfrm>
            <a:off x="804672" y="4078224"/>
            <a:ext cx="6400800" cy="502920"/>
          </a:xfrm>
          <a:prstGeom prst="rect">
            <a:avLst/>
          </a:prstGeom>
          <a:noFill/>
          <a:ln/>
        </p:spPr>
        <p:txBody>
          <a:bodyPr wrap="square" lIns="0" tIns="0" rIns="0" bIns="0" rtlCol="0" anchor="t"/>
          <a:lstStyle/>
          <a:p>
            <a:pPr indent="0" marL="0">
              <a:lnSpc>
                <a:spcPts val="1700"/>
              </a:lnSpc>
              <a:buNone/>
            </a:pPr>
            <a:r>
              <a:rPr lang="en-US" sz="1250" dirty="0">
                <a:solidFill>
                  <a:srgbClr val="6B7485"/>
                </a:solidFill>
                <a:latin typeface="Calibri" pitchFamily="34" charset="0"/>
                <a:ea typeface="Calibri" pitchFamily="34" charset="-122"/>
                <a:cs typeface="Calibri" pitchFamily="34" charset="-120"/>
              </a:rPr>
              <a:t>A whole week, caught up on a Friday. Each day is read separately and lands on the day you said it against.</a:t>
            </a:r>
            <a:endParaRPr lang="en-US" sz="1250" dirty="0"/>
          </a:p>
        </p:txBody>
      </p:sp>
      <p:sp>
        <p:nvSpPr>
          <p:cNvPr id="10" name="Shape 8"/>
          <p:cNvSpPr/>
          <p:nvPr/>
        </p:nvSpPr>
        <p:spPr>
          <a:xfrm>
            <a:off x="566928" y="4956048"/>
            <a:ext cx="6675120" cy="960120"/>
          </a:xfrm>
          <a:prstGeom prst="roundRect">
            <a:avLst>
              <a:gd name="adj" fmla="val 9524"/>
            </a:avLst>
          </a:prstGeom>
          <a:solidFill>
            <a:srgbClr val="F2F2F7"/>
          </a:solidFill>
          <a:ln w="12700">
            <a:solidFill>
              <a:srgbClr val="DDE3EC"/>
            </a:solidFill>
            <a:prstDash val="solid"/>
          </a:ln>
        </p:spPr>
      </p:sp>
      <p:sp>
        <p:nvSpPr>
          <p:cNvPr id="11" name="Text 9"/>
          <p:cNvSpPr txBox="1"/>
          <p:nvPr/>
        </p:nvSpPr>
        <p:spPr>
          <a:xfrm>
            <a:off x="841248" y="5138928"/>
            <a:ext cx="6126480" cy="640080"/>
          </a:xfrm>
          <a:prstGeom prst="rect">
            <a:avLst/>
          </a:prstGeom>
          <a:noFill/>
          <a:ln/>
        </p:spPr>
        <p:txBody>
          <a:bodyPr wrap="square" lIns="0" tIns="0" rIns="0" bIns="0" rtlCol="0" anchor="ctr"/>
          <a:lstStyle/>
          <a:p>
            <a:pPr indent="0" marL="0">
              <a:lnSpc>
                <a:spcPts val="2000"/>
              </a:lnSpc>
              <a:buNone/>
            </a:pPr>
            <a:r>
              <a:rPr lang="en-US" sz="1400" b="1" dirty="0">
                <a:solidFill>
                  <a:srgbClr val="0F1522"/>
                </a:solidFill>
                <a:latin typeface="Calibri" pitchFamily="34" charset="0"/>
                <a:ea typeface="Calibri" pitchFamily="34" charset="-122"/>
                <a:cs typeface="Calibri" pitchFamily="34" charset="-120"/>
              </a:rPr>
              <a:t>It handles what voice does to trade numbers.  </a:t>
            </a:r>
            <a:pPr indent="0" marL="0">
              <a:lnSpc>
                <a:spcPts val="2000"/>
              </a:lnSpc>
              <a:buNone/>
            </a:pPr>
            <a:r>
              <a:rPr lang="en-US" sz="1400" dirty="0">
                <a:solidFill>
                  <a:srgbClr val="4B5565"/>
                </a:solidFill>
                <a:latin typeface="Calibri" pitchFamily="34" charset="0"/>
                <a:ea typeface="Calibri" pitchFamily="34" charset="-122"/>
                <a:cs typeface="Calibri" pitchFamily="34" charset="-120"/>
              </a:rPr>
              <a:t>“too high installs” becomes 2 × Hive install, not a job called “too high”.</a:t>
            </a:r>
            <a:endParaRPr lang="en-US" sz="1400" dirty="0"/>
          </a:p>
        </p:txBody>
      </p:sp>
      <p:sp>
        <p:nvSpPr>
          <p:cNvPr id="12" name="Shape 10"/>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log-job.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0" y="566928"/>
            <a:ext cx="521208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SET UP</a:t>
            </a:r>
            <a:endParaRPr lang="en-US" sz="1100" dirty="0"/>
          </a:p>
        </p:txBody>
      </p:sp>
      <p:sp>
        <p:nvSpPr>
          <p:cNvPr id="3" name="Text 1"/>
          <p:cNvSpPr txBox="1"/>
          <p:nvPr/>
        </p:nvSpPr>
        <p:spPr>
          <a:xfrm>
            <a:off x="6400800" y="877824"/>
            <a:ext cx="5212080" cy="118872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Three taps, then it gets</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out of the way.</a:t>
            </a:r>
            <a:endParaRPr lang="en-US" sz="3000" dirty="0"/>
          </a:p>
        </p:txBody>
      </p:sp>
      <p:sp>
        <p:nvSpPr>
          <p:cNvPr id="4" name="Shape 2"/>
          <p:cNvSpPr/>
          <p:nvPr/>
        </p:nvSpPr>
        <p:spPr>
          <a:xfrm>
            <a:off x="6400800" y="2304288"/>
            <a:ext cx="347472" cy="347472"/>
          </a:xfrm>
          <a:prstGeom prst="ellipse">
            <a:avLst/>
          </a:prstGeom>
          <a:solidFill>
            <a:srgbClr val="2F6BC4"/>
          </a:solidFill>
          <a:ln w="12700">
            <a:solidFill>
              <a:srgbClr val="2F6BC4"/>
            </a:solidFill>
            <a:prstDash val="solid"/>
          </a:ln>
        </p:spPr>
      </p:sp>
      <p:sp>
        <p:nvSpPr>
          <p:cNvPr id="5" name="Text 3"/>
          <p:cNvSpPr txBox="1"/>
          <p:nvPr/>
        </p:nvSpPr>
        <p:spPr>
          <a:xfrm>
            <a:off x="6400800" y="2304288"/>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6912864" y="2286000"/>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Your starting balance</a:t>
            </a:r>
            <a:endParaRPr lang="en-US" sz="1700" dirty="0"/>
          </a:p>
        </p:txBody>
      </p:sp>
      <p:sp>
        <p:nvSpPr>
          <p:cNvPr id="7" name="Text 5"/>
          <p:cNvSpPr txBox="1"/>
          <p:nvPr/>
        </p:nvSpPr>
        <p:spPr>
          <a:xfrm>
            <a:off x="6912864" y="2651760"/>
            <a:ext cx="4663440" cy="82296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The hours you are already up or down. Without it every figure starts from zero — which is almost certainly not where you are.</a:t>
            </a:r>
            <a:endParaRPr lang="en-US" sz="1350" dirty="0"/>
          </a:p>
        </p:txBody>
      </p:sp>
      <p:sp>
        <p:nvSpPr>
          <p:cNvPr id="8" name="Shape 6"/>
          <p:cNvSpPr/>
          <p:nvPr/>
        </p:nvSpPr>
        <p:spPr>
          <a:xfrm>
            <a:off x="6400800" y="3602736"/>
            <a:ext cx="347472" cy="347472"/>
          </a:xfrm>
          <a:prstGeom prst="ellipse">
            <a:avLst/>
          </a:prstGeom>
          <a:solidFill>
            <a:srgbClr val="2F6BC4"/>
          </a:solidFill>
          <a:ln w="12700">
            <a:solidFill>
              <a:srgbClr val="2F6BC4"/>
            </a:solidFill>
            <a:prstDash val="solid"/>
          </a:ln>
        </p:spPr>
      </p:sp>
      <p:sp>
        <p:nvSpPr>
          <p:cNvPr id="9" name="Text 7"/>
          <p:cNvSpPr txBox="1"/>
          <p:nvPr/>
        </p:nvSpPr>
        <p:spPr>
          <a:xfrm>
            <a:off x="6400800" y="3602736"/>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6912864" y="3584448"/>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This week’s shifts</a:t>
            </a:r>
            <a:endParaRPr lang="en-US" sz="1700" dirty="0"/>
          </a:p>
        </p:txBody>
      </p:sp>
      <p:sp>
        <p:nvSpPr>
          <p:cNvPr id="11" name="Text 9"/>
          <p:cNvSpPr txBox="1"/>
          <p:nvPr/>
        </p:nvSpPr>
        <p:spPr>
          <a:xfrm>
            <a:off x="6912864" y="3950208"/>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One tap if you are a normal Mon–Fri.</a:t>
            </a:r>
            <a:endParaRPr lang="en-US" sz="1350" dirty="0"/>
          </a:p>
        </p:txBody>
      </p:sp>
      <p:sp>
        <p:nvSpPr>
          <p:cNvPr id="12" name="Shape 10"/>
          <p:cNvSpPr/>
          <p:nvPr/>
        </p:nvSpPr>
        <p:spPr>
          <a:xfrm>
            <a:off x="6400800" y="4626864"/>
            <a:ext cx="347472" cy="347472"/>
          </a:xfrm>
          <a:prstGeom prst="ellipse">
            <a:avLst/>
          </a:prstGeom>
          <a:solidFill>
            <a:srgbClr val="2F6BC4"/>
          </a:solidFill>
          <a:ln w="12700">
            <a:solidFill>
              <a:srgbClr val="2F6BC4"/>
            </a:solidFill>
            <a:prstDash val="solid"/>
          </a:ln>
        </p:spPr>
      </p:sp>
      <p:sp>
        <p:nvSpPr>
          <p:cNvPr id="13" name="Text 11"/>
          <p:cNvSpPr txBox="1"/>
          <p:nvPr/>
        </p:nvSpPr>
        <p:spPr>
          <a:xfrm>
            <a:off x="6400800" y="4626864"/>
            <a:ext cx="347472" cy="347472"/>
          </a:xfrm>
          <a:prstGeom prst="rect">
            <a:avLst/>
          </a:prstGeom>
          <a:noFill/>
          <a:ln/>
        </p:spPr>
        <p:txBody>
          <a:bodyPr wrap="square" lIns="0" tIns="0" rIns="0" bIns="0" rtlCol="0" anchor="ctr"/>
          <a:lstStyle/>
          <a:p>
            <a:pPr algn="ctr" indent="0" marL="0">
              <a:buNone/>
            </a:pPr>
            <a:r>
              <a:rPr lang="en-US" sz="1300" b="1" dirty="0">
                <a:solidFill>
                  <a:srgbClr val="0F1522"/>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6912864" y="4608576"/>
            <a:ext cx="4663440" cy="329184"/>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How it works</a:t>
            </a:r>
            <a:endParaRPr lang="en-US" sz="1700" dirty="0"/>
          </a:p>
        </p:txBody>
      </p:sp>
      <p:sp>
        <p:nvSpPr>
          <p:cNvPr id="15" name="Text 13"/>
          <p:cNvSpPr txBox="1"/>
          <p:nvPr/>
        </p:nvSpPr>
        <p:spPr>
          <a:xfrm>
            <a:off x="6912864" y="4974336"/>
            <a:ext cx="4663440" cy="457200"/>
          </a:xfrm>
          <a:prstGeom prst="rect">
            <a:avLst/>
          </a:prstGeom>
          <a:noFill/>
          <a:ln/>
        </p:spPr>
        <p:txBody>
          <a:bodyPr wrap="square" lIns="0" tIns="0" rIns="0" bIns="0" rtlCol="0" anchor="t"/>
          <a:lstStyle/>
          <a:p>
            <a:pPr indent="0" marL="0">
              <a:lnSpc>
                <a:spcPts val="1900"/>
              </a:lnSpc>
              <a:buNone/>
            </a:pPr>
            <a:r>
              <a:rPr lang="en-US" sz="1350" dirty="0">
                <a:solidFill>
                  <a:srgbClr val="4B5565"/>
                </a:solidFill>
                <a:latin typeface="Calibri" pitchFamily="34" charset="0"/>
                <a:ea typeface="Calibri" pitchFamily="34" charset="-122"/>
                <a:cs typeface="Calibri" pitchFamily="34" charset="-120"/>
              </a:rPr>
              <a:t>Two minutes, covering where the data lives.</a:t>
            </a:r>
            <a:endParaRPr lang="en-US" sz="1350" dirty="0"/>
          </a:p>
        </p:txBody>
      </p:sp>
      <p:sp>
        <p:nvSpPr>
          <p:cNvPr id="16" name="Text 14"/>
          <p:cNvSpPr txBox="1"/>
          <p:nvPr/>
        </p:nvSpPr>
        <p:spPr>
          <a:xfrm>
            <a:off x="6400800" y="5715000"/>
            <a:ext cx="5175504"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card ticks each step off and disappears for good once they are done.</a:t>
            </a:r>
            <a:endParaRPr lang="en-US" sz="1300" dirty="0"/>
          </a:p>
        </p:txBody>
      </p:sp>
      <p:sp>
        <p:nvSpPr>
          <p:cNvPr id="17" name="Shape 15"/>
          <p:cNvSpPr/>
          <p:nvPr/>
        </p:nvSpPr>
        <p:spPr>
          <a:xfrm>
            <a:off x="1303020" y="589788"/>
            <a:ext cx="2714598" cy="5715000"/>
          </a:xfrm>
          <a:prstGeom prst="roundRect">
            <a:avLst>
              <a:gd name="adj" fmla="val 7411"/>
            </a:avLst>
          </a:prstGeom>
          <a:solidFill>
            <a:srgbClr val="DDE3EC"/>
          </a:solidFill>
          <a:ln w="12700">
            <a:solidFill>
              <a:srgbClr val="DDE3EC"/>
            </a:solidFill>
            <a:prstDash val="solid"/>
          </a:ln>
        </p:spPr>
      </p:sp>
      <p:pic>
        <p:nvPicPr>
          <p:cNvPr id="18" name="Image 0" descr="shots/setup-card.png">    </p:cNvPr>
          <p:cNvPicPr>
            <a:picLocks noChangeAspect="1"/>
          </p:cNvPicPr>
          <p:nvPr/>
        </p:nvPicPr>
        <p:blipFill>
          <a:blip r:embed="rId1"/>
          <a:stretch>
            <a:fillRect/>
          </a:stretch>
        </p:blipFill>
        <p:spPr>
          <a:xfrm>
            <a:off x="1371600" y="658368"/>
            <a:ext cx="2577438" cy="5577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WHAT IT IS WORTH</a:t>
            </a:r>
            <a:endParaRPr lang="en-US" sz="1100" dirty="0"/>
          </a:p>
        </p:txBody>
      </p:sp>
      <p:sp>
        <p:nvSpPr>
          <p:cNvPr id="3" name="Text 1"/>
          <p:cNvSpPr txBox="1"/>
          <p:nvPr/>
        </p:nvSpPr>
        <p:spPr>
          <a:xfrm>
            <a:off x="566928" y="877824"/>
            <a:ext cx="676656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Hours, converted into</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what reaches your bank.</a:t>
            </a:r>
            <a:endParaRPr lang="en-US" sz="3200" dirty="0"/>
          </a:p>
        </p:txBody>
      </p:sp>
      <p:sp>
        <p:nvSpPr>
          <p:cNvPr id="4" name="Shape 2"/>
          <p:cNvSpPr/>
          <p:nvPr/>
        </p:nvSpPr>
        <p:spPr>
          <a:xfrm>
            <a:off x="566928" y="2377440"/>
            <a:ext cx="6720840" cy="1371600"/>
          </a:xfrm>
          <a:prstGeom prst="roundRect">
            <a:avLst>
              <a:gd name="adj" fmla="val 8000"/>
            </a:avLst>
          </a:prstGeom>
          <a:solidFill>
            <a:srgbClr val="F2F2F7"/>
          </a:solidFill>
          <a:ln w="12700">
            <a:solidFill>
              <a:srgbClr val="DDE3EC"/>
            </a:solidFill>
            <a:prstDash val="solid"/>
          </a:ln>
        </p:spPr>
      </p:sp>
      <p:sp>
        <p:nvSpPr>
          <p:cNvPr id="5" name="Text 3"/>
          <p:cNvSpPr txBox="1"/>
          <p:nvPr/>
        </p:nvSpPr>
        <p:spPr>
          <a:xfrm>
            <a:off x="859536" y="257860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WEEKLY TARGET</a:t>
            </a:r>
            <a:endParaRPr lang="en-US" sz="1000" dirty="0"/>
          </a:p>
        </p:txBody>
      </p:sp>
      <p:sp>
        <p:nvSpPr>
          <p:cNvPr id="6" name="Text 4"/>
          <p:cNvSpPr txBox="1"/>
          <p:nvPr/>
        </p:nvSpPr>
        <p:spPr>
          <a:xfrm>
            <a:off x="859536" y="2852928"/>
            <a:ext cx="6126480" cy="457200"/>
          </a:xfrm>
          <a:prstGeom prst="rect">
            <a:avLst/>
          </a:prstGeom>
          <a:noFill/>
          <a:ln/>
        </p:spPr>
        <p:txBody>
          <a:bodyPr wrap="square" lIns="0" tIns="0" rIns="0" bIns="0" rtlCol="0" anchor="ctr"/>
          <a:lstStyle/>
          <a:p>
            <a:pPr indent="0" marL="0">
              <a:buNone/>
            </a:pPr>
            <a:r>
              <a:rPr lang="en-US" sz="1900" dirty="0">
                <a:solidFill>
                  <a:srgbClr val="0F1522"/>
                </a:solidFill>
                <a:latin typeface="Arial" pitchFamily="34" charset="0"/>
                <a:ea typeface="Arial" pitchFamily="34" charset="-122"/>
                <a:cs typeface="Arial" pitchFamily="34" charset="-120"/>
              </a:rPr>
              <a:t>40.0h</a:t>
            </a:r>
            <a:pPr indent="0" marL="0">
              <a:buNone/>
            </a:pPr>
            <a:r>
              <a:rPr lang="en-US" sz="1900" dirty="0">
                <a:solidFill>
                  <a:srgbClr val="6B7485"/>
                </a:solidFill>
                <a:latin typeface="Arial" pitchFamily="34" charset="0"/>
                <a:ea typeface="Arial" pitchFamily="34" charset="-122"/>
                <a:cs typeface="Arial" pitchFamily="34" charset="-120"/>
              </a:rPr>
              <a:t>  rostered  ×  </a:t>
            </a:r>
            <a:pPr indent="0" marL="0">
              <a:buNone/>
            </a:pPr>
            <a:r>
              <a:rPr lang="en-US" sz="1900" dirty="0">
                <a:solidFill>
                  <a:srgbClr val="0F1522"/>
                </a:solidFill>
                <a:latin typeface="Arial" pitchFamily="34" charset="0"/>
                <a:ea typeface="Arial" pitchFamily="34" charset="-122"/>
                <a:cs typeface="Arial" pitchFamily="34" charset="-120"/>
              </a:rPr>
              <a:t>80%</a:t>
            </a:r>
            <a:pPr indent="0" marL="0">
              <a:buNone/>
            </a:pPr>
            <a:r>
              <a:rPr lang="en-US" sz="1900" dirty="0">
                <a:solidFill>
                  <a:srgbClr val="6B7485"/>
                </a:solidFill>
                <a:latin typeface="Arial" pitchFamily="34" charset="0"/>
                <a:ea typeface="Arial" pitchFamily="34" charset="-122"/>
                <a:cs typeface="Arial" pitchFamily="34" charset="-120"/>
              </a:rPr>
              <a:t>   =   </a:t>
            </a:r>
            <a:pPr indent="0" marL="0">
              <a:buNone/>
            </a:pPr>
            <a:r>
              <a:rPr lang="en-US" sz="1900" b="1" dirty="0">
                <a:solidFill>
                  <a:srgbClr val="2F6BC4"/>
                </a:solidFill>
                <a:latin typeface="Arial" pitchFamily="34" charset="0"/>
                <a:ea typeface="Arial" pitchFamily="34" charset="-122"/>
                <a:cs typeface="Arial" pitchFamily="34" charset="-120"/>
              </a:rPr>
              <a:t>32.0h</a:t>
            </a:r>
            <a:endParaRPr lang="en-US" sz="1900" dirty="0"/>
          </a:p>
        </p:txBody>
      </p:sp>
      <p:sp>
        <p:nvSpPr>
          <p:cNvPr id="7" name="Text 5"/>
          <p:cNvSpPr txBox="1"/>
          <p:nvPr/>
        </p:nvSpPr>
        <p:spPr>
          <a:xfrm>
            <a:off x="859536" y="3310128"/>
            <a:ext cx="6126480" cy="365760"/>
          </a:xfrm>
          <a:prstGeom prst="rect">
            <a:avLst/>
          </a:prstGeom>
          <a:noFill/>
          <a:ln/>
        </p:spPr>
        <p:txBody>
          <a:bodyPr wrap="square" lIns="0" tIns="0" rIns="0" bIns="0" rtlCol="0" anchor="ctr"/>
          <a:lstStyle/>
          <a:p>
            <a:pPr indent="0" marL="0">
              <a:buNone/>
            </a:pPr>
            <a:r>
              <a:rPr lang="en-US" sz="1200" dirty="0">
                <a:solidFill>
                  <a:srgbClr val="6B7485"/>
                </a:solidFill>
                <a:latin typeface="Calibri" pitchFamily="34" charset="0"/>
                <a:ea typeface="Calibri" pitchFamily="34" charset="-122"/>
                <a:cs typeface="Calibri" pitchFamily="34" charset="-120"/>
              </a:rPr>
              <a:t>The 80% is a buffer for travel and performance factor. After four logged weeks it uses your own rolling average instead.</a:t>
            </a:r>
            <a:endParaRPr lang="en-US" sz="1200" dirty="0"/>
          </a:p>
        </p:txBody>
      </p:sp>
      <p:sp>
        <p:nvSpPr>
          <p:cNvPr id="8" name="Shape 6"/>
          <p:cNvSpPr/>
          <p:nvPr/>
        </p:nvSpPr>
        <p:spPr>
          <a:xfrm>
            <a:off x="566928" y="3931920"/>
            <a:ext cx="6720840" cy="1691640"/>
          </a:xfrm>
          <a:prstGeom prst="roundRect">
            <a:avLst>
              <a:gd name="adj" fmla="val 6486"/>
            </a:avLst>
          </a:prstGeom>
          <a:solidFill>
            <a:srgbClr val="F2F2F7"/>
          </a:solidFill>
          <a:ln w="12700">
            <a:solidFill>
              <a:srgbClr val="2F6BC4"/>
            </a:solidFill>
            <a:prstDash val="solid"/>
          </a:ln>
        </p:spPr>
      </p:sp>
      <p:sp>
        <p:nvSpPr>
          <p:cNvPr id="9" name="Text 7"/>
          <p:cNvSpPr txBox="1"/>
          <p:nvPr/>
        </p:nvSpPr>
        <p:spPr>
          <a:xfrm>
            <a:off x="859536" y="4133088"/>
            <a:ext cx="6126480" cy="219456"/>
          </a:xfrm>
          <a:prstGeom prst="rect">
            <a:avLst/>
          </a:prstGeom>
          <a:noFill/>
          <a:ln/>
        </p:spPr>
        <p:txBody>
          <a:bodyPr wrap="square" lIns="0" tIns="0" rIns="0" bIns="0" rtlCol="0" anchor="ctr"/>
          <a:lstStyle/>
          <a:p>
            <a:pPr indent="0" marL="0">
              <a:buNone/>
            </a:pPr>
            <a:r>
              <a:rPr lang="en-US" sz="1000" spc="160" kern="0" dirty="0">
                <a:solidFill>
                  <a:srgbClr val="6B7485"/>
                </a:solidFill>
                <a:latin typeface="Arial" pitchFamily="34" charset="0"/>
                <a:ea typeface="Arial" pitchFamily="34" charset="-122"/>
                <a:cs typeface="Arial" pitchFamily="34" charset="-120"/>
              </a:rPr>
              <a:t>CASH-OUT</a:t>
            </a:r>
            <a:endParaRPr lang="en-US" sz="1000" dirty="0"/>
          </a:p>
        </p:txBody>
      </p:sp>
      <p:sp>
        <p:nvSpPr>
          <p:cNvPr id="10" name="Text 8"/>
          <p:cNvSpPr txBox="1"/>
          <p:nvPr/>
        </p:nvSpPr>
        <p:spPr>
          <a:xfrm>
            <a:off x="859536" y="4407408"/>
            <a:ext cx="6126480" cy="384048"/>
          </a:xfrm>
          <a:prstGeom prst="rect">
            <a:avLst/>
          </a:prstGeom>
          <a:noFill/>
          <a:ln/>
        </p:spPr>
        <p:txBody>
          <a:bodyPr wrap="square" lIns="0" tIns="0" rIns="0" bIns="0" rtlCol="0" anchor="ctr"/>
          <a:lstStyle/>
          <a:p>
            <a:pPr indent="0" marL="0">
              <a:buNone/>
            </a:pPr>
            <a:r>
              <a:rPr lang="en-US" sz="1700" dirty="0">
                <a:solidFill>
                  <a:srgbClr val="0F1522"/>
                </a:solidFill>
                <a:latin typeface="Arial" pitchFamily="34" charset="0"/>
                <a:ea typeface="Arial" pitchFamily="34" charset="-122"/>
                <a:cs typeface="Arial" pitchFamily="34" charset="-120"/>
              </a:rPr>
              <a:t>17.23h</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£19.39</a:t>
            </a:r>
            <a:pPr indent="0" marL="0">
              <a:buNone/>
            </a:pPr>
            <a:r>
              <a:rPr lang="en-US" sz="1700" dirty="0">
                <a:solidFill>
                  <a:srgbClr val="6B7485"/>
                </a:solidFill>
                <a:latin typeface="Arial" pitchFamily="34" charset="0"/>
                <a:ea typeface="Arial" pitchFamily="34" charset="-122"/>
                <a:cs typeface="Arial" pitchFamily="34" charset="-120"/>
              </a:rPr>
              <a:t>  ×  </a:t>
            </a:r>
            <a:pPr indent="0" marL="0">
              <a:buNone/>
            </a:pPr>
            <a:r>
              <a:rPr lang="en-US" sz="1700" dirty="0">
                <a:solidFill>
                  <a:srgbClr val="0F1522"/>
                </a:solidFill>
                <a:latin typeface="Arial" pitchFamily="34" charset="0"/>
                <a:ea typeface="Arial" pitchFamily="34" charset="-122"/>
                <a:cs typeface="Arial" pitchFamily="34" charset="-120"/>
              </a:rPr>
              <a:t>1.4×</a:t>
            </a:r>
            <a:pPr indent="0" marL="0">
              <a:buNone/>
            </a:pPr>
            <a:r>
              <a:rPr lang="en-US" sz="1700" dirty="0">
                <a:solidFill>
                  <a:srgbClr val="6B7485"/>
                </a:solidFill>
                <a:latin typeface="Arial" pitchFamily="34" charset="0"/>
                <a:ea typeface="Arial" pitchFamily="34" charset="-122"/>
                <a:cs typeface="Arial" pitchFamily="34" charset="-120"/>
              </a:rPr>
              <a:t>  − 28%</a:t>
            </a:r>
            <a:endParaRPr lang="en-US" sz="1700" dirty="0"/>
          </a:p>
        </p:txBody>
      </p:sp>
      <p:sp>
        <p:nvSpPr>
          <p:cNvPr id="11" name="Text 9"/>
          <p:cNvSpPr txBox="1"/>
          <p:nvPr/>
        </p:nvSpPr>
        <p:spPr>
          <a:xfrm>
            <a:off x="859536" y="4846320"/>
            <a:ext cx="6126480" cy="548640"/>
          </a:xfrm>
          <a:prstGeom prst="rect">
            <a:avLst/>
          </a:prstGeom>
          <a:noFill/>
          <a:ln/>
        </p:spPr>
        <p:txBody>
          <a:bodyPr wrap="square" lIns="0" tIns="0" rIns="0" bIns="0" rtlCol="0" anchor="ctr"/>
          <a:lstStyle/>
          <a:p>
            <a:pPr indent="0" marL="0">
              <a:buNone/>
            </a:pPr>
            <a:r>
              <a:rPr lang="en-US" sz="3400" b="1" dirty="0">
                <a:solidFill>
                  <a:srgbClr val="1F8A4C"/>
                </a:solidFill>
                <a:latin typeface="Arial" pitchFamily="34" charset="0"/>
                <a:ea typeface="Arial" pitchFamily="34" charset="-122"/>
                <a:cs typeface="Arial" pitchFamily="34" charset="-120"/>
              </a:rPr>
              <a:t>£336.83</a:t>
            </a:r>
            <a:pPr indent="0" marL="0">
              <a:buNone/>
            </a:pPr>
            <a:r>
              <a:rPr lang="en-US" sz="1500" dirty="0">
                <a:solidFill>
                  <a:srgbClr val="6B7485"/>
                </a:solidFill>
                <a:latin typeface="Arial" pitchFamily="34" charset="0"/>
                <a:ea typeface="Arial" pitchFamily="34" charset="-122"/>
                <a:cs typeface="Arial" pitchFamily="34" charset="-120"/>
              </a:rPr>
              <a:t>   take-home</a:t>
            </a:r>
            <a:endParaRPr lang="en-US" sz="3400" dirty="0"/>
          </a:p>
        </p:txBody>
      </p:sp>
      <p:sp>
        <p:nvSpPr>
          <p:cNvPr id="12" name="Text 10"/>
          <p:cNvSpPr txBox="1"/>
          <p:nvPr/>
        </p:nvSpPr>
        <p:spPr>
          <a:xfrm>
            <a:off x="566928" y="5897880"/>
            <a:ext cx="6720840" cy="365760"/>
          </a:xfrm>
          <a:prstGeom prst="rect">
            <a:avLst/>
          </a:prstGeom>
          <a:noFill/>
          <a:ln/>
        </p:spPr>
        <p:txBody>
          <a:bodyPr wrap="square" lIns="0" tIns="0" rIns="0" bIns="0" rtlCol="0" anchor="ctr"/>
          <a:lstStyle/>
          <a:p>
            <a:pPr indent="0" marL="0">
              <a:buNone/>
            </a:pPr>
            <a:r>
              <a:rPr lang="en-US" sz="1300" i="1" dirty="0">
                <a:solidFill>
                  <a:srgbClr val="6B7485"/>
                </a:solidFill>
                <a:latin typeface="Calibri" pitchFamily="34" charset="0"/>
                <a:ea typeface="Calibri" pitchFamily="34" charset="-122"/>
                <a:cs typeface="Calibri" pitchFamily="34" charset="-120"/>
              </a:rPr>
              <a:t>The arithmetic is printed under the figure in the app, so it can be checked rather than trusted.</a:t>
            </a:r>
            <a:endParaRPr lang="en-US" sz="1300" dirty="0"/>
          </a:p>
        </p:txBody>
      </p:sp>
      <p:sp>
        <p:nvSpPr>
          <p:cNvPr id="13" name="Shape 11"/>
          <p:cNvSpPr/>
          <p:nvPr/>
        </p:nvSpPr>
        <p:spPr>
          <a:xfrm>
            <a:off x="8206740" y="589788"/>
            <a:ext cx="2714598" cy="5715000"/>
          </a:xfrm>
          <a:prstGeom prst="roundRect">
            <a:avLst>
              <a:gd name="adj" fmla="val 7411"/>
            </a:avLst>
          </a:prstGeom>
          <a:solidFill>
            <a:srgbClr val="DDE3EC"/>
          </a:solidFill>
          <a:ln w="12700">
            <a:solidFill>
              <a:srgbClr val="DDE3EC"/>
            </a:solidFill>
            <a:prstDash val="solid"/>
          </a:ln>
        </p:spPr>
      </p:sp>
      <p:pic>
        <p:nvPicPr>
          <p:cNvPr id="14" name="Image 0" descr="shots/cashout-sheet.png">    </p:cNvPr>
          <p:cNvPicPr>
            <a:picLocks noChangeAspect="1"/>
          </p:cNvPicPr>
          <p:nvPr/>
        </p:nvPicPr>
        <p:blipFill>
          <a:blip r:embed="rId1"/>
          <a:stretch>
            <a:fillRect/>
          </a:stretch>
        </p:blipFill>
        <p:spPr>
          <a:xfrm>
            <a:off x="8275320" y="658368"/>
            <a:ext cx="2577438" cy="5577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309360" y="566928"/>
            <a:ext cx="534924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YOU STAND</a:t>
            </a:r>
            <a:endParaRPr lang="en-US" sz="1100" dirty="0"/>
          </a:p>
        </p:txBody>
      </p:sp>
      <p:sp>
        <p:nvSpPr>
          <p:cNvPr id="3" name="Text 1"/>
          <p:cNvSpPr txBox="1"/>
          <p:nvPr/>
        </p:nvSpPr>
        <p:spPr>
          <a:xfrm>
            <a:off x="6309360" y="877824"/>
            <a:ext cx="5349240" cy="1280160"/>
          </a:xfrm>
          <a:prstGeom prst="rect">
            <a:avLst/>
          </a:prstGeom>
          <a:noFill/>
          <a:ln/>
        </p:spPr>
        <p:txBody>
          <a:bodyPr wrap="square" lIns="0" tIns="0" rIns="0" bIns="0" rtlCol="0" anchor="ctr"/>
          <a:lstStyle/>
          <a:p>
            <a:pPr indent="0" marL="0">
              <a:lnSpc>
                <a:spcPts val="3800"/>
              </a:lnSpc>
              <a:buNone/>
            </a:pPr>
            <a:r>
              <a:rPr lang="en-US" sz="3000" b="1" dirty="0">
                <a:solidFill>
                  <a:srgbClr val="0F1522"/>
                </a:solidFill>
                <a:latin typeface="Arial" pitchFamily="34" charset="0"/>
                <a:ea typeface="Arial" pitchFamily="34" charset="-122"/>
                <a:cs typeface="Arial" pitchFamily="34" charset="-120"/>
              </a:rPr>
              <a:t>Every week you have logged,</a:t>
            </a:r>
            <a:endParaRPr lang="en-US" sz="3000" dirty="0"/>
          </a:p>
          <a:p>
            <a:pPr indent="0" marL="0">
              <a:lnSpc>
                <a:spcPts val="3800"/>
              </a:lnSpc>
              <a:buNone/>
            </a:pPr>
            <a:r>
              <a:rPr lang="en-US" sz="3000" b="1" dirty="0">
                <a:solidFill>
                  <a:srgbClr val="0F1522"/>
                </a:solidFill>
                <a:latin typeface="Arial" pitchFamily="34" charset="0"/>
                <a:ea typeface="Arial" pitchFamily="34" charset="-122"/>
                <a:cs typeface="Arial" pitchFamily="34" charset="-120"/>
              </a:rPr>
              <a:t>and the balance that carries.</a:t>
            </a:r>
            <a:endParaRPr lang="en-US" sz="3000" dirty="0"/>
          </a:p>
        </p:txBody>
      </p:sp>
      <p:sp>
        <p:nvSpPr>
          <p:cNvPr id="4" name="Shape 2"/>
          <p:cNvSpPr/>
          <p:nvPr/>
        </p:nvSpPr>
        <p:spPr>
          <a:xfrm>
            <a:off x="6309360" y="2459736"/>
            <a:ext cx="173736" cy="173736"/>
          </a:xfrm>
          <a:prstGeom prst="ellipse">
            <a:avLst/>
          </a:prstGeom>
          <a:solidFill>
            <a:srgbClr val="1F8A4C"/>
          </a:solidFill>
          <a:ln w="12700">
            <a:solidFill>
              <a:srgbClr val="1F8A4C"/>
            </a:solidFill>
            <a:prstDash val="solid"/>
          </a:ln>
        </p:spPr>
      </p:sp>
      <p:sp>
        <p:nvSpPr>
          <p:cNvPr id="5" name="Text 3"/>
          <p:cNvSpPr txBox="1"/>
          <p:nvPr/>
        </p:nvSpPr>
        <p:spPr>
          <a:xfrm>
            <a:off x="6675120" y="23957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Green — bonus hit</a:t>
            </a:r>
            <a:endParaRPr lang="en-US" sz="1500" dirty="0"/>
          </a:p>
        </p:txBody>
      </p:sp>
      <p:sp>
        <p:nvSpPr>
          <p:cNvPr id="6" name="Shape 4"/>
          <p:cNvSpPr/>
          <p:nvPr/>
        </p:nvSpPr>
        <p:spPr>
          <a:xfrm>
            <a:off x="6309360" y="2916936"/>
            <a:ext cx="173736" cy="173736"/>
          </a:xfrm>
          <a:prstGeom prst="ellipse">
            <a:avLst/>
          </a:prstGeom>
          <a:solidFill>
            <a:srgbClr val="D9A21B"/>
          </a:solidFill>
          <a:ln w="12700">
            <a:solidFill>
              <a:srgbClr val="D9A21B"/>
            </a:solidFill>
            <a:prstDash val="solid"/>
          </a:ln>
        </p:spPr>
      </p:sp>
      <p:sp>
        <p:nvSpPr>
          <p:cNvPr id="7" name="Text 5"/>
          <p:cNvSpPr txBox="1"/>
          <p:nvPr/>
        </p:nvSpPr>
        <p:spPr>
          <a:xfrm>
            <a:off x="6675120" y="28529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Amber — on track</a:t>
            </a:r>
            <a:endParaRPr lang="en-US" sz="1500" dirty="0"/>
          </a:p>
        </p:txBody>
      </p:sp>
      <p:sp>
        <p:nvSpPr>
          <p:cNvPr id="8" name="Shape 6"/>
          <p:cNvSpPr/>
          <p:nvPr/>
        </p:nvSpPr>
        <p:spPr>
          <a:xfrm>
            <a:off x="6309360" y="3374136"/>
            <a:ext cx="173736" cy="173736"/>
          </a:xfrm>
          <a:prstGeom prst="ellipse">
            <a:avLst/>
          </a:prstGeom>
          <a:solidFill>
            <a:srgbClr val="D64545"/>
          </a:solidFill>
          <a:ln w="12700">
            <a:solidFill>
              <a:srgbClr val="D64545"/>
            </a:solidFill>
            <a:prstDash val="solid"/>
          </a:ln>
        </p:spPr>
      </p:sp>
      <p:sp>
        <p:nvSpPr>
          <p:cNvPr id="9" name="Text 7"/>
          <p:cNvSpPr txBox="1"/>
          <p:nvPr/>
        </p:nvSpPr>
        <p:spPr>
          <a:xfrm>
            <a:off x="6675120" y="3310128"/>
            <a:ext cx="4937760" cy="310896"/>
          </a:xfrm>
          <a:prstGeom prst="rect">
            <a:avLst/>
          </a:prstGeom>
          <a:noFill/>
          <a:ln/>
        </p:spPr>
        <p:txBody>
          <a:bodyPr wrap="square" lIns="0" tIns="0" rIns="0" bIns="0" rtlCol="0" anchor="ctr"/>
          <a:lstStyle/>
          <a:p>
            <a:pPr indent="0" marL="0">
              <a:buNone/>
            </a:pPr>
            <a:r>
              <a:rPr lang="en-US" sz="1500" dirty="0">
                <a:solidFill>
                  <a:srgbClr val="4B5565"/>
                </a:solidFill>
                <a:latin typeface="Calibri" pitchFamily="34" charset="0"/>
                <a:ea typeface="Calibri" pitchFamily="34" charset="-122"/>
                <a:cs typeface="Calibri" pitchFamily="34" charset="-120"/>
              </a:rPr>
              <a:t>Red — below target</a:t>
            </a:r>
            <a:endParaRPr lang="en-US" sz="1500" dirty="0"/>
          </a:p>
        </p:txBody>
      </p:sp>
      <p:sp>
        <p:nvSpPr>
          <p:cNvPr id="10" name="Text 8"/>
          <p:cNvSpPr txBox="1"/>
          <p:nvPr/>
        </p:nvSpPr>
        <p:spPr>
          <a:xfrm>
            <a:off x="6309360" y="3977640"/>
            <a:ext cx="5349240" cy="1005840"/>
          </a:xfrm>
          <a:prstGeom prst="rect">
            <a:avLst/>
          </a:prstGeom>
          <a:noFill/>
          <a:ln/>
        </p:spPr>
        <p:txBody>
          <a:bodyPr wrap="square" lIns="0" tIns="0" rIns="0" bIns="0" rtlCol="0" anchor="t"/>
          <a:lstStyle/>
          <a:p>
            <a:pPr indent="0" marL="0">
              <a:lnSpc>
                <a:spcPts val="2100"/>
              </a:lnSpc>
              <a:buNone/>
            </a:pPr>
            <a:r>
              <a:rPr lang="en-US" sz="1400" dirty="0">
                <a:solidFill>
                  <a:srgbClr val="4B5565"/>
                </a:solidFill>
                <a:latin typeface="Calibri" pitchFamily="34" charset="0"/>
                <a:ea typeface="Calibri" pitchFamily="34" charset="-122"/>
                <a:cs typeface="Calibri" pitchFamily="34" charset="-120"/>
              </a:rPr>
              <a:t>A week that was not a fair test — full sickness, a phased return, a week you were still working the app out — can be excluded from the running balance without deleting it.</a:t>
            </a:r>
            <a:endParaRPr lang="en-US" sz="1400" dirty="0"/>
          </a:p>
        </p:txBody>
      </p:sp>
      <p:sp>
        <p:nvSpPr>
          <p:cNvPr id="11" name="Text 9"/>
          <p:cNvSpPr txBox="1"/>
          <p:nvPr/>
        </p:nvSpPr>
        <p:spPr>
          <a:xfrm>
            <a:off x="6309360" y="5029200"/>
            <a:ext cx="5349240" cy="822960"/>
          </a:xfrm>
          <a:prstGeom prst="rect">
            <a:avLst/>
          </a:prstGeom>
          <a:noFill/>
          <a:ln/>
        </p:spPr>
        <p:txBody>
          <a:bodyPr wrap="square" lIns="0" tIns="0" rIns="0" bIns="0" rtlCol="0" anchor="ctr"/>
          <a:lstStyle/>
          <a:p>
            <a:pPr indent="0" marL="0">
              <a:lnSpc>
                <a:spcPts val="2100"/>
              </a:lnSpc>
              <a:buNone/>
            </a:pPr>
            <a:r>
              <a:rPr lang="en-US" sz="1400" b="1" dirty="0">
                <a:solidFill>
                  <a:srgbClr val="0F1522"/>
                </a:solidFill>
                <a:latin typeface="Calibri" pitchFamily="34" charset="0"/>
                <a:ea typeface="Calibri" pitchFamily="34" charset="-122"/>
                <a:cs typeface="Calibri" pitchFamily="34" charset="-120"/>
              </a:rPr>
              <a:t>The balance never resets. </a:t>
            </a:r>
            <a:pPr indent="0" marL="0">
              <a:lnSpc>
                <a:spcPts val="2100"/>
              </a:lnSpc>
              <a:buNone/>
            </a:pPr>
            <a:r>
              <a:rPr lang="en-US" sz="1400" dirty="0">
                <a:solidFill>
                  <a:srgbClr val="4B5565"/>
                </a:solidFill>
                <a:latin typeface="Calibri" pitchFamily="34" charset="0"/>
                <a:ea typeface="Calibri" pitchFamily="34" charset="-122"/>
                <a:cs typeface="Calibri" pitchFamily="34" charset="-120"/>
              </a:rPr>
              <a:t>It is your standing position, carried indefinitely, starting from whatever you were already up or down.</a:t>
            </a:r>
            <a:endParaRPr lang="en-US" sz="1400" dirty="0"/>
          </a:p>
        </p:txBody>
      </p:sp>
      <p:sp>
        <p:nvSpPr>
          <p:cNvPr id="12" name="Shape 10"/>
          <p:cNvSpPr/>
          <p:nvPr/>
        </p:nvSpPr>
        <p:spPr>
          <a:xfrm>
            <a:off x="12573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hots/history.png">    </p:cNvPr>
          <p:cNvPicPr>
            <a:picLocks noChangeAspect="1"/>
          </p:cNvPicPr>
          <p:nvPr/>
        </p:nvPicPr>
        <p:blipFill>
          <a:blip r:embed="rId1"/>
          <a:stretch>
            <a:fillRect/>
          </a:stretch>
        </p:blipFill>
        <p:spPr>
          <a:xfrm>
            <a:off x="1325880" y="658368"/>
            <a:ext cx="2577438" cy="55778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TWO THINGS YOU CAN SWITCH OFF</a:t>
            </a:r>
            <a:endParaRPr lang="en-US" sz="1100" dirty="0"/>
          </a:p>
        </p:txBody>
      </p:sp>
      <p:sp>
        <p:nvSpPr>
          <p:cNvPr id="3" name="Text 1"/>
          <p:cNvSpPr txBox="1"/>
          <p:nvPr/>
        </p:nvSpPr>
        <p:spPr>
          <a:xfrm>
            <a:off x="566928" y="877824"/>
            <a:ext cx="10515600" cy="1280160"/>
          </a:xfrm>
          <a:prstGeom prst="rect">
            <a:avLst/>
          </a:prstGeom>
          <a:noFill/>
          <a:ln/>
        </p:spPr>
        <p:txBody>
          <a:bodyPr wrap="square" lIns="0" tIns="0" rIns="0" bIns="0" rtlCol="0" anchor="ctr"/>
          <a:lstStyle/>
          <a:p>
            <a:pPr indent="0" marL="0">
              <a:lnSpc>
                <a:spcPts val="4000"/>
              </a:lnSpc>
              <a:buNone/>
            </a:pPr>
            <a:r>
              <a:rPr lang="en-US" sz="3200" b="1" dirty="0">
                <a:solidFill>
                  <a:srgbClr val="0F1522"/>
                </a:solidFill>
                <a:latin typeface="Arial" pitchFamily="34" charset="0"/>
                <a:ea typeface="Arial" pitchFamily="34" charset="-122"/>
                <a:cs typeface="Arial" pitchFamily="34" charset="-120"/>
              </a:rPr>
              <a:t>One reads your figures back.</a:t>
            </a:r>
            <a:endParaRPr lang="en-US" sz="3200" dirty="0"/>
          </a:p>
          <a:p>
            <a:pPr indent="0" marL="0">
              <a:lnSpc>
                <a:spcPts val="4000"/>
              </a:lnSpc>
              <a:buNone/>
            </a:pPr>
            <a:r>
              <a:rPr lang="en-US" sz="3200" b="1" dirty="0">
                <a:solidFill>
                  <a:srgbClr val="0F1522"/>
                </a:solidFill>
                <a:latin typeface="Arial" pitchFamily="34" charset="0"/>
                <a:ea typeface="Arial" pitchFamily="34" charset="-122"/>
                <a:cs typeface="Arial" pitchFamily="34" charset="-120"/>
              </a:rPr>
              <a:t>The other, nobody else sees.</a:t>
            </a:r>
            <a:endParaRPr lang="en-US" sz="3200" dirty="0"/>
          </a:p>
        </p:txBody>
      </p:sp>
      <p:sp>
        <p:nvSpPr>
          <p:cNvPr id="4" name="Shape 2"/>
          <p:cNvSpPr/>
          <p:nvPr/>
        </p:nvSpPr>
        <p:spPr>
          <a:xfrm>
            <a:off x="566928" y="2423160"/>
            <a:ext cx="5440680" cy="3840480"/>
          </a:xfrm>
          <a:prstGeom prst="roundRect">
            <a:avLst>
              <a:gd name="adj" fmla="val 2857"/>
            </a:avLst>
          </a:prstGeom>
          <a:solidFill>
            <a:srgbClr val="F2F2F7"/>
          </a:solidFill>
          <a:ln w="12700">
            <a:solidFill>
              <a:srgbClr val="DDE3EC"/>
            </a:solidFill>
            <a:prstDash val="solid"/>
          </a:ln>
        </p:spPr>
      </p:sp>
      <p:sp>
        <p:nvSpPr>
          <p:cNvPr id="5" name="Text 3"/>
          <p:cNvSpPr txBox="1"/>
          <p:nvPr/>
        </p:nvSpPr>
        <p:spPr>
          <a:xfrm>
            <a:off x="87782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Coach</a:t>
            </a:r>
            <a:endParaRPr lang="en-US" sz="2100" dirty="0"/>
          </a:p>
        </p:txBody>
      </p:sp>
      <p:pic>
        <p:nvPicPr>
          <p:cNvPr id="6" name="Image 0" descr="shots/coach-card.png">    </p:cNvPr>
          <p:cNvPicPr>
            <a:picLocks noChangeAspect="1"/>
          </p:cNvPicPr>
          <p:nvPr/>
        </p:nvPicPr>
        <p:blipFill>
          <a:blip r:embed="rId1"/>
          <a:stretch>
            <a:fillRect/>
          </a:stretch>
        </p:blipFill>
        <p:spPr>
          <a:xfrm>
            <a:off x="877824" y="3127248"/>
            <a:ext cx="4818888" cy="1897942"/>
          </a:xfrm>
          <a:prstGeom prst="rect">
            <a:avLst/>
          </a:prstGeom>
        </p:spPr>
      </p:pic>
      <p:sp>
        <p:nvSpPr>
          <p:cNvPr id="7" name="Text 4"/>
          <p:cNvSpPr txBox="1"/>
          <p:nvPr/>
        </p:nvSpPr>
        <p:spPr>
          <a:xfrm>
            <a:off x="877824" y="5189782"/>
            <a:ext cx="4818888" cy="86868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It will not name a job you were not given.</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Only work you genuinely choose — an inhibitor, a Hive product, a CO alarm. Never a service, repair or Long Duration, because suggesting dispatched work is suggesting you raise work that was not done.</a:t>
            </a:r>
            <a:endParaRPr lang="en-US" sz="1200" dirty="0"/>
          </a:p>
        </p:txBody>
      </p:sp>
      <p:sp>
        <p:nvSpPr>
          <p:cNvPr id="8" name="Shape 5"/>
          <p:cNvSpPr/>
          <p:nvPr/>
        </p:nvSpPr>
        <p:spPr>
          <a:xfrm>
            <a:off x="6373368" y="2423160"/>
            <a:ext cx="5440680" cy="3840480"/>
          </a:xfrm>
          <a:prstGeom prst="roundRect">
            <a:avLst>
              <a:gd name="adj" fmla="val 2857"/>
            </a:avLst>
          </a:prstGeom>
          <a:solidFill>
            <a:srgbClr val="F2F2F7"/>
          </a:solidFill>
          <a:ln w="12700">
            <a:solidFill>
              <a:srgbClr val="DDE3EC"/>
            </a:solidFill>
            <a:prstDash val="solid"/>
          </a:ln>
        </p:spPr>
      </p:sp>
      <p:sp>
        <p:nvSpPr>
          <p:cNvPr id="9" name="Text 6"/>
          <p:cNvSpPr txBox="1"/>
          <p:nvPr/>
        </p:nvSpPr>
        <p:spPr>
          <a:xfrm>
            <a:off x="6684264" y="2670048"/>
            <a:ext cx="4846320" cy="365760"/>
          </a:xfrm>
          <a:prstGeom prst="rect">
            <a:avLst/>
          </a:prstGeom>
          <a:noFill/>
          <a:ln/>
        </p:spPr>
        <p:txBody>
          <a:bodyPr wrap="square" lIns="0" tIns="0" rIns="0" bIns="0" rtlCol="0" anchor="ctr"/>
          <a:lstStyle/>
          <a:p>
            <a:pPr indent="0" marL="0">
              <a:buNone/>
            </a:pPr>
            <a:r>
              <a:rPr lang="en-US" sz="2100" b="1" dirty="0">
                <a:solidFill>
                  <a:srgbClr val="0F1522"/>
                </a:solidFill>
                <a:latin typeface="Arial" pitchFamily="34" charset="0"/>
                <a:ea typeface="Arial" pitchFamily="34" charset="-122"/>
                <a:cs typeface="Arial" pitchFamily="34" charset="-120"/>
              </a:rPr>
              <a:t>The daily check-in</a:t>
            </a:r>
            <a:endParaRPr lang="en-US" sz="2100" dirty="0"/>
          </a:p>
        </p:txBody>
      </p:sp>
      <p:pic>
        <p:nvPicPr>
          <p:cNvPr id="10" name="Image 1" descr="shots/checkin-card.png">    </p:cNvPr>
          <p:cNvPicPr>
            <a:picLocks noChangeAspect="1"/>
          </p:cNvPicPr>
          <p:nvPr/>
        </p:nvPicPr>
        <p:blipFill>
          <a:blip r:embed="rId2"/>
          <a:stretch>
            <a:fillRect/>
          </a:stretch>
        </p:blipFill>
        <p:spPr>
          <a:xfrm>
            <a:off x="6684264" y="3127248"/>
            <a:ext cx="4818888" cy="928780"/>
          </a:xfrm>
          <a:prstGeom prst="rect">
            <a:avLst/>
          </a:prstGeom>
        </p:spPr>
      </p:pic>
      <p:sp>
        <p:nvSpPr>
          <p:cNvPr id="11" name="Text 7"/>
          <p:cNvSpPr txBox="1"/>
          <p:nvPr/>
        </p:nvSpPr>
        <p:spPr>
          <a:xfrm>
            <a:off x="6684264" y="4238908"/>
            <a:ext cx="4818888" cy="731520"/>
          </a:xfrm>
          <a:prstGeom prst="rect">
            <a:avLst/>
          </a:prstGeom>
          <a:noFill/>
          <a:ln/>
        </p:spPr>
        <p:txBody>
          <a:bodyPr wrap="square" lIns="0" tIns="0" rIns="0" bIns="0" rtlCol="0" anchor="ctr"/>
          <a:lstStyle/>
          <a:p>
            <a:pPr indent="0" marL="0">
              <a:lnSpc>
                <a:spcPts val="1600"/>
              </a:lnSpc>
              <a:buNone/>
            </a:pPr>
            <a:r>
              <a:rPr lang="en-US" sz="1200" b="1" dirty="0">
                <a:solidFill>
                  <a:srgbClr val="0F1522"/>
                </a:solidFill>
                <a:latin typeface="Calibri" pitchFamily="34" charset="0"/>
                <a:ea typeface="Calibri" pitchFamily="34" charset="-122"/>
                <a:cs typeface="Calibri" pitchFamily="34" charset="-120"/>
              </a:rPr>
              <a:t>Your CTAP target is not your goal.</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The target is the employer’s number, presented as Reality. The goal is the one thing the engineer picked.</a:t>
            </a:r>
            <a:endParaRPr lang="en-US" sz="1200" dirty="0"/>
          </a:p>
        </p:txBody>
      </p:sp>
      <p:sp>
        <p:nvSpPr>
          <p:cNvPr id="12" name="Text 8"/>
          <p:cNvSpPr txBox="1"/>
          <p:nvPr/>
        </p:nvSpPr>
        <p:spPr>
          <a:xfrm>
            <a:off x="6684264" y="5043580"/>
            <a:ext cx="4818888" cy="777240"/>
          </a:xfrm>
          <a:prstGeom prst="rect">
            <a:avLst/>
          </a:prstGeom>
          <a:noFill/>
          <a:ln/>
        </p:spPr>
        <p:txBody>
          <a:bodyPr wrap="square" lIns="0" tIns="0" rIns="0" bIns="0" rtlCol="0" anchor="ctr"/>
          <a:lstStyle/>
          <a:p>
            <a:pPr indent="0" marL="0">
              <a:lnSpc>
                <a:spcPts val="1600"/>
              </a:lnSpc>
              <a:buNone/>
            </a:pPr>
            <a:r>
              <a:rPr lang="en-US" sz="1200" b="1" dirty="0">
                <a:solidFill>
                  <a:srgbClr val="1F8A4C"/>
                </a:solidFill>
                <a:latin typeface="Calibri" pitchFamily="34" charset="0"/>
                <a:ea typeface="Calibri" pitchFamily="34" charset="-122"/>
                <a:cs typeface="Calibri" pitchFamily="34" charset="-120"/>
              </a:rPr>
              <a:t>Nobody else ever sees it.</a:t>
            </a:r>
            <a:pPr indent="0" marL="0">
              <a:lnSpc>
                <a:spcPts val="1600"/>
              </a:lnSpc>
              <a:buNone/>
            </a:pPr>
            <a:r>
              <a:rPr lang="en-US" sz="1200" dirty="0">
                <a:solidFill>
                  <a:srgbClr val="4B5565"/>
                </a:solidFill>
                <a:latin typeface="Calibri" pitchFamily="34" charset="0"/>
                <a:ea typeface="Calibri" pitchFamily="34" charset="-122"/>
                <a:cs typeface="Calibri" pitchFamily="34" charset="-120"/>
              </a:rPr>
              <a:t> No team view, no aggregate, no export, no comparison between engineers. That is how it is built, not a setting someone could change.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676656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WHERE THE FIGURES LIVE</a:t>
            </a:r>
            <a:endParaRPr lang="en-US" sz="1100" dirty="0"/>
          </a:p>
        </p:txBody>
      </p:sp>
      <p:sp>
        <p:nvSpPr>
          <p:cNvPr id="3" name="Text 1"/>
          <p:cNvSpPr txBox="1"/>
          <p:nvPr/>
        </p:nvSpPr>
        <p:spPr>
          <a:xfrm>
            <a:off x="566928" y="877824"/>
            <a:ext cx="6766560" cy="1371600"/>
          </a:xfrm>
          <a:prstGeom prst="rect">
            <a:avLst/>
          </a:prstGeom>
          <a:noFill/>
          <a:ln/>
        </p:spPr>
        <p:txBody>
          <a:bodyPr wrap="square" lIns="0" tIns="0" rIns="0" bIns="0" rtlCol="0" anchor="ctr"/>
          <a:lstStyle/>
          <a:p>
            <a:pPr indent="0" marL="0">
              <a:lnSpc>
                <a:spcPts val="4200"/>
              </a:lnSpc>
              <a:buNone/>
            </a:pPr>
            <a:r>
              <a:rPr lang="en-US" sz="3400" b="1" dirty="0">
                <a:solidFill>
                  <a:srgbClr val="0F1522"/>
                </a:solidFill>
                <a:latin typeface="Arial" pitchFamily="34" charset="0"/>
                <a:ea typeface="Arial" pitchFamily="34" charset="-122"/>
                <a:cs typeface="Arial" pitchFamily="34" charset="-120"/>
              </a:rPr>
              <a:t>On the engineer’s phone.</a:t>
            </a:r>
            <a:endParaRPr lang="en-US" sz="3400" dirty="0"/>
          </a:p>
          <a:p>
            <a:pPr indent="0" marL="0">
              <a:lnSpc>
                <a:spcPts val="4200"/>
              </a:lnSpc>
              <a:buNone/>
            </a:pPr>
            <a:r>
              <a:rPr lang="en-US" sz="3400" b="1" dirty="0">
                <a:solidFill>
                  <a:srgbClr val="0F1522"/>
                </a:solidFill>
                <a:latin typeface="Arial" pitchFamily="34" charset="0"/>
                <a:ea typeface="Arial" pitchFamily="34" charset="-122"/>
                <a:cs typeface="Arial" pitchFamily="34" charset="-120"/>
              </a:rPr>
              <a:t>That is the whole answer.</a:t>
            </a:r>
            <a:endParaRPr lang="en-US" sz="3400" dirty="0"/>
          </a:p>
        </p:txBody>
      </p:sp>
      <p:sp>
        <p:nvSpPr>
          <p:cNvPr id="4" name="Text 2"/>
          <p:cNvSpPr txBox="1"/>
          <p:nvPr/>
        </p:nvSpPr>
        <p:spPr>
          <a:xfrm>
            <a:off x="566928" y="2487168"/>
            <a:ext cx="6675120" cy="1005840"/>
          </a:xfrm>
          <a:prstGeom prst="rect">
            <a:avLst/>
          </a:prstGeom>
          <a:noFill/>
          <a:ln/>
        </p:spPr>
        <p:txBody>
          <a:bodyPr wrap="square" lIns="0" tIns="0" rIns="0" bIns="0" rtlCol="0" anchor="t"/>
          <a:lstStyle/>
          <a:p>
            <a:pPr indent="0" marL="0">
              <a:lnSpc>
                <a:spcPts val="2200"/>
              </a:lnSpc>
              <a:buNone/>
            </a:pPr>
            <a:r>
              <a:rPr lang="en-US" sz="1500" dirty="0">
                <a:solidFill>
                  <a:srgbClr val="4B5565"/>
                </a:solidFill>
                <a:latin typeface="Calibri" pitchFamily="34" charset="0"/>
                <a:ea typeface="Calibri" pitchFamily="34" charset="-122"/>
                <a:cs typeface="Calibri" pitchFamily="34" charset="-120"/>
              </a:rPr>
              <a:t>The question was never whether someone could read an engineer’s CTAP figures. It was whether they leave the device at all — and that cannot be answered with better encryption, only with no transmission.</a:t>
            </a:r>
            <a:endParaRPr lang="en-US" sz="1500" dirty="0"/>
          </a:p>
        </p:txBody>
      </p:sp>
      <p:sp>
        <p:nvSpPr>
          <p:cNvPr id="5" name="Text 3"/>
          <p:cNvSpPr txBox="1"/>
          <p:nvPr/>
        </p:nvSpPr>
        <p:spPr>
          <a:xfrm>
            <a:off x="566928" y="3611880"/>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ACCOUNT</a:t>
            </a:r>
            <a:endParaRPr lang="en-US" sz="950" dirty="0"/>
          </a:p>
        </p:txBody>
      </p:sp>
      <p:sp>
        <p:nvSpPr>
          <p:cNvPr id="6" name="Text 4"/>
          <p:cNvSpPr txBox="1"/>
          <p:nvPr/>
        </p:nvSpPr>
        <p:spPr>
          <a:xfrm>
            <a:off x="2103120" y="3575304"/>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Nothing to sign into, nothing to sign out of.</a:t>
            </a:r>
            <a:endParaRPr lang="en-US" sz="1300" dirty="0"/>
          </a:p>
        </p:txBody>
      </p:sp>
      <p:sp>
        <p:nvSpPr>
          <p:cNvPr id="7" name="Shape 5"/>
          <p:cNvSpPr/>
          <p:nvPr/>
        </p:nvSpPr>
        <p:spPr>
          <a:xfrm>
            <a:off x="566928" y="4050792"/>
            <a:ext cx="6675120" cy="7315"/>
          </a:xfrm>
          <a:prstGeom prst="rect">
            <a:avLst/>
          </a:prstGeom>
          <a:solidFill>
            <a:srgbClr val="DDE3EC"/>
          </a:solidFill>
          <a:ln w="12700">
            <a:solidFill>
              <a:srgbClr val="DDE3EC"/>
            </a:solidFill>
            <a:prstDash val="solid"/>
          </a:ln>
        </p:spPr>
      </p:sp>
      <p:sp>
        <p:nvSpPr>
          <p:cNvPr id="8" name="Text 6"/>
          <p:cNvSpPr txBox="1"/>
          <p:nvPr/>
        </p:nvSpPr>
        <p:spPr>
          <a:xfrm>
            <a:off x="566928" y="4123944"/>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UPLOAD</a:t>
            </a:r>
            <a:endParaRPr lang="en-US" sz="950" dirty="0"/>
          </a:p>
        </p:txBody>
      </p:sp>
      <p:sp>
        <p:nvSpPr>
          <p:cNvPr id="9" name="Text 7"/>
          <p:cNvSpPr txBox="1"/>
          <p:nvPr/>
        </p:nvSpPr>
        <p:spPr>
          <a:xfrm>
            <a:off x="2103120" y="4087368"/>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None. Once installed it makes no network requests at all — it does not even fetch its own fonts.</a:t>
            </a:r>
            <a:endParaRPr lang="en-US" sz="1300" dirty="0"/>
          </a:p>
        </p:txBody>
      </p:sp>
      <p:sp>
        <p:nvSpPr>
          <p:cNvPr id="10" name="Shape 8"/>
          <p:cNvSpPr/>
          <p:nvPr/>
        </p:nvSpPr>
        <p:spPr>
          <a:xfrm>
            <a:off x="566928" y="4562856"/>
            <a:ext cx="6675120" cy="7315"/>
          </a:xfrm>
          <a:prstGeom prst="rect">
            <a:avLst/>
          </a:prstGeom>
          <a:solidFill>
            <a:srgbClr val="DDE3EC"/>
          </a:solidFill>
          <a:ln w="12700">
            <a:solidFill>
              <a:srgbClr val="DDE3EC"/>
            </a:solidFill>
            <a:prstDash val="solid"/>
          </a:ln>
        </p:spPr>
      </p:sp>
      <p:sp>
        <p:nvSpPr>
          <p:cNvPr id="11" name="Text 9"/>
          <p:cNvSpPr txBox="1"/>
          <p:nvPr/>
        </p:nvSpPr>
        <p:spPr>
          <a:xfrm>
            <a:off x="566928" y="4636008"/>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SHARED WITH</a:t>
            </a:r>
            <a:endParaRPr lang="en-US" sz="950" dirty="0"/>
          </a:p>
        </p:txBody>
      </p:sp>
      <p:sp>
        <p:nvSpPr>
          <p:cNvPr id="12" name="Text 10"/>
          <p:cNvSpPr txBox="1"/>
          <p:nvPr/>
        </p:nvSpPr>
        <p:spPr>
          <a:xfrm>
            <a:off x="2103120" y="4599432"/>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Nobody. Not the employer, not analytics, not me.</a:t>
            </a:r>
            <a:endParaRPr lang="en-US" sz="1300" dirty="0"/>
          </a:p>
        </p:txBody>
      </p:sp>
      <p:sp>
        <p:nvSpPr>
          <p:cNvPr id="13" name="Shape 11"/>
          <p:cNvSpPr/>
          <p:nvPr/>
        </p:nvSpPr>
        <p:spPr>
          <a:xfrm>
            <a:off x="566928" y="5074920"/>
            <a:ext cx="6675120" cy="7315"/>
          </a:xfrm>
          <a:prstGeom prst="rect">
            <a:avLst/>
          </a:prstGeom>
          <a:solidFill>
            <a:srgbClr val="DDE3EC"/>
          </a:solidFill>
          <a:ln w="12700">
            <a:solidFill>
              <a:srgbClr val="DDE3EC"/>
            </a:solidFill>
            <a:prstDash val="solid"/>
          </a:ln>
        </p:spPr>
      </p:sp>
      <p:sp>
        <p:nvSpPr>
          <p:cNvPr id="14" name="Text 12"/>
          <p:cNvSpPr txBox="1"/>
          <p:nvPr/>
        </p:nvSpPr>
        <p:spPr>
          <a:xfrm>
            <a:off x="566928" y="5148072"/>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OFFLINE</a:t>
            </a:r>
            <a:endParaRPr lang="en-US" sz="950" dirty="0"/>
          </a:p>
        </p:txBody>
      </p:sp>
      <p:sp>
        <p:nvSpPr>
          <p:cNvPr id="15" name="Text 13"/>
          <p:cNvSpPr txBox="1"/>
          <p:nvPr/>
        </p:nvSpPr>
        <p:spPr>
          <a:xfrm>
            <a:off x="2103120" y="5111496"/>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Works fully — which matters, because plant rooms and cellars are where signal is worst.</a:t>
            </a:r>
            <a:endParaRPr lang="en-US" sz="1300" dirty="0"/>
          </a:p>
        </p:txBody>
      </p:sp>
      <p:sp>
        <p:nvSpPr>
          <p:cNvPr id="16" name="Shape 14"/>
          <p:cNvSpPr/>
          <p:nvPr/>
        </p:nvSpPr>
        <p:spPr>
          <a:xfrm>
            <a:off x="566928" y="5586984"/>
            <a:ext cx="6675120" cy="7315"/>
          </a:xfrm>
          <a:prstGeom prst="rect">
            <a:avLst/>
          </a:prstGeom>
          <a:solidFill>
            <a:srgbClr val="DDE3EC"/>
          </a:solidFill>
          <a:ln w="12700">
            <a:solidFill>
              <a:srgbClr val="DDE3EC"/>
            </a:solidFill>
            <a:prstDash val="solid"/>
          </a:ln>
        </p:spPr>
      </p:sp>
      <p:sp>
        <p:nvSpPr>
          <p:cNvPr id="17" name="Text 15"/>
          <p:cNvSpPr txBox="1"/>
          <p:nvPr/>
        </p:nvSpPr>
        <p:spPr>
          <a:xfrm>
            <a:off x="566928" y="5660136"/>
            <a:ext cx="1417320" cy="274320"/>
          </a:xfrm>
          <a:prstGeom prst="rect">
            <a:avLst/>
          </a:prstGeom>
          <a:noFill/>
          <a:ln/>
        </p:spPr>
        <p:txBody>
          <a:bodyPr wrap="square" lIns="0" tIns="0" rIns="0" bIns="0" rtlCol="0" anchor="ctr"/>
          <a:lstStyle/>
          <a:p>
            <a:pPr indent="0" marL="0">
              <a:buNone/>
            </a:pPr>
            <a:r>
              <a:rPr lang="en-US" sz="950" spc="120" kern="0" dirty="0">
                <a:solidFill>
                  <a:srgbClr val="6B7485"/>
                </a:solidFill>
                <a:latin typeface="Arial" pitchFamily="34" charset="0"/>
                <a:ea typeface="Arial" pitchFamily="34" charset="-122"/>
                <a:cs typeface="Arial" pitchFamily="34" charset="-120"/>
              </a:rPr>
              <a:t>DELETING</a:t>
            </a:r>
            <a:endParaRPr lang="en-US" sz="950" dirty="0"/>
          </a:p>
        </p:txBody>
      </p:sp>
      <p:sp>
        <p:nvSpPr>
          <p:cNvPr id="18" name="Text 16"/>
          <p:cNvSpPr txBox="1"/>
          <p:nvPr/>
        </p:nvSpPr>
        <p:spPr>
          <a:xfrm>
            <a:off x="2103120" y="5623560"/>
            <a:ext cx="5120640" cy="402336"/>
          </a:xfrm>
          <a:prstGeom prst="rect">
            <a:avLst/>
          </a:prstGeom>
          <a:noFill/>
          <a:ln/>
        </p:spPr>
        <p:txBody>
          <a:bodyPr wrap="square" lIns="0" tIns="0" rIns="0" bIns="0" rtlCol="0" anchor="ctr"/>
          <a:lstStyle/>
          <a:p>
            <a:pPr indent="0" marL="0">
              <a:lnSpc>
                <a:spcPts val="1700"/>
              </a:lnSpc>
              <a:buNone/>
            </a:pPr>
            <a:r>
              <a:rPr lang="en-US" sz="1300" dirty="0">
                <a:solidFill>
                  <a:srgbClr val="4B5565"/>
                </a:solidFill>
                <a:latin typeface="Calibri" pitchFamily="34" charset="0"/>
                <a:ea typeface="Calibri" pitchFamily="34" charset="-122"/>
                <a:cs typeface="Calibri" pitchFamily="34" charset="-120"/>
              </a:rPr>
              <a:t>Settings → Erase all data. Immediate and total.</a:t>
            </a:r>
            <a:endParaRPr lang="en-US" sz="1300" dirty="0"/>
          </a:p>
        </p:txBody>
      </p:sp>
      <p:sp>
        <p:nvSpPr>
          <p:cNvPr id="19" name="Shape 17"/>
          <p:cNvSpPr/>
          <p:nvPr/>
        </p:nvSpPr>
        <p:spPr>
          <a:xfrm>
            <a:off x="7772400" y="3136392"/>
            <a:ext cx="3858768" cy="2286000"/>
          </a:xfrm>
          <a:prstGeom prst="roundRect">
            <a:avLst>
              <a:gd name="adj" fmla="val 4800"/>
            </a:avLst>
          </a:prstGeom>
          <a:solidFill>
            <a:srgbClr val="F2F2F7"/>
          </a:solidFill>
          <a:ln w="12700">
            <a:solidFill>
              <a:srgbClr val="D9A21B"/>
            </a:solidFill>
            <a:prstDash val="solid"/>
          </a:ln>
        </p:spPr>
      </p:sp>
      <p:sp>
        <p:nvSpPr>
          <p:cNvPr id="20" name="Text 18"/>
          <p:cNvSpPr txBox="1"/>
          <p:nvPr/>
        </p:nvSpPr>
        <p:spPr>
          <a:xfrm>
            <a:off x="8065008" y="3374136"/>
            <a:ext cx="274320" cy="310896"/>
          </a:xfrm>
          <a:prstGeom prst="rect">
            <a:avLst/>
          </a:prstGeom>
          <a:noFill/>
          <a:ln/>
        </p:spPr>
        <p:txBody>
          <a:bodyPr wrap="square" lIns="0" tIns="0" rIns="0" bIns="0" rtlCol="0" anchor="ctr"/>
          <a:lstStyle/>
          <a:p>
            <a:pPr indent="0" marL="0">
              <a:buNone/>
            </a:pPr>
            <a:r>
              <a:rPr lang="en-US" sz="2000" b="1" dirty="0">
                <a:solidFill>
                  <a:srgbClr val="A86B00"/>
                </a:solidFill>
                <a:latin typeface="Arial" pitchFamily="34" charset="0"/>
                <a:ea typeface="Arial" pitchFamily="34" charset="-122"/>
                <a:cs typeface="Arial" pitchFamily="34" charset="-120"/>
              </a:rPr>
              <a:t>!</a:t>
            </a:r>
            <a:endParaRPr lang="en-US" sz="2000" dirty="0"/>
          </a:p>
        </p:txBody>
      </p:sp>
      <p:sp>
        <p:nvSpPr>
          <p:cNvPr id="21" name="Text 19"/>
          <p:cNvSpPr txBox="1"/>
          <p:nvPr/>
        </p:nvSpPr>
        <p:spPr>
          <a:xfrm>
            <a:off x="8357616" y="3374136"/>
            <a:ext cx="3017520" cy="310896"/>
          </a:xfrm>
          <a:prstGeom prst="rect">
            <a:avLst/>
          </a:prstGeom>
          <a:noFill/>
          <a:ln/>
        </p:spPr>
        <p:txBody>
          <a:bodyPr wrap="square" lIns="0" tIns="0" rIns="0" bIns="0" rtlCol="0" anchor="ctr"/>
          <a:lstStyle/>
          <a:p>
            <a:pPr indent="0" marL="0">
              <a:buNone/>
            </a:pPr>
            <a:r>
              <a:rPr lang="en-US" sz="1700" b="1" dirty="0">
                <a:solidFill>
                  <a:srgbClr val="0F1522"/>
                </a:solidFill>
                <a:latin typeface="Arial" pitchFamily="34" charset="0"/>
                <a:ea typeface="Arial" pitchFamily="34" charset="-122"/>
                <a:cs typeface="Arial" pitchFamily="34" charset="-120"/>
              </a:rPr>
              <a:t>The flip side</a:t>
            </a:r>
            <a:endParaRPr lang="en-US" sz="1700" dirty="0"/>
          </a:p>
        </p:txBody>
      </p:sp>
      <p:sp>
        <p:nvSpPr>
          <p:cNvPr id="22" name="Text 20"/>
          <p:cNvSpPr txBox="1"/>
          <p:nvPr/>
        </p:nvSpPr>
        <p:spPr>
          <a:xfrm>
            <a:off x="8065008" y="3831336"/>
            <a:ext cx="3291840" cy="1463040"/>
          </a:xfrm>
          <a:prstGeom prst="rect">
            <a:avLst/>
          </a:prstGeom>
          <a:noFill/>
          <a:ln/>
        </p:spPr>
        <p:txBody>
          <a:bodyPr wrap="square" lIns="0" tIns="0" rIns="0" bIns="0" rtlCol="0" anchor="t"/>
          <a:lstStyle/>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There is no backup. Delete the app, erase the data or lose the phone and it is gone. Nobody can recover it, because nobody else ever had it.</a:t>
            </a:r>
            <a:endParaRPr lang="en-US" sz="1300" dirty="0"/>
          </a:p>
          <a:p>
            <a:pPr indent="0" marL="0">
              <a:lnSpc>
                <a:spcPts val="1900"/>
              </a:lnSpc>
              <a:buNone/>
            </a:pPr>
            <a:endParaRPr lang="en-US" sz="1300" dirty="0"/>
          </a:p>
          <a:p>
            <a:pPr indent="0" marL="0">
              <a:lnSpc>
                <a:spcPts val="1900"/>
              </a:lnSpc>
              <a:buNone/>
            </a:pPr>
            <a:r>
              <a:rPr lang="en-US" sz="1300" dirty="0">
                <a:solidFill>
                  <a:srgbClr val="4B5565"/>
                </a:solidFill>
                <a:latin typeface="Calibri" pitchFamily="34" charset="0"/>
                <a:ea typeface="Calibri" pitchFamily="34" charset="-122"/>
                <a:cs typeface="Calibri" pitchFamily="34" charset="-120"/>
              </a:rPr>
              <a:t>Engineers are told this before they start.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566928"/>
            <a:ext cx="10515600" cy="237744"/>
          </a:xfrm>
          <a:prstGeom prst="rect">
            <a:avLst/>
          </a:prstGeom>
          <a:noFill/>
          <a:ln/>
        </p:spPr>
        <p:txBody>
          <a:bodyPr wrap="square" lIns="0" tIns="0" rIns="0" bIns="0" rtlCol="0" anchor="ctr"/>
          <a:lstStyle/>
          <a:p>
            <a:pPr indent="0" marL="0">
              <a:buNone/>
            </a:pPr>
            <a:r>
              <a:rPr lang="en-US" sz="1100" b="1" spc="240" kern="0" dirty="0">
                <a:solidFill>
                  <a:srgbClr val="2F6BC4"/>
                </a:solidFill>
                <a:latin typeface="Arial" pitchFamily="34" charset="0"/>
                <a:ea typeface="Arial" pitchFamily="34" charset="-122"/>
                <a:cs typeface="Arial" pitchFamily="34" charset="-120"/>
              </a:rPr>
              <a:t>TRIAL</a:t>
            </a:r>
            <a:endParaRPr lang="en-US" sz="1100" dirty="0"/>
          </a:p>
        </p:txBody>
      </p:sp>
      <p:sp>
        <p:nvSpPr>
          <p:cNvPr id="3" name="Text 1"/>
          <p:cNvSpPr txBox="1"/>
          <p:nvPr/>
        </p:nvSpPr>
        <p:spPr>
          <a:xfrm>
            <a:off x="566928" y="877824"/>
            <a:ext cx="10515600" cy="731520"/>
          </a:xfrm>
          <a:prstGeom prst="rect">
            <a:avLst/>
          </a:prstGeom>
          <a:noFill/>
          <a:ln/>
        </p:spPr>
        <p:txBody>
          <a:bodyPr wrap="square" lIns="0" tIns="0" rIns="0" bIns="0" rtlCol="0" anchor="ctr"/>
          <a:lstStyle/>
          <a:p>
            <a:pPr indent="0" marL="0">
              <a:lnSpc>
                <a:spcPts val="3800"/>
              </a:lnSpc>
              <a:buNone/>
            </a:pPr>
            <a:r>
              <a:rPr lang="en-US" sz="3400" b="1" dirty="0">
                <a:solidFill>
                  <a:srgbClr val="0F1522"/>
                </a:solidFill>
                <a:latin typeface="Arial" pitchFamily="34" charset="0"/>
                <a:ea typeface="Arial" pitchFamily="34" charset="-122"/>
                <a:cs typeface="Arial" pitchFamily="34" charset="-120"/>
              </a:rPr>
              <a:t>Where this build is up to.</a:t>
            </a:r>
            <a:endParaRPr lang="en-US" sz="3400" dirty="0"/>
          </a:p>
        </p:txBody>
      </p:sp>
      <p:sp>
        <p:nvSpPr>
          <p:cNvPr id="4" name="Shape 2"/>
          <p:cNvSpPr/>
          <p:nvPr/>
        </p:nvSpPr>
        <p:spPr>
          <a:xfrm>
            <a:off x="566928" y="2286000"/>
            <a:ext cx="2578608" cy="1691640"/>
          </a:xfrm>
          <a:prstGeom prst="roundRect">
            <a:avLst>
              <a:gd name="adj" fmla="val 6486"/>
            </a:avLst>
          </a:prstGeom>
          <a:solidFill>
            <a:srgbClr val="F2F2F7"/>
          </a:solidFill>
          <a:ln w="12700">
            <a:solidFill>
              <a:srgbClr val="DDE3EC"/>
            </a:solidFill>
            <a:prstDash val="solid"/>
          </a:ln>
        </p:spPr>
      </p:sp>
      <p:sp>
        <p:nvSpPr>
          <p:cNvPr id="5" name="Text 3"/>
          <p:cNvSpPr txBox="1"/>
          <p:nvPr/>
        </p:nvSpPr>
        <p:spPr>
          <a:xfrm>
            <a:off x="804672"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v0.8.0</a:t>
            </a:r>
            <a:endParaRPr lang="en-US" sz="3800" dirty="0"/>
          </a:p>
        </p:txBody>
      </p:sp>
      <p:sp>
        <p:nvSpPr>
          <p:cNvPr id="6" name="Text 4"/>
          <p:cNvSpPr txBox="1"/>
          <p:nvPr/>
        </p:nvSpPr>
        <p:spPr>
          <a:xfrm>
            <a:off x="804672"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SHIPPED VERSION</a:t>
            </a:r>
            <a:endParaRPr lang="en-US" sz="900" dirty="0"/>
          </a:p>
        </p:txBody>
      </p:sp>
      <p:sp>
        <p:nvSpPr>
          <p:cNvPr id="7" name="Shape 5"/>
          <p:cNvSpPr/>
          <p:nvPr/>
        </p:nvSpPr>
        <p:spPr>
          <a:xfrm>
            <a:off x="3364992" y="2286000"/>
            <a:ext cx="2578608" cy="1691640"/>
          </a:xfrm>
          <a:prstGeom prst="roundRect">
            <a:avLst>
              <a:gd name="adj" fmla="val 6486"/>
            </a:avLst>
          </a:prstGeom>
          <a:solidFill>
            <a:srgbClr val="F2F2F7"/>
          </a:solidFill>
          <a:ln w="12700">
            <a:solidFill>
              <a:srgbClr val="DDE3EC"/>
            </a:solidFill>
            <a:prstDash val="solid"/>
          </a:ln>
        </p:spPr>
      </p:sp>
      <p:sp>
        <p:nvSpPr>
          <p:cNvPr id="8" name="Text 6"/>
          <p:cNvSpPr txBox="1"/>
          <p:nvPr/>
        </p:nvSpPr>
        <p:spPr>
          <a:xfrm>
            <a:off x="3602736" y="2542032"/>
            <a:ext cx="2103120" cy="731520"/>
          </a:xfrm>
          <a:prstGeom prst="rect">
            <a:avLst/>
          </a:prstGeom>
          <a:noFill/>
          <a:ln/>
        </p:spPr>
        <p:txBody>
          <a:bodyPr wrap="square" lIns="0" tIns="0" rIns="0" bIns="0" rtlCol="0" anchor="ctr"/>
          <a:lstStyle/>
          <a:p>
            <a:pPr indent="0" marL="0">
              <a:buNone/>
            </a:pPr>
            <a:r>
              <a:rPr lang="en-US" sz="3800" b="1" dirty="0">
                <a:solidFill>
                  <a:srgbClr val="0F1522"/>
                </a:solidFill>
                <a:latin typeface="Arial" pitchFamily="34" charset="0"/>
                <a:ea typeface="Arial" pitchFamily="34" charset="-122"/>
                <a:cs typeface="Arial" pitchFamily="34" charset="-120"/>
              </a:rPr>
              <a:t>10</a:t>
            </a:r>
            <a:endParaRPr lang="en-US" sz="3800" dirty="0"/>
          </a:p>
        </p:txBody>
      </p:sp>
      <p:sp>
        <p:nvSpPr>
          <p:cNvPr id="9" name="Text 7"/>
          <p:cNvSpPr txBox="1"/>
          <p:nvPr/>
        </p:nvSpPr>
        <p:spPr>
          <a:xfrm>
            <a:off x="3602736"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ENGINEERS</a:t>
            </a:r>
            <a:endParaRPr lang="en-US" sz="900" dirty="0"/>
          </a:p>
        </p:txBody>
      </p:sp>
      <p:sp>
        <p:nvSpPr>
          <p:cNvPr id="10" name="Shape 8"/>
          <p:cNvSpPr/>
          <p:nvPr/>
        </p:nvSpPr>
        <p:spPr>
          <a:xfrm>
            <a:off x="6163056" y="2286000"/>
            <a:ext cx="2578608" cy="1691640"/>
          </a:xfrm>
          <a:prstGeom prst="roundRect">
            <a:avLst>
              <a:gd name="adj" fmla="val 6486"/>
            </a:avLst>
          </a:prstGeom>
          <a:solidFill>
            <a:srgbClr val="F2F2F7"/>
          </a:solidFill>
          <a:ln w="12700">
            <a:solidFill>
              <a:srgbClr val="DDE3EC"/>
            </a:solidFill>
            <a:prstDash val="solid"/>
          </a:ln>
        </p:spPr>
      </p:sp>
      <p:sp>
        <p:nvSpPr>
          <p:cNvPr id="11" name="Text 9"/>
          <p:cNvSpPr txBox="1"/>
          <p:nvPr/>
        </p:nvSpPr>
        <p:spPr>
          <a:xfrm>
            <a:off x="6400800"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0</a:t>
            </a:r>
            <a:endParaRPr lang="en-US" sz="3800" dirty="0"/>
          </a:p>
        </p:txBody>
      </p:sp>
      <p:sp>
        <p:nvSpPr>
          <p:cNvPr id="12" name="Text 10"/>
          <p:cNvSpPr txBox="1"/>
          <p:nvPr/>
        </p:nvSpPr>
        <p:spPr>
          <a:xfrm>
            <a:off x="6400800"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THIRD-PARTY REQUESTS</a:t>
            </a:r>
            <a:endParaRPr lang="en-US" sz="900" dirty="0"/>
          </a:p>
        </p:txBody>
      </p:sp>
      <p:sp>
        <p:nvSpPr>
          <p:cNvPr id="13" name="Shape 11"/>
          <p:cNvSpPr/>
          <p:nvPr/>
        </p:nvSpPr>
        <p:spPr>
          <a:xfrm>
            <a:off x="8961120" y="2286000"/>
            <a:ext cx="2578608" cy="1691640"/>
          </a:xfrm>
          <a:prstGeom prst="roundRect">
            <a:avLst>
              <a:gd name="adj" fmla="val 6486"/>
            </a:avLst>
          </a:prstGeom>
          <a:solidFill>
            <a:srgbClr val="F2F2F7"/>
          </a:solidFill>
          <a:ln w="12700">
            <a:solidFill>
              <a:srgbClr val="DDE3EC"/>
            </a:solidFill>
            <a:prstDash val="solid"/>
          </a:ln>
        </p:spPr>
      </p:sp>
      <p:sp>
        <p:nvSpPr>
          <p:cNvPr id="14" name="Text 12"/>
          <p:cNvSpPr txBox="1"/>
          <p:nvPr/>
        </p:nvSpPr>
        <p:spPr>
          <a:xfrm>
            <a:off x="9198864" y="2542032"/>
            <a:ext cx="2103120" cy="731520"/>
          </a:xfrm>
          <a:prstGeom prst="rect">
            <a:avLst/>
          </a:prstGeom>
          <a:noFill/>
          <a:ln/>
        </p:spPr>
        <p:txBody>
          <a:bodyPr wrap="square" lIns="0" tIns="0" rIns="0" bIns="0" rtlCol="0" anchor="ctr"/>
          <a:lstStyle/>
          <a:p>
            <a:pPr indent="0" marL="0">
              <a:buNone/>
            </a:pPr>
            <a:r>
              <a:rPr lang="en-US" sz="3800" b="1" dirty="0">
                <a:solidFill>
                  <a:srgbClr val="1F8A4C"/>
                </a:solidFill>
                <a:latin typeface="Arial" pitchFamily="34" charset="0"/>
                <a:ea typeface="Arial" pitchFamily="34" charset="-122"/>
                <a:cs typeface="Arial" pitchFamily="34" charset="-120"/>
              </a:rPr>
              <a:t>384</a:t>
            </a:r>
            <a:endParaRPr lang="en-US" sz="3800" dirty="0"/>
          </a:p>
        </p:txBody>
      </p:sp>
      <p:sp>
        <p:nvSpPr>
          <p:cNvPr id="15" name="Text 13"/>
          <p:cNvSpPr txBox="1"/>
          <p:nvPr/>
        </p:nvSpPr>
        <p:spPr>
          <a:xfrm>
            <a:off x="9198864" y="3346704"/>
            <a:ext cx="2103120" cy="457200"/>
          </a:xfrm>
          <a:prstGeom prst="rect">
            <a:avLst/>
          </a:prstGeom>
          <a:noFill/>
          <a:ln/>
        </p:spPr>
        <p:txBody>
          <a:bodyPr wrap="square" lIns="0" tIns="0" rIns="0" bIns="0" rtlCol="0" anchor="ctr"/>
          <a:lstStyle/>
          <a:p>
            <a:pPr indent="0" marL="0">
              <a:lnSpc>
                <a:spcPts val="1300"/>
              </a:lnSpc>
              <a:buNone/>
            </a:pPr>
            <a:r>
              <a:rPr lang="en-US" sz="900" spc="110" kern="0" dirty="0">
                <a:solidFill>
                  <a:srgbClr val="6B7485"/>
                </a:solidFill>
                <a:latin typeface="Arial" pitchFamily="34" charset="0"/>
                <a:ea typeface="Arial" pitchFamily="34" charset="-122"/>
                <a:cs typeface="Arial" pitchFamily="34" charset="-120"/>
              </a:rPr>
              <a:t>AUTOMATED TESTS PASSING</a:t>
            </a:r>
            <a:endParaRPr lang="en-US" sz="900" dirty="0"/>
          </a:p>
        </p:txBody>
      </p:sp>
      <p:sp>
        <p:nvSpPr>
          <p:cNvPr id="16" name="Text 14"/>
          <p:cNvSpPr txBox="1"/>
          <p:nvPr/>
        </p:nvSpPr>
        <p:spPr>
          <a:xfrm>
            <a:off x="566928" y="4434840"/>
            <a:ext cx="5486400" cy="365760"/>
          </a:xfrm>
          <a:prstGeom prst="rect">
            <a:avLst/>
          </a:prstGeom>
          <a:noFill/>
          <a:ln/>
        </p:spPr>
        <p:txBody>
          <a:bodyPr wrap="square" lIns="0" tIns="0" rIns="0" bIns="0" rtlCol="0" anchor="ctr"/>
          <a:lstStyle/>
          <a:p>
            <a:pPr indent="0" marL="0">
              <a:buNone/>
            </a:pPr>
            <a:r>
              <a:rPr lang="en-US" sz="1900" b="1" dirty="0">
                <a:solidFill>
                  <a:srgbClr val="0F1522"/>
                </a:solidFill>
                <a:latin typeface="Arial" pitchFamily="34" charset="0"/>
                <a:ea typeface="Arial" pitchFamily="34" charset="-122"/>
                <a:cs typeface="Arial" pitchFamily="34" charset="-120"/>
              </a:rPr>
              <a:t>Still open</a:t>
            </a:r>
            <a:endParaRPr lang="en-US" sz="1900" dirty="0"/>
          </a:p>
        </p:txBody>
      </p:sp>
      <p:sp>
        <p:nvSpPr>
          <p:cNvPr id="17" name="Text 15"/>
          <p:cNvSpPr txBox="1"/>
          <p:nvPr/>
        </p:nvSpPr>
        <p:spPr>
          <a:xfrm>
            <a:off x="566928" y="4892040"/>
            <a:ext cx="10881360" cy="1371600"/>
          </a:xfrm>
          <a:prstGeom prst="rect">
            <a:avLst/>
          </a:prstGeom>
          <a:noFill/>
          <a:ln/>
        </p:spPr>
        <p:txBody>
          <a:bodyPr wrap="square" lIns="0" tIns="0" rIns="0" bIns="0" rtlCol="0" anchor="ctr"/>
          <a:lstStyle/>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Nine catalogue credit times carried over from an older sheet still need checking against ID1923.</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Offline needs one pass on a real handset — the logic is covered by tests, but nobody has watched it work in a cellar.</a:t>
            </a:r>
            <a:endParaRPr lang="en-US" sz="1400" dirty="0"/>
          </a:p>
          <a:p>
            <a:pPr marL="342900" indent="-342900">
              <a:lnSpc>
                <a:spcPts val="1900"/>
              </a:lnSpc>
              <a:spcAft>
                <a:spcPts val="800"/>
              </a:spcAft>
              <a:buSzPct val="100000"/>
              <a:buChar char="•"/>
            </a:pPr>
            <a:r>
              <a:rPr lang="en-US" sz="1400" dirty="0">
                <a:solidFill>
                  <a:srgbClr val="4B5565"/>
                </a:solidFill>
                <a:latin typeface="Calibri" pitchFamily="34" charset="0"/>
                <a:ea typeface="Calibri" pitchFamily="34" charset="-122"/>
                <a:cs typeface="Calibri" pitchFamily="34" charset="-120"/>
              </a:rPr>
              <a:t>No export yet. It is the obvious next feature, deliberately left out to keep the trial build small.</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1965960"/>
            <a:ext cx="7315200" cy="914400"/>
          </a:xfrm>
          <a:prstGeom prst="rect">
            <a:avLst/>
          </a:prstGeom>
          <a:noFill/>
          <a:ln/>
        </p:spPr>
        <p:txBody>
          <a:bodyPr wrap="square" lIns="0" tIns="0" rIns="0" bIns="0" rtlCol="0" anchor="ctr"/>
          <a:lstStyle/>
          <a:p>
            <a:pPr indent="0" marL="0">
              <a:buNone/>
            </a:pPr>
            <a:r>
              <a:rPr lang="en-US" sz="5400" b="1" dirty="0">
                <a:solidFill>
                  <a:srgbClr val="0F1522"/>
                </a:solidFill>
                <a:latin typeface="Arial" pitchFamily="34" charset="0"/>
                <a:ea typeface="Arial" pitchFamily="34" charset="-122"/>
                <a:cs typeface="Arial" pitchFamily="34" charset="-120"/>
              </a:rPr>
              <a:t>Try it</a:t>
            </a:r>
            <a:endParaRPr lang="en-US" sz="5400" dirty="0"/>
          </a:p>
        </p:txBody>
      </p:sp>
      <p:sp>
        <p:nvSpPr>
          <p:cNvPr id="3" name="Text 1"/>
          <p:cNvSpPr txBox="1"/>
          <p:nvPr/>
        </p:nvSpPr>
        <p:spPr>
          <a:xfrm>
            <a:off x="566928" y="2971800"/>
            <a:ext cx="7315200" cy="502920"/>
          </a:xfrm>
          <a:prstGeom prst="rect">
            <a:avLst/>
          </a:prstGeom>
          <a:noFill/>
          <a:ln/>
        </p:spPr>
        <p:txBody>
          <a:bodyPr wrap="square" lIns="0" tIns="0" rIns="0" bIns="0" rtlCol="0" anchor="ctr"/>
          <a:lstStyle/>
          <a:p>
            <a:pPr indent="0" marL="0">
              <a:buNone/>
            </a:pPr>
            <a:r>
              <a:rPr lang="en-US" sz="2100" dirty="0">
                <a:solidFill>
                  <a:srgbClr val="2F6BC4"/>
                </a:solidFill>
                <a:latin typeface="Arial" pitchFamily="34" charset="0"/>
                <a:ea typeface="Arial" pitchFamily="34" charset="-122"/>
                <a:cs typeface="Arial" pitchFamily="34" charset="-120"/>
              </a:rPr>
              <a:t>belacorg.github.io/CTAPTracker</a:t>
            </a:r>
            <a:endParaRPr lang="en-US" sz="2100" dirty="0"/>
          </a:p>
        </p:txBody>
      </p:sp>
      <p:sp>
        <p:nvSpPr>
          <p:cNvPr id="4" name="Text 2"/>
          <p:cNvSpPr txBox="1"/>
          <p:nvPr/>
        </p:nvSpPr>
        <p:spPr>
          <a:xfrm>
            <a:off x="566928" y="3611880"/>
            <a:ext cx="7315200" cy="365760"/>
          </a:xfrm>
          <a:prstGeom prst="rect">
            <a:avLst/>
          </a:prstGeom>
          <a:noFill/>
          <a:ln/>
        </p:spPr>
        <p:txBody>
          <a:bodyPr wrap="square" lIns="0" tIns="0" rIns="0" bIns="0" rtlCol="0" anchor="ctr"/>
          <a:lstStyle/>
          <a:p>
            <a:pPr indent="0" marL="0">
              <a:buNone/>
            </a:pPr>
            <a:r>
              <a:rPr lang="en-US" sz="1600" dirty="0">
                <a:solidFill>
                  <a:srgbClr val="4B5565"/>
                </a:solidFill>
                <a:latin typeface="Calibri" pitchFamily="34" charset="0"/>
                <a:ea typeface="Calibri" pitchFamily="34" charset="-122"/>
                <a:cs typeface="Calibri" pitchFamily="34" charset="-120"/>
              </a:rPr>
              <a:t>Open it in Safari  →  Share  →  Add to Home Screen</a:t>
            </a:r>
            <a:endParaRPr lang="en-US" sz="1600" dirty="0"/>
          </a:p>
        </p:txBody>
      </p:sp>
      <p:sp>
        <p:nvSpPr>
          <p:cNvPr id="5" name="Text 3"/>
          <p:cNvSpPr txBox="1"/>
          <p:nvPr/>
        </p:nvSpPr>
        <p:spPr>
          <a:xfrm>
            <a:off x="566928" y="4069080"/>
            <a:ext cx="7315200" cy="365760"/>
          </a:xfrm>
          <a:prstGeom prst="rect">
            <a:avLst/>
          </a:prstGeom>
          <a:noFill/>
          <a:ln/>
        </p:spPr>
        <p:txBody>
          <a:bodyPr wrap="square" lIns="0" tIns="0" rIns="0" bIns="0" rtlCol="0" anchor="ctr"/>
          <a:lstStyle/>
          <a:p>
            <a:pPr indent="0" marL="0">
              <a:buNone/>
            </a:pPr>
            <a:r>
              <a:rPr lang="en-US" sz="1400" i="1" dirty="0">
                <a:solidFill>
                  <a:srgbClr val="6B7485"/>
                </a:solidFill>
                <a:latin typeface="Calibri" pitchFamily="34" charset="0"/>
                <a:ea typeface="Calibri" pitchFamily="34" charset="-122"/>
                <a:cs typeface="Calibri" pitchFamily="34" charset="-120"/>
              </a:rPr>
              <a:t>No account. No sign-in. No app store. Nothing leaves the phone.</a:t>
            </a:r>
            <a:endParaRPr lang="en-US" sz="1400" dirty="0"/>
          </a:p>
        </p:txBody>
      </p:sp>
      <p:sp>
        <p:nvSpPr>
          <p:cNvPr id="6" name="Text 4"/>
          <p:cNvSpPr txBox="1"/>
          <p:nvPr/>
        </p:nvSpPr>
        <p:spPr>
          <a:xfrm>
            <a:off x="566928" y="5029200"/>
            <a:ext cx="7315200" cy="320040"/>
          </a:xfrm>
          <a:prstGeom prst="rect">
            <a:avLst/>
          </a:prstGeom>
          <a:noFill/>
          <a:ln/>
        </p:spPr>
        <p:txBody>
          <a:bodyPr wrap="square" lIns="0" tIns="0" rIns="0" bIns="0" rtlCol="0" anchor="ctr"/>
          <a:lstStyle/>
          <a:p>
            <a:pPr indent="0" marL="0">
              <a:buNone/>
            </a:pPr>
            <a:r>
              <a:rPr lang="en-US" sz="1300" dirty="0">
                <a:solidFill>
                  <a:srgbClr val="6B7485"/>
                </a:solidFill>
                <a:latin typeface="Calibri" pitchFamily="34" charset="0"/>
                <a:ea typeface="Calibri" pitchFamily="34" charset="-122"/>
                <a:cs typeface="Calibri" pitchFamily="34" charset="-120"/>
              </a:rPr>
              <a:t>Jake Rainford  ·  Service &amp; Repair Engineer  ·  questions on email or Teams</a:t>
            </a:r>
            <a:endParaRPr lang="en-US" sz="1300" dirty="0"/>
          </a:p>
        </p:txBody>
      </p:sp>
      <p:sp>
        <p:nvSpPr>
          <p:cNvPr id="7" name="Text 5"/>
          <p:cNvSpPr txBox="1"/>
          <p:nvPr/>
        </p:nvSpPr>
        <p:spPr>
          <a:xfrm>
            <a:off x="566928" y="5943600"/>
            <a:ext cx="7498080" cy="640080"/>
          </a:xfrm>
          <a:prstGeom prst="rect">
            <a:avLst/>
          </a:prstGeom>
          <a:noFill/>
          <a:ln/>
        </p:spPr>
        <p:txBody>
          <a:bodyPr wrap="square" lIns="0" tIns="0" rIns="0" bIns="0" rtlCol="0" anchor="ctr"/>
          <a:lstStyle/>
          <a:p>
            <a:pPr indent="0" marL="0">
              <a:lnSpc>
                <a:spcPts val="1400"/>
              </a:lnSpc>
              <a:buNone/>
            </a:pPr>
            <a:r>
              <a:rPr lang="en-US" sz="1050" dirty="0">
                <a:solidFill>
                  <a:srgbClr val="6B7485"/>
                </a:solidFill>
                <a:latin typeface="Calibri" pitchFamily="34" charset="0"/>
                <a:ea typeface="Calibri" pitchFamily="34" charset="-122"/>
                <a:cs typeface="Calibri" pitchFamily="34" charset="-120"/>
              </a:rPr>
              <a:t>Personal estimates only — verify against your payslip and company tools. Not affiliated with, endorsed by, or representative of Centrica plc, British Gas or any employer.</a:t>
            </a:r>
            <a:endParaRPr lang="en-US" sz="1050" dirty="0"/>
          </a:p>
        </p:txBody>
      </p:sp>
      <p:sp>
        <p:nvSpPr>
          <p:cNvPr id="8" name="Shape 6"/>
          <p:cNvSpPr/>
          <p:nvPr/>
        </p:nvSpPr>
        <p:spPr>
          <a:xfrm>
            <a:off x="8983980" y="754380"/>
            <a:ext cx="2545586" cy="5349240"/>
          </a:xfrm>
          <a:prstGeom prst="roundRect">
            <a:avLst>
              <a:gd name="adj" fmla="val 7903"/>
            </a:avLst>
          </a:prstGeom>
          <a:solidFill>
            <a:srgbClr val="DDE3EC"/>
          </a:solidFill>
          <a:ln w="12700">
            <a:solidFill>
              <a:srgbClr val="DDE3EC"/>
            </a:solidFill>
            <a:prstDash val="solid"/>
          </a:ln>
        </p:spPr>
      </p:sp>
      <p:pic>
        <p:nvPicPr>
          <p:cNvPr id="9" name="Image 0" descr="shots/setup-card.png">    </p:cNvPr>
          <p:cNvPicPr>
            <a:picLocks noChangeAspect="1"/>
          </p:cNvPicPr>
          <p:nvPr/>
        </p:nvPicPr>
        <p:blipFill>
          <a:blip r:embed="rId1"/>
          <a:stretch>
            <a:fillRect/>
          </a:stretch>
        </p:blipFill>
        <p:spPr>
          <a:xfrm>
            <a:off x="9052560" y="822960"/>
            <a:ext cx="2408426" cy="5212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583680" y="566928"/>
            <a:ext cx="5151120" cy="237744"/>
          </a:xfrm>
          <a:prstGeom prst="rect">
            <a:avLst/>
          </a:prstGeom>
          <a:noFill/>
          <a:ln/>
        </p:spPr>
        <p:txBody>
          <a:bodyPr wrap="square" lIns="0" tIns="0" rIns="0" bIns="0" rtlCol="0" anchor="ctr"/>
          <a:lstStyle/>
          <a:p>
            <a:pPr indent="0" marL="0">
              <a:buNone/>
            </a:pPr>
            <a:r>
              <a:rPr lang="en-GB" sz="1100" b="1" spc="240" kern="0" dirty="0">
                <a:solidFill>
                  <a:srgbClr val="2F6BC4"/>
                </a:solidFill>
                <a:latin typeface="Arial" pitchFamily="34" charset="0"/>
                <a:ea typeface="Arial" pitchFamily="34" charset="-122"/>
                <a:cs typeface="Arial" pitchFamily="34" charset="-120"/>
              </a:rPr>
              <a:t>YOUR WEEK</a:t>
            </a:r>
            <a:endParaRPr lang="en-GB" sz="1100" dirty="0"/>
          </a:p>
        </p:txBody>
      </p:sp>
      <p:sp>
        <p:nvSpPr>
          <p:cNvPr id="3" name="Text 1"/>
          <p:cNvSpPr txBox="1"/>
          <p:nvPr/>
        </p:nvSpPr>
        <p:spPr>
          <a:xfrm>
            <a:off x="6583680" y="877824"/>
            <a:ext cx="5151120" cy="1280160"/>
          </a:xfrm>
          <a:prstGeom prst="rect">
            <a:avLst/>
          </a:prstGeom>
          <a:noFill/>
          <a:ln/>
        </p:spPr>
        <p:txBody>
          <a:bodyPr wrap="square" lIns="0" tIns="0" rIns="0" bIns="0" rtlCol="0" anchor="ctr"/>
          <a:lstStyle/>
          <a:p>
            <a:pPr indent="0" marL="0">
              <a:lnSpc>
                <a:spcPts val="3800"/>
              </a:lnSpc>
              <a:buNone/>
            </a:pPr>
            <a:r>
              <a:rPr lang="en-GB" sz="3000" b="1" dirty="0">
                <a:solidFill>
                  <a:srgbClr val="0F1522"/>
                </a:solidFill>
                <a:latin typeface="Arial" pitchFamily="34" charset="0"/>
                <a:ea typeface="Arial" pitchFamily="34" charset="-122"/>
                <a:cs typeface="Arial" pitchFamily="34" charset="-120"/>
              </a:rPr>
              <a:t>Set the week you work,</a:t>
            </a:r>
            <a:endParaRPr lang="en-GB" sz="3000" dirty="0"/>
          </a:p>
          <a:p>
            <a:pPr indent="0" marL="0">
              <a:lnSpc>
                <a:spcPts val="3800"/>
              </a:lnSpc>
              <a:buNone/>
            </a:pPr>
            <a:r>
              <a:rPr lang="en-GB" sz="3000" b="1" dirty="0">
                <a:solidFill>
                  <a:srgbClr val="0F1522"/>
                </a:solidFill>
                <a:latin typeface="Arial" pitchFamily="34" charset="0"/>
                <a:ea typeface="Arial" pitchFamily="34" charset="-122"/>
                <a:cs typeface="Arial" pitchFamily="34" charset="-120"/>
              </a:rPr>
              <a:t>then see all of it.</a:t>
            </a:r>
            <a:endParaRPr lang="en-GB" sz="3000" dirty="0"/>
          </a:p>
        </p:txBody>
      </p:sp>
      <p:sp>
        <p:nvSpPr>
          <p:cNvPr id="4" name="Shape 2"/>
          <p:cNvSpPr/>
          <p:nvPr/>
        </p:nvSpPr>
        <p:spPr>
          <a:xfrm>
            <a:off x="6583680" y="2459736"/>
            <a:ext cx="173736" cy="173736"/>
          </a:xfrm>
          <a:prstGeom prst="ellipse">
            <a:avLst/>
          </a:prstGeom>
          <a:solidFill>
            <a:srgbClr val="2F6BC4"/>
          </a:solidFill>
          <a:ln w="12700">
            <a:solidFill>
              <a:srgbClr val="2F6BC4"/>
            </a:solidFill>
            <a:prstDash val="solid"/>
          </a:ln>
        </p:spPr>
      </p:sp>
      <p:sp>
        <p:nvSpPr>
          <p:cNvPr id="5" name="Text 3"/>
          <p:cNvSpPr txBox="1"/>
          <p:nvPr/>
        </p:nvSpPr>
        <p:spPr>
          <a:xfrm>
            <a:off x="6949440" y="23957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Tap a day's times, set them, Confirm</a:t>
            </a:r>
            <a:endParaRPr lang="en-GB" sz="1500" dirty="0"/>
          </a:p>
        </p:txBody>
      </p:sp>
      <p:sp>
        <p:nvSpPr>
          <p:cNvPr id="6" name="Shape 4"/>
          <p:cNvSpPr/>
          <p:nvPr/>
        </p:nvSpPr>
        <p:spPr>
          <a:xfrm>
            <a:off x="6583680" y="2916936"/>
            <a:ext cx="173736" cy="173736"/>
          </a:xfrm>
          <a:prstGeom prst="ellipse">
            <a:avLst/>
          </a:prstGeom>
          <a:solidFill>
            <a:srgbClr val="2F6BC4"/>
          </a:solidFill>
          <a:ln w="12700">
            <a:solidFill>
              <a:srgbClr val="2F6BC4"/>
            </a:solidFill>
            <a:prstDash val="solid"/>
          </a:ln>
        </p:spPr>
      </p:sp>
      <p:sp>
        <p:nvSpPr>
          <p:cNvPr id="7" name="Text 5"/>
          <p:cNvSpPr txBox="1"/>
          <p:nvPr/>
        </p:nvSpPr>
        <p:spPr>
          <a:xfrm>
            <a:off x="6949440" y="28529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Copy a shift to any days you choose</a:t>
            </a:r>
            <a:endParaRPr lang="en-GB" sz="1500" dirty="0"/>
          </a:p>
        </p:txBody>
      </p:sp>
      <p:sp>
        <p:nvSpPr>
          <p:cNvPr id="8" name="Shape 6"/>
          <p:cNvSpPr/>
          <p:nvPr/>
        </p:nvSpPr>
        <p:spPr>
          <a:xfrm>
            <a:off x="6583680" y="3374136"/>
            <a:ext cx="173736" cy="173736"/>
          </a:xfrm>
          <a:prstGeom prst="ellipse">
            <a:avLst/>
          </a:prstGeom>
          <a:solidFill>
            <a:srgbClr val="2F6BC4"/>
          </a:solidFill>
          <a:ln w="12700">
            <a:solidFill>
              <a:srgbClr val="2F6BC4"/>
            </a:solidFill>
            <a:prstDash val="solid"/>
          </a:ln>
        </p:spPr>
      </p:sp>
      <p:sp>
        <p:nvSpPr>
          <p:cNvPr id="9" name="Text 7"/>
          <p:cNvSpPr txBox="1"/>
          <p:nvPr/>
        </p:nvSpPr>
        <p:spPr>
          <a:xfrm>
            <a:off x="6949440" y="3310128"/>
            <a:ext cx="4785360" cy="310896"/>
          </a:xfrm>
          <a:prstGeom prst="rect">
            <a:avLst/>
          </a:prstGeom>
          <a:noFill/>
          <a:ln/>
        </p:spPr>
        <p:txBody>
          <a:bodyPr wrap="square" lIns="0" tIns="0" rIns="0" bIns="0" rtlCol="0" anchor="ctr"/>
          <a:lstStyle/>
          <a:p>
            <a:pPr indent="0" marL="0">
              <a:buNone/>
            </a:pPr>
            <a:r>
              <a:rPr lang="en-GB" sz="1500" dirty="0">
                <a:solidFill>
                  <a:srgbClr val="4B5565"/>
                </a:solidFill>
                <a:latin typeface="Calibri" pitchFamily="34" charset="0"/>
                <a:ea typeface="Calibri" pitchFamily="34" charset="-122"/>
                <a:cs typeface="Calibri" pitchFamily="34" charset="-120"/>
              </a:rPr>
              <a:t>No times means a rest day, not leave</a:t>
            </a:r>
            <a:endParaRPr lang="en-GB" sz="1500" dirty="0"/>
          </a:p>
        </p:txBody>
      </p:sp>
      <p:sp>
        <p:nvSpPr>
          <p:cNvPr id="10" name="Text 8"/>
          <p:cNvSpPr txBox="1"/>
          <p:nvPr/>
        </p:nvSpPr>
        <p:spPr>
          <a:xfrm>
            <a:off x="6583680" y="3977640"/>
            <a:ext cx="5151120" cy="1005840"/>
          </a:xfrm>
          <a:prstGeom prst="rect">
            <a:avLst/>
          </a:prstGeom>
          <a:noFill/>
          <a:ln/>
        </p:spPr>
        <p:txBody>
          <a:bodyPr wrap="square" lIns="0" tIns="0" rIns="0" bIns="0" rtlCol="0" anchor="t"/>
          <a:lstStyle/>
          <a:p>
            <a:pPr indent="0" marL="0">
              <a:lnSpc>
                <a:spcPts val="2100"/>
              </a:lnSpc>
              <a:buNone/>
            </a:pPr>
            <a:r>
              <a:rPr lang="en-GB" sz="1400" dirty="0">
                <a:solidFill>
                  <a:srgbClr val="4B5565"/>
                </a:solidFill>
                <a:latin typeface="Calibri" pitchFamily="34" charset="0"/>
                <a:ea typeface="Calibri" pitchFamily="34" charset="-122"/>
                <a:cs typeface="Calibri" pitchFamily="34" charset="-120"/>
              </a:rPr>
              <a:t>The Weekly Forecast runs Monday to Sunday and opens on today. Days left counts only the days you're working, so a Friday off doesn't spread the target over an extra day.</a:t>
            </a:r>
            <a:endParaRPr lang="en-GB" sz="1400" dirty="0"/>
          </a:p>
        </p:txBody>
      </p:sp>
      <p:sp>
        <p:nvSpPr>
          <p:cNvPr id="11" name="Text 9"/>
          <p:cNvSpPr txBox="1"/>
          <p:nvPr/>
        </p:nvSpPr>
        <p:spPr>
          <a:xfrm>
            <a:off x="6583680" y="5029200"/>
            <a:ext cx="5151120" cy="822960"/>
          </a:xfrm>
          <a:prstGeom prst="rect">
            <a:avLst/>
          </a:prstGeom>
          <a:noFill/>
          <a:ln/>
        </p:spPr>
        <p:txBody>
          <a:bodyPr wrap="square" lIns="0" tIns="0" rIns="0" bIns="0" rtlCol="0" anchor="ctr"/>
          <a:lstStyle/>
          <a:p>
            <a:pPr indent="0" marL="0">
              <a:lnSpc>
                <a:spcPts val="2100"/>
              </a:lnSpc>
              <a:buNone/>
            </a:pPr>
            <a:r>
              <a:rPr lang="en-GB" sz="1400" b="1" dirty="0">
                <a:solidFill>
                  <a:srgbClr val="0F1522"/>
                </a:solidFill>
                <a:latin typeface="Calibri" pitchFamily="34" charset="0"/>
                <a:ea typeface="Calibri" pitchFamily="34" charset="-122"/>
                <a:cs typeface="Calibri" pitchFamily="34" charset="-120"/>
              </a:rPr>
              <a:t xml:space="preserve">A rest day keeps your 40 hours. </a:t>
            </a:r>
            <a:r>
              <a:rPr lang="en-GB" sz="1400" dirty="0">
                <a:solidFill>
                  <a:srgbClr val="4B5565"/>
                </a:solidFill>
                <a:latin typeface="Calibri" pitchFamily="34" charset="0"/>
                <a:ea typeface="Calibri" pitchFamily="34" charset="-122"/>
                <a:cs typeface="Calibri" pitchFamily="34" charset="-120"/>
              </a:rPr>
              <a:t>It just isn't a day you're expected to earn on, unlike leave, which takes that day's hours off the week.</a:t>
            </a:r>
            <a:endParaRPr lang="en-GB" sz="1400" dirty="0"/>
          </a:p>
        </p:txBody>
      </p:sp>
      <p:sp>
        <p:nvSpPr>
          <p:cNvPr id="12" name="Shape 10"/>
          <p:cNvSpPr/>
          <p:nvPr/>
        </p:nvSpPr>
        <p:spPr>
          <a:xfrm>
            <a:off x="457200" y="589788"/>
            <a:ext cx="2714598" cy="5715000"/>
          </a:xfrm>
          <a:prstGeom prst="roundRect">
            <a:avLst>
              <a:gd name="adj" fmla="val 7411"/>
            </a:avLst>
          </a:prstGeom>
          <a:solidFill>
            <a:srgbClr val="DDE3EC"/>
          </a:solidFill>
          <a:ln w="12700">
            <a:solidFill>
              <a:srgbClr val="DDE3EC"/>
            </a:solidFill>
            <a:prstDash val="solid"/>
          </a:ln>
        </p:spPr>
      </p:sp>
      <p:pic>
        <p:nvPicPr>
          <p:cNvPr id="13" name="Image 0" descr="Schedule: Monday to Saturday 08:00 to 16:30, Sunday shown as a rest day"/>
          <p:cNvPicPr>
            <a:picLocks noChangeAspect="1"/>
          </p:cNvPicPr>
          <p:nvPr/>
        </p:nvPicPr>
        <p:blipFill>
          <a:blip r:embed="rId1"/>
          <a:stretch>
            <a:fillRect/>
          </a:stretch>
        </p:blipFill>
        <p:spPr>
          <a:xfrm>
            <a:off x="525780" y="658368"/>
            <a:ext cx="2577438" cy="5577840"/>
          </a:xfrm>
          <a:prstGeom prst="rect">
            <a:avLst/>
          </a:prstGeom>
        </p:spPr>
      </p:pic>
      <p:sp>
        <p:nvSpPr>
          <p:cNvPr id="14" name="Shape 11"/>
          <p:cNvSpPr/>
          <p:nvPr/>
        </p:nvSpPr>
        <p:spPr>
          <a:xfrm>
            <a:off x="3446118" y="589788"/>
            <a:ext cx="2714598" cy="5715000"/>
          </a:xfrm>
          <a:prstGeom prst="roundRect">
            <a:avLst>
              <a:gd name="adj" fmla="val 7411"/>
            </a:avLst>
          </a:prstGeom>
          <a:solidFill>
            <a:srgbClr val="DDE3EC"/>
          </a:solidFill>
          <a:ln w="12700">
            <a:solidFill>
              <a:srgbClr val="DDE3EC"/>
            </a:solidFill>
            <a:prstDash val="solid"/>
          </a:ln>
        </p:spPr>
      </p:sp>
      <p:pic>
        <p:nvPicPr>
          <p:cNvPr id="15" name="Image 1" descr="Weekly Forecast: a Monday to Sunday day strip open on Saturday, with the week's totals"/>
          <p:cNvPicPr>
            <a:picLocks noChangeAspect="1"/>
          </p:cNvPicPr>
          <p:nvPr/>
        </p:nvPicPr>
        <p:blipFill>
          <a:blip r:embed="rId4"/>
          <a:stretch>
            <a:fillRect/>
          </a:stretch>
        </p:blipFill>
        <p:spPr>
          <a:xfrm>
            <a:off x="3514698" y="658368"/>
            <a:ext cx="2577438" cy="55778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CTAP Tracker</dc:title>
  <dc:subject>PptxGenJS Presentation</dc:subject>
  <dc:creator>Jake Rainford</dc:creator>
  <cp:lastModifiedBy>Jake Rainford</cp:lastModifiedBy>
  <cp:revision>1</cp:revision>
  <dcterms:created xsi:type="dcterms:W3CDTF">2026-09-13T06:03:52Z</dcterms:created>
  <dcterms:modified xsi:type="dcterms:W3CDTF">2026-09-13T06:03:52Z</dcterms:modified>
</cp:coreProperties>
</file>
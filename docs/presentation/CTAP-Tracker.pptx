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 id="267" r:id="rId18"/>
    <p:sldId id="268" r:id="rId19"/>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ten engineers to trial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questions a manager or an engineer asks first: where the credit values come from, how the target is set, and how travel is allowed for. Every answer describes what the app does today.</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11</a:t>
            </a:fld>
            <a:endParaRPr lang="en-GB"/>
          </a:p>
        </p:txBody>
      </p:sp>
    </p:spTree>
    <p:extLst>
      <p:ext uri="{BB962C8B-B14F-4D97-AF65-F5344CB8AC3E}">
        <p14:creationId xmlns:p14="http://schemas.microsoft.com/office/powerpoint/2010/main" val="18405273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How the balance and a deficit are worked out, and what changes a week's target. The privacy answer is the same one as the Where the figures live slide.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12</a:t>
            </a:fld>
            <a:endParaRPr lang="en-GB"/>
          </a:p>
        </p:txBody>
      </p:sp>
    </p:spTree>
    <p:extLst>
      <p:ext uri="{BB962C8B-B14F-4D97-AF65-F5344CB8AC3E}">
        <p14:creationId xmlns:p14="http://schemas.microsoft.com/office/powerpoint/2010/main" val="18405273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0F1522"/>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0F1522"/>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4B5565"/>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0F1522"/>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4B5565"/>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1F8A4C"/>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0F1522"/>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0F1522"/>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4B5565"/>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0F1522"/>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0" name="Shape 8"/>
          <p:cNvSpPr/>
          <p:nvPr/>
        </p:nvSpPr>
        <p:spPr>
          <a:xfrm>
            <a:off x="6163056" y="2286000"/>
            <a:ext cx="2578608" cy="1691640"/>
          </a:xfrm>
          <a:prstGeom prst="roundRect">
            <a:avLst>
              <a:gd name="adj" fmla="val 6486"/>
            </a:avLst>
          </a:prstGeom>
          <a:solidFill>
            <a:srgbClr val="F2F2F7"/>
          </a:solidFill>
          <a:ln w="12700">
            <a:solidFill>
              <a:srgbClr val="DDE3EC"/>
            </a:solidFill>
            <a:prstDash val="solid"/>
          </a:ln>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384</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0F1522"/>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0F1522"/>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2F6BC4"/>
                </a:solidFill>
                <a:latin typeface="Arial" pitchFamily="34" charset="0"/>
                <a:ea typeface="Arial" pitchFamily="34" charset="-122"/>
                <a:cs typeface="Arial"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4B5565"/>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6B7485"/>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6B7485"/>
                </a:solidFill>
                <a:latin typeface="Calibri" pitchFamily="34" charset="0"/>
                <a:ea typeface="Calibri" pitchFamily="34" charset="-122"/>
                <a:cs typeface="Calibri" pitchFamily="34" charset="-120"/>
              </a:rPr>
              <a:t>Jake Rainford  ·  Service &amp; Repair Engineer  ·  questions on email or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DDE3EC"/>
          </a:solidFill>
          <a:ln w="12700">
            <a:solidFill>
              <a:srgbClr val="DDE3EC"/>
            </a:solidFill>
            <a:prstDash val="solid"/>
          </a:ln>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566928"/>
            <a:ext cx="1005840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QUESTIONS PEOPLE ASK</a:t>
            </a:r>
            <a:endParaRPr lang="en-GB" sz="1100" dirty="0"/>
          </a:p>
        </p:txBody>
      </p:sp>
      <p:sp>
        <p:nvSpPr>
          <p:cNvPr id="3" name="Text 3"/>
          <p:cNvSpPr txBox="1"/>
          <p:nvPr/>
        </p:nvSpPr>
        <p:spPr>
          <a:xfrm>
            <a:off x="566928" y="877824"/>
            <a:ext cx="10058400" cy="640080"/>
          </a:xfrm>
          <a:prstGeom prst="rect">
            <a:avLst/>
          </a:prstGeom>
          <a:noFill/>
          <a:ln/>
        </p:spPr>
        <p:txBody>
          <a:bodyPr wrap="square" lIns="0" tIns="0" rIns="0" bIns="0" rtlCol="0" anchor="ctr"/>
          <a:lstStyle/>
          <a:p>
            <a:pPr indent="0" marL="0">
              <a:buNone/>
            </a:pPr>
            <a:r>
              <a:rPr lang="en-GB" sz="3200" b="1" dirty="0">
                <a:solidFill>
                  <a:srgbClr val="0F1522"/>
                </a:solidFill>
                <a:latin typeface="Arial" pitchFamily="34" charset="0"/>
                <a:ea typeface="Arial" pitchFamily="34" charset="-122"/>
                <a:cs typeface="Arial" pitchFamily="34" charset="-120"/>
              </a:rPr>
              <a:t>Where the numbers come from.</a:t>
            </a:r>
            <a:endParaRPr lang="en-GB" sz="3200" dirty="0"/>
          </a:p>
        </p:txBody>
      </p:sp>
      <p:sp>
        <p:nvSpPr>
          <p:cNvPr id="4" name="Card 4"/>
          <p:cNvSpPr/>
          <p:nvPr/>
        </p:nvSpPr>
        <p:spPr>
          <a:xfrm>
            <a:off x="566928" y="1737360"/>
            <a:ext cx="3493008" cy="2217420"/>
          </a:xfrm>
          <a:prstGeom prst="roundRect">
            <a:avLst>
              <a:gd name="adj" fmla="val 4800"/>
            </a:avLst>
          </a:prstGeom>
          <a:solidFill>
            <a:srgbClr val="F2F2F7"/>
          </a:solidFill>
          <a:ln w="12700">
            <a:solidFill>
              <a:srgbClr val="DDE3EC"/>
            </a:solidFill>
            <a:prstDash val="solid"/>
          </a:ln>
        </p:spPr>
      </p:sp>
      <p:sp>
        <p:nvSpPr>
          <p:cNvPr id="5" name="Text 5"/>
          <p:cNvSpPr txBox="1"/>
          <p:nvPr/>
        </p:nvSpPr>
        <p:spPr>
          <a:xfrm>
            <a:off x="822960" y="196596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Where do the job credit values come from?</a:t>
            </a:r>
            <a:endParaRPr lang="en-GB" sz="1400" dirty="0"/>
          </a:p>
        </p:txBody>
      </p:sp>
      <p:sp>
        <p:nvSpPr>
          <p:cNvPr id="6" name="Text 6"/>
          <p:cNvSpPr txBox="1"/>
          <p:nvPr/>
        </p:nvSpPr>
        <p:spPr>
          <a:xfrm>
            <a:off x="822960" y="251460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Centrica's sheet ID1923, Job Codes &amp; Credits. Each job uses the sheet's credit minutes, and one credit is 83.58 minutes. Nine older values are still being checked against the sheet.</a:t>
            </a:r>
            <a:endParaRPr lang="en-GB" sz="1200" dirty="0"/>
          </a:p>
        </p:txBody>
      </p:sp>
      <p:sp>
        <p:nvSpPr>
          <p:cNvPr id="7" name="Card 7"/>
          <p:cNvSpPr/>
          <p:nvPr/>
        </p:nvSpPr>
        <p:spPr>
          <a:xfrm>
            <a:off x="4334256" y="1737360"/>
            <a:ext cx="3493008" cy="2217420"/>
          </a:xfrm>
          <a:prstGeom prst="roundRect">
            <a:avLst>
              <a:gd name="adj" fmla="val 4800"/>
            </a:avLst>
          </a:prstGeom>
          <a:solidFill>
            <a:srgbClr val="F2F2F7"/>
          </a:solidFill>
          <a:ln w="12700">
            <a:solidFill>
              <a:srgbClr val="DDE3EC"/>
            </a:solidFill>
            <a:prstDash val="solid"/>
          </a:ln>
        </p:spPr>
      </p:sp>
      <p:sp>
        <p:nvSpPr>
          <p:cNvPr id="8" name="Text 8"/>
          <p:cNvSpPr txBox="1"/>
          <p:nvPr/>
        </p:nvSpPr>
        <p:spPr>
          <a:xfrm>
            <a:off x="4590288" y="196596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What happens when the credit values change?</a:t>
            </a:r>
            <a:endParaRPr lang="en-GB" sz="1400" dirty="0"/>
          </a:p>
        </p:txBody>
      </p:sp>
      <p:sp>
        <p:nvSpPr>
          <p:cNvPr id="9" name="Text 9"/>
          <p:cNvSpPr txBox="1"/>
          <p:nvPr/>
        </p:nvSpPr>
        <p:spPr>
          <a:xfrm>
            <a:off x="4590288" y="251460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The job list is a snapshot of the scheme, so it's updated to match whenever a value changes. Jobs already logged keep the value they were logged with.</a:t>
            </a:r>
            <a:endParaRPr lang="en-GB" sz="1200" dirty="0"/>
          </a:p>
        </p:txBody>
      </p:sp>
      <p:sp>
        <p:nvSpPr>
          <p:cNvPr id="10" name="Card 10"/>
          <p:cNvSpPr/>
          <p:nvPr/>
        </p:nvSpPr>
        <p:spPr>
          <a:xfrm>
            <a:off x="8101584" y="1737360"/>
            <a:ext cx="3493008" cy="2217420"/>
          </a:xfrm>
          <a:prstGeom prst="roundRect">
            <a:avLst>
              <a:gd name="adj" fmla="val 4800"/>
            </a:avLst>
          </a:prstGeom>
          <a:solidFill>
            <a:srgbClr val="F2F2F7"/>
          </a:solidFill>
          <a:ln w="12700">
            <a:solidFill>
              <a:srgbClr val="DDE3EC"/>
            </a:solidFill>
            <a:prstDash val="solid"/>
          </a:ln>
        </p:spPr>
      </p:sp>
      <p:sp>
        <p:nvSpPr>
          <p:cNvPr id="11" name="Text 11"/>
          <p:cNvSpPr txBox="1"/>
          <p:nvPr/>
        </p:nvSpPr>
        <p:spPr>
          <a:xfrm>
            <a:off x="8357616" y="196596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How is my weekly target worked out?</a:t>
            </a:r>
            <a:endParaRPr lang="en-GB" sz="1400" dirty="0"/>
          </a:p>
        </p:txBody>
      </p:sp>
      <p:sp>
        <p:nvSpPr>
          <p:cNvPr id="12" name="Text 12"/>
          <p:cNvSpPr txBox="1"/>
          <p:nvPr/>
        </p:nvSpPr>
        <p:spPr>
          <a:xfrm>
            <a:off x="8357616" y="251460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Your rostered hours (40, less any leave or mentor days) × 80%, less any NPT you log. After four finished weeks, the week's target becomes the average of your recent weeks.</a:t>
            </a:r>
            <a:endParaRPr lang="en-GB" sz="1200" dirty="0"/>
          </a:p>
        </p:txBody>
      </p:sp>
      <p:sp>
        <p:nvSpPr>
          <p:cNvPr id="13" name="Card 13"/>
          <p:cNvSpPr/>
          <p:nvPr/>
        </p:nvSpPr>
        <p:spPr>
          <a:xfrm>
            <a:off x="566928" y="4183380"/>
            <a:ext cx="3493008" cy="2217420"/>
          </a:xfrm>
          <a:prstGeom prst="roundRect">
            <a:avLst>
              <a:gd name="adj" fmla="val 4800"/>
            </a:avLst>
          </a:prstGeom>
          <a:solidFill>
            <a:srgbClr val="F2F2F7"/>
          </a:solidFill>
          <a:ln w="12700">
            <a:solidFill>
              <a:srgbClr val="DDE3EC"/>
            </a:solidFill>
            <a:prstDash val="solid"/>
          </a:ln>
        </p:spPr>
      </p:sp>
      <p:sp>
        <p:nvSpPr>
          <p:cNvPr id="14" name="Text 14"/>
          <p:cNvSpPr txBox="1"/>
          <p:nvPr/>
        </p:nvSpPr>
        <p:spPr>
          <a:xfrm>
            <a:off x="822960" y="441198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Is travel time included?</a:t>
            </a:r>
            <a:endParaRPr lang="en-GB" sz="1400" dirty="0"/>
          </a:p>
        </p:txBody>
      </p:sp>
      <p:sp>
        <p:nvSpPr>
          <p:cNvPr id="15" name="Text 15"/>
          <p:cNvSpPr txBox="1"/>
          <p:nvPr/>
        </p:nvSpPr>
        <p:spPr>
          <a:xfrm>
            <a:off x="822960" y="496062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Not directly. Travel isn't credited and isn't logged day to day. The 80% target leaves room for it, and from your fifth week your own average reflects the travel you really do.</a:t>
            </a:r>
            <a:endParaRPr lang="en-GB" sz="1200" dirty="0"/>
          </a:p>
        </p:txBody>
      </p:sp>
      <p:sp>
        <p:nvSpPr>
          <p:cNvPr id="16" name="Card 16"/>
          <p:cNvSpPr/>
          <p:nvPr/>
        </p:nvSpPr>
        <p:spPr>
          <a:xfrm>
            <a:off x="4334256" y="4183380"/>
            <a:ext cx="3493008" cy="2217420"/>
          </a:xfrm>
          <a:prstGeom prst="roundRect">
            <a:avLst>
              <a:gd name="adj" fmla="val 4800"/>
            </a:avLst>
          </a:prstGeom>
          <a:solidFill>
            <a:srgbClr val="F2F2F7"/>
          </a:solidFill>
          <a:ln w="12700">
            <a:solidFill>
              <a:srgbClr val="DDE3EC"/>
            </a:solidFill>
            <a:prstDash val="solid"/>
          </a:ln>
        </p:spPr>
      </p:sp>
      <p:sp>
        <p:nvSpPr>
          <p:cNvPr id="17" name="Text 17"/>
          <p:cNvSpPr txBox="1"/>
          <p:nvPr/>
        </p:nvSpPr>
        <p:spPr>
          <a:xfrm>
            <a:off x="4590288" y="441198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What's the logic behind travel?</a:t>
            </a:r>
            <a:endParaRPr lang="en-GB" sz="1400" dirty="0"/>
          </a:p>
        </p:txBody>
      </p:sp>
      <p:sp>
        <p:nvSpPr>
          <p:cNvPr id="18" name="Text 18"/>
          <p:cNvSpPr txBox="1"/>
          <p:nvPr/>
        </p:nvSpPr>
        <p:spPr>
          <a:xfrm>
            <a:off x="4590288" y="496062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Travel and Performance Factor take roughly 8 hours a week and can't be measured as you go, so 80% keeps the in-week figures realistic. Travel typed into History is a record only.</a:t>
            </a:r>
            <a:endParaRPr lang="en-GB" sz="1200" dirty="0"/>
          </a:p>
        </p:txBody>
      </p:sp>
      <p:sp>
        <p:nvSpPr>
          <p:cNvPr id="19" name="Card 19"/>
          <p:cNvSpPr/>
          <p:nvPr/>
        </p:nvSpPr>
        <p:spPr>
          <a:xfrm>
            <a:off x="8101584" y="4183380"/>
            <a:ext cx="3493008" cy="2217420"/>
          </a:xfrm>
          <a:prstGeom prst="roundRect">
            <a:avLst>
              <a:gd name="adj" fmla="val 4800"/>
            </a:avLst>
          </a:prstGeom>
          <a:solidFill>
            <a:srgbClr val="F2F2F7"/>
          </a:solidFill>
          <a:ln w="12700">
            <a:solidFill>
              <a:srgbClr val="DDE3EC"/>
            </a:solidFill>
            <a:prstDash val="solid"/>
          </a:ln>
        </p:spPr>
      </p:sp>
      <p:sp>
        <p:nvSpPr>
          <p:cNvPr id="20" name="Text 20"/>
          <p:cNvSpPr txBox="1"/>
          <p:nvPr/>
        </p:nvSpPr>
        <p:spPr>
          <a:xfrm>
            <a:off x="8357616" y="441198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Does it use MI or my payslip?</a:t>
            </a:r>
            <a:endParaRPr lang="en-GB" sz="1400" dirty="0"/>
          </a:p>
        </p:txBody>
      </p:sp>
      <p:sp>
        <p:nvSpPr>
          <p:cNvPr id="21" name="Text 21"/>
          <p:cNvSpPr txBox="1"/>
          <p:nvPr/>
        </p:nvSpPr>
        <p:spPr>
          <a:xfrm>
            <a:off x="8357616" y="496062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No. MI arrives 10–14 days after the week and is never imported. Everything comes from what you log, so treat the figures as personal estimates and check them against your payslip.</a:t>
            </a:r>
            <a:endParaRPr lang="en-GB"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566928"/>
            <a:ext cx="1005840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QUESTIONS PEOPLE ASK</a:t>
            </a:r>
            <a:endParaRPr lang="en-GB" sz="1100" dirty="0"/>
          </a:p>
        </p:txBody>
      </p:sp>
      <p:sp>
        <p:nvSpPr>
          <p:cNvPr id="3" name="Text 3"/>
          <p:cNvSpPr txBox="1"/>
          <p:nvPr/>
        </p:nvSpPr>
        <p:spPr>
          <a:xfrm>
            <a:off x="566928" y="877824"/>
            <a:ext cx="10058400" cy="640080"/>
          </a:xfrm>
          <a:prstGeom prst="rect">
            <a:avLst/>
          </a:prstGeom>
          <a:noFill/>
          <a:ln/>
        </p:spPr>
        <p:txBody>
          <a:bodyPr wrap="square" lIns="0" tIns="0" rIns="0" bIns="0" rtlCol="0" anchor="ctr"/>
          <a:lstStyle/>
          <a:p>
            <a:pPr indent="0" marL="0">
              <a:buNone/>
            </a:pPr>
            <a:r>
              <a:rPr lang="en-GB" sz="3200" b="1" dirty="0">
                <a:solidFill>
                  <a:srgbClr val="0F1522"/>
                </a:solidFill>
                <a:latin typeface="Arial" pitchFamily="34" charset="0"/>
                <a:ea typeface="Arial" pitchFamily="34" charset="-122"/>
                <a:cs typeface="Arial" pitchFamily="34" charset="-120"/>
              </a:rPr>
              <a:t>How the balance works.</a:t>
            </a:r>
            <a:endParaRPr lang="en-GB" sz="3200" dirty="0"/>
          </a:p>
        </p:txBody>
      </p:sp>
      <p:sp>
        <p:nvSpPr>
          <p:cNvPr id="4" name="Card 4"/>
          <p:cNvSpPr/>
          <p:nvPr/>
        </p:nvSpPr>
        <p:spPr>
          <a:xfrm>
            <a:off x="566928" y="1737360"/>
            <a:ext cx="3493008" cy="2217420"/>
          </a:xfrm>
          <a:prstGeom prst="roundRect">
            <a:avLst>
              <a:gd name="adj" fmla="val 4800"/>
            </a:avLst>
          </a:prstGeom>
          <a:solidFill>
            <a:srgbClr val="F2F2F7"/>
          </a:solidFill>
          <a:ln w="12700">
            <a:solidFill>
              <a:srgbClr val="DDE3EC"/>
            </a:solidFill>
            <a:prstDash val="solid"/>
          </a:ln>
        </p:spPr>
      </p:sp>
      <p:sp>
        <p:nvSpPr>
          <p:cNvPr id="5" name="Text 5"/>
          <p:cNvSpPr txBox="1"/>
          <p:nvPr/>
        </p:nvSpPr>
        <p:spPr>
          <a:xfrm>
            <a:off x="822960" y="196596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How does it work out a deficit?</a:t>
            </a:r>
            <a:endParaRPr lang="en-GB" sz="1400" dirty="0"/>
          </a:p>
        </p:txBody>
      </p:sp>
      <p:sp>
        <p:nvSpPr>
          <p:cNvPr id="6" name="Text 6"/>
          <p:cNvSpPr txBox="1"/>
          <p:nvPr/>
        </p:nvSpPr>
        <p:spPr>
          <a:xfrm>
            <a:off x="822960" y="251460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Your starting balance, plus each finished week's credits minus that week's target (rostered hours × 80%, less NPT). Below zero is a deficit. This week counts once it ends.</a:t>
            </a:r>
            <a:endParaRPr lang="en-GB" sz="1200" dirty="0"/>
          </a:p>
        </p:txBody>
      </p:sp>
      <p:sp>
        <p:nvSpPr>
          <p:cNvPr id="7" name="Card 7"/>
          <p:cNvSpPr/>
          <p:nvPr/>
        </p:nvSpPr>
        <p:spPr>
          <a:xfrm>
            <a:off x="4334256" y="1737360"/>
            <a:ext cx="3493008" cy="2217420"/>
          </a:xfrm>
          <a:prstGeom prst="roundRect">
            <a:avLst>
              <a:gd name="adj" fmla="val 4800"/>
            </a:avLst>
          </a:prstGeom>
          <a:solidFill>
            <a:srgbClr val="F2F2F7"/>
          </a:solidFill>
          <a:ln w="12700">
            <a:solidFill>
              <a:srgbClr val="DDE3EC"/>
            </a:solidFill>
            <a:prstDash val="solid"/>
          </a:ln>
        </p:spPr>
      </p:sp>
      <p:sp>
        <p:nvSpPr>
          <p:cNvPr id="8" name="Text 8"/>
          <p:cNvSpPr txBox="1"/>
          <p:nvPr/>
        </p:nvSpPr>
        <p:spPr>
          <a:xfrm>
            <a:off x="4590288" y="196596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How does Coach help clear a deficit?</a:t>
            </a:r>
            <a:endParaRPr lang="en-GB" sz="1400" dirty="0"/>
          </a:p>
        </p:txBody>
      </p:sp>
      <p:sp>
        <p:nvSpPr>
          <p:cNvPr id="9" name="Text 9"/>
          <p:cNvSpPr txBox="1"/>
          <p:nvPr/>
        </p:nvSpPr>
        <p:spPr>
          <a:xfrm>
            <a:off x="4590288" y="251460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It spreads the deficit over the next 20 working days, so 8.40h becomes +0.42h a day on top of target, and says whether last week shrank the deficit or added to it.</a:t>
            </a:r>
            <a:endParaRPr lang="en-GB" sz="1200" dirty="0"/>
          </a:p>
        </p:txBody>
      </p:sp>
      <p:sp>
        <p:nvSpPr>
          <p:cNvPr id="10" name="Card 10"/>
          <p:cNvSpPr/>
          <p:nvPr/>
        </p:nvSpPr>
        <p:spPr>
          <a:xfrm>
            <a:off x="8101584" y="1737360"/>
            <a:ext cx="3493008" cy="2217420"/>
          </a:xfrm>
          <a:prstGeom prst="roundRect">
            <a:avLst>
              <a:gd name="adj" fmla="val 4800"/>
            </a:avLst>
          </a:prstGeom>
          <a:solidFill>
            <a:srgbClr val="F2F2F7"/>
          </a:solidFill>
          <a:ln w="12700">
            <a:solidFill>
              <a:srgbClr val="DDE3EC"/>
            </a:solidFill>
            <a:prstDash val="solid"/>
          </a:ln>
        </p:spPr>
      </p:sp>
      <p:sp>
        <p:nvSpPr>
          <p:cNvPr id="11" name="Text 11"/>
          <p:cNvSpPr txBox="1"/>
          <p:nvPr/>
        </p:nvSpPr>
        <p:spPr>
          <a:xfrm>
            <a:off x="8357616" y="196596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What about leave, rest days and mentoring?</a:t>
            </a:r>
            <a:endParaRPr lang="en-GB" sz="1400" dirty="0"/>
          </a:p>
        </p:txBody>
      </p:sp>
      <p:sp>
        <p:nvSpPr>
          <p:cNvPr id="12" name="Text 12"/>
          <p:cNvSpPr txBox="1"/>
          <p:nvPr/>
        </p:nvSpPr>
        <p:spPr>
          <a:xfrm>
            <a:off x="8357616" y="251460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Leave takes that day's hours off the week; a rest day (no shift times) doesn't. A full mentor day has no target, and a partial one takes 20% off, as the scheme sets.</a:t>
            </a:r>
            <a:endParaRPr lang="en-GB" sz="1200" dirty="0"/>
          </a:p>
        </p:txBody>
      </p:sp>
      <p:sp>
        <p:nvSpPr>
          <p:cNvPr id="13" name="Card 13"/>
          <p:cNvSpPr/>
          <p:nvPr/>
        </p:nvSpPr>
        <p:spPr>
          <a:xfrm>
            <a:off x="566928" y="4183380"/>
            <a:ext cx="3493008" cy="2217420"/>
          </a:xfrm>
          <a:prstGeom prst="roundRect">
            <a:avLst>
              <a:gd name="adj" fmla="val 4800"/>
            </a:avLst>
          </a:prstGeom>
          <a:solidFill>
            <a:srgbClr val="F2F2F7"/>
          </a:solidFill>
          <a:ln w="12700">
            <a:solidFill>
              <a:srgbClr val="DDE3EC"/>
            </a:solidFill>
            <a:prstDash val="solid"/>
          </a:ln>
        </p:spPr>
      </p:sp>
      <p:sp>
        <p:nvSpPr>
          <p:cNvPr id="14" name="Text 14"/>
          <p:cNvSpPr txBox="1"/>
          <p:nvPr/>
        </p:nvSpPr>
        <p:spPr>
          <a:xfrm>
            <a:off x="822960" y="441198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What if a week wasn't a fair test?</a:t>
            </a:r>
            <a:endParaRPr lang="en-GB" sz="1400" dirty="0"/>
          </a:p>
        </p:txBody>
      </p:sp>
      <p:sp>
        <p:nvSpPr>
          <p:cNvPr id="15" name="Text 15"/>
          <p:cNvSpPr txBox="1"/>
          <p:nvPr/>
        </p:nvSpPr>
        <p:spPr>
          <a:xfrm>
            <a:off x="822960" y="496062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Untick "In CTAP" for that week in History, for full sickness or a phased return, say. The week stays visible but leaves the balance alone.</a:t>
            </a:r>
            <a:endParaRPr lang="en-GB" sz="1200" dirty="0"/>
          </a:p>
        </p:txBody>
      </p:sp>
      <p:sp>
        <p:nvSpPr>
          <p:cNvPr id="16" name="Card 16"/>
          <p:cNvSpPr/>
          <p:nvPr/>
        </p:nvSpPr>
        <p:spPr>
          <a:xfrm>
            <a:off x="4334256" y="4183380"/>
            <a:ext cx="3493008" cy="2217420"/>
          </a:xfrm>
          <a:prstGeom prst="roundRect">
            <a:avLst>
              <a:gd name="adj" fmla="val 4800"/>
            </a:avLst>
          </a:prstGeom>
          <a:solidFill>
            <a:srgbClr val="F2F2F7"/>
          </a:solidFill>
          <a:ln w="12700">
            <a:solidFill>
              <a:srgbClr val="DDE3EC"/>
            </a:solidFill>
            <a:prstDash val="solid"/>
          </a:ln>
        </p:spPr>
      </p:sp>
      <p:sp>
        <p:nvSpPr>
          <p:cNvPr id="17" name="Text 17"/>
          <p:cNvSpPr txBox="1"/>
          <p:nvPr/>
        </p:nvSpPr>
        <p:spPr>
          <a:xfrm>
            <a:off x="4590288" y="441198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What counts as NPT?</a:t>
            </a:r>
            <a:endParaRPr lang="en-GB" sz="1400" dirty="0"/>
          </a:p>
        </p:txBody>
      </p:sp>
      <p:sp>
        <p:nvSpPr>
          <p:cNvPr id="18" name="Text 18"/>
          <p:cNvSpPr txBox="1"/>
          <p:nvPr/>
        </p:nvSpPr>
        <p:spPr>
          <a:xfrm>
            <a:off x="4590288" y="496062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Time on the clock the scheme doesn't pay for, like an early finish. It comes off that week's target after the 80%. Wait time, EV charging and Bybox collections earn credits instead.</a:t>
            </a:r>
            <a:endParaRPr lang="en-GB" sz="1200" dirty="0"/>
          </a:p>
        </p:txBody>
      </p:sp>
      <p:sp>
        <p:nvSpPr>
          <p:cNvPr id="19" name="Card 19"/>
          <p:cNvSpPr/>
          <p:nvPr/>
        </p:nvSpPr>
        <p:spPr>
          <a:xfrm>
            <a:off x="8101584" y="4183380"/>
            <a:ext cx="3493008" cy="2217420"/>
          </a:xfrm>
          <a:prstGeom prst="roundRect">
            <a:avLst>
              <a:gd name="adj" fmla="val 4800"/>
            </a:avLst>
          </a:prstGeom>
          <a:solidFill>
            <a:srgbClr val="F2F2F7"/>
          </a:solidFill>
          <a:ln w="12700">
            <a:solidFill>
              <a:srgbClr val="DDE3EC"/>
            </a:solidFill>
            <a:prstDash val="solid"/>
          </a:ln>
        </p:spPr>
      </p:sp>
      <p:sp>
        <p:nvSpPr>
          <p:cNvPr id="20" name="Text 20"/>
          <p:cNvSpPr txBox="1"/>
          <p:nvPr/>
        </p:nvSpPr>
        <p:spPr>
          <a:xfrm>
            <a:off x="8357616" y="4411980"/>
            <a:ext cx="2980944" cy="502920"/>
          </a:xfrm>
          <a:prstGeom prst="rect">
            <a:avLst/>
          </a:prstGeom>
          <a:noFill/>
          <a:ln/>
        </p:spPr>
        <p:txBody>
          <a:bodyPr wrap="square" lIns="0" tIns="0" rIns="0" bIns="0" rtlCol="0" anchor="t"/>
          <a:lstStyle/>
          <a:p>
            <a:pPr indent="0" marL="0">
              <a:lnSpc>
                <a:spcPts val="1800"/>
              </a:lnSpc>
              <a:buNone/>
            </a:pPr>
            <a:r>
              <a:rPr lang="en-GB" sz="1400" b="1" dirty="0">
                <a:solidFill>
                  <a:srgbClr val="0F1522"/>
                </a:solidFill>
                <a:latin typeface="Arial" pitchFamily="34" charset="0"/>
                <a:ea typeface="Arial" pitchFamily="34" charset="-122"/>
                <a:cs typeface="Arial" pitchFamily="34" charset="-120"/>
              </a:rPr>
              <a:t>Can my manager see my figures?</a:t>
            </a:r>
            <a:endParaRPr lang="en-GB" sz="1400" dirty="0"/>
          </a:p>
        </p:txBody>
      </p:sp>
      <p:sp>
        <p:nvSpPr>
          <p:cNvPr id="21" name="Text 21"/>
          <p:cNvSpPr txBox="1"/>
          <p:nvPr/>
        </p:nvSpPr>
        <p:spPr>
          <a:xfrm>
            <a:off x="8357616" y="4960620"/>
            <a:ext cx="2980944" cy="1257300"/>
          </a:xfrm>
          <a:prstGeom prst="rect">
            <a:avLst/>
          </a:prstGeom>
          <a:noFill/>
          <a:ln/>
        </p:spPr>
        <p:txBody>
          <a:bodyPr wrap="square" lIns="0" tIns="0" rIns="0" bIns="0" rtlCol="0" anchor="t"/>
          <a:lstStyle/>
          <a:p>
            <a:pPr indent="0" marL="0">
              <a:lnSpc>
                <a:spcPts val="1650"/>
              </a:lnSpc>
              <a:buNone/>
            </a:pPr>
            <a:r>
              <a:rPr lang="en-GB" sz="1200" dirty="0">
                <a:solidFill>
                  <a:srgbClr val="4B5565"/>
                </a:solidFill>
                <a:latin typeface="Calibri" pitchFamily="34" charset="0"/>
                <a:ea typeface="Calibri" pitchFamily="34" charset="-122"/>
                <a:cs typeface="Calibri" pitchFamily="34" charset="-120"/>
              </a:rPr>
              <a:t>No. There's no account and nothing is uploaded, so everything stays on the engineer's phone. The flip side is there's no backup if the phone is lost or the app is deleted.</a:t>
            </a:r>
            <a:endParaRPr lang="en-GB"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
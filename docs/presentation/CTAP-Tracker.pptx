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and looking for a handful of engineers, five to ten, to trial it: anyone a manager thinks would get something out of it.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and off in one tap in Settings. Coach is the bit I would show a new engineer first: it turns the figures into a run rate and tells you what the extras on a visit are worth. It only ever suggests advice on a visit you were already given, never extra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question, answered the simple way: nothing leaves the phone, so there is nothing to protect on a server and nobody to share it with. The catch is real and we say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shipped, and the ask: a handful of engineers, five to ten, who a manager thinks would get something out of it. Engineers a little behind on CTAP and new starters get the most from seeing the figures day to day. Nobody can install it without the link, so it goes out to whoever comes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0F1522"/>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2F6BC4"/>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4B5565"/>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6B7485"/>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DDE3EC"/>
          </a:solidFill>
          <a:ln w="12700">
            <a:solidFill>
              <a:srgbClr val="DDE3EC"/>
            </a:solidFill>
            <a:prstDash val="solid"/>
          </a:ln>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GB" sz="3800" b="1" dirty="0">
                <a:solidFill>
                  <a:srgbClr val="0F1522"/>
                </a:solidFill>
                <a:latin typeface="Arial" pitchFamily="34" charset="0"/>
                <a:ea typeface="Arial" pitchFamily="34" charset="-122"/>
                <a:cs typeface="Arial" pitchFamily="34" charset="-120"/>
              </a:rPr>
              <a:t>You find out a week was short</a:t>
            </a:r>
            <a:endParaRPr lang="en-GB" sz="3800" dirty="0"/>
          </a:p>
          <a:p>
            <a:pPr indent="0" marL="0">
              <a:lnSpc>
                <a:spcPts val="4600"/>
              </a:lnSpc>
              <a:buNone/>
            </a:pPr>
            <a:r>
              <a:rPr lang="en-GB" sz="3800" b="1" dirty="0">
                <a:solidFill>
                  <a:srgbClr val="0F1522"/>
                </a:solidFill>
                <a:latin typeface="Arial" pitchFamily="34" charset="0"/>
                <a:ea typeface="Arial" pitchFamily="34" charset="-122"/>
                <a:cs typeface="Arial" pitchFamily="34" charset="-120"/>
              </a:rPr>
              <a:t>when it’s already gone.</a:t>
            </a:r>
            <a:endParaRPr lang="en-GB" sz="3800" dirty="0"/>
          </a:p>
        </p:txBody>
      </p:sp>
      <p:sp>
        <p:nvSpPr>
          <p:cNvPr id="4" name="Shape 2"/>
          <p:cNvSpPr/>
          <p:nvPr/>
        </p:nvSpPr>
        <p:spPr>
          <a:xfrm>
            <a:off x="566928" y="2514600"/>
            <a:ext cx="3493008" cy="2788920"/>
          </a:xfrm>
          <a:prstGeom prst="roundRect">
            <a:avLst>
              <a:gd name="adj" fmla="val 3934"/>
            </a:avLst>
          </a:prstGeom>
          <a:solidFill>
            <a:srgbClr val="F2F2F7"/>
          </a:solidFill>
          <a:ln w="12700">
            <a:solidFill>
              <a:srgbClr val="DDE3EC"/>
            </a:solidFill>
            <a:prstDash val="solid"/>
          </a:ln>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By the time the figures come back, the week they’re about is long gone.</a:t>
            </a:r>
            <a:endParaRPr lang="en-US" sz="1300" dirty="0"/>
          </a:p>
        </p:txBody>
      </p:sp>
      <p:sp>
        <p:nvSpPr>
          <p:cNvPr id="9" name="Shape 7"/>
          <p:cNvSpPr/>
          <p:nvPr/>
        </p:nvSpPr>
        <p:spPr>
          <a:xfrm>
            <a:off x="4334256" y="2514600"/>
            <a:ext cx="3493008" cy="2788920"/>
          </a:xfrm>
          <a:prstGeom prst="roundRect">
            <a:avLst>
              <a:gd name="adj" fmla="val 3934"/>
            </a:avLst>
          </a:prstGeom>
          <a:solidFill>
            <a:srgbClr val="F2F2F7"/>
          </a:solidFill>
          <a:ln w="12700">
            <a:solidFill>
              <a:srgbClr val="DDE3EC"/>
            </a:solidFill>
            <a:prstDash val="solid"/>
          </a:ln>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Nothing tells you mid-week that you’re behind while there’s still time to do something about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F2F2F7"/>
          </a:solidFill>
          <a:ln w="12700">
            <a:solidFill>
              <a:srgbClr val="DDE3EC"/>
            </a:solidFill>
            <a:prstDash val="solid"/>
          </a:ln>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 bonus is a number of hours. Nobody tells you what that is in your pocket.</a:t>
            </a:r>
            <a:endParaRPr lang="en-US" sz="1300" dirty="0"/>
          </a:p>
        </p:txBody>
      </p:sp>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2F6BC4"/>
          </a:solidFill>
          <a:ln w="12700">
            <a:solidFill>
              <a:srgbClr val="2F6BC4"/>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2F6BC4"/>
          </a:solidFill>
          <a:ln w="12700">
            <a:solidFill>
              <a:srgbClr val="2F6BC4"/>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whole week, caught up on a Friday. Each day is read on its own and lands on the day you said.</a:t>
            </a:r>
            <a:endParaRPr lang="en-US" sz="1250" dirty="0"/>
          </a:p>
        </p:txBody>
      </p:sp>
      <p:sp>
        <p:nvSpPr>
          <p:cNvPr id="10" name="Shape 8"/>
          <p:cNvSpPr/>
          <p:nvPr/>
        </p:nvSpPr>
        <p:spPr>
          <a:xfrm>
            <a:off x="566928" y="4956048"/>
            <a:ext cx="6675120" cy="960120"/>
          </a:xfrm>
          <a:prstGeom prst="roundRect">
            <a:avLst>
              <a:gd name="adj" fmla="val 9524"/>
            </a:avLst>
          </a:prstGeom>
          <a:solidFill>
            <a:srgbClr val="F2F2F7"/>
          </a:solidFill>
          <a:ln w="12700">
            <a:solidFill>
              <a:srgbClr val="DDE3EC"/>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0F1522"/>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4B5565"/>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BC4"/>
          </a:solidFill>
          <a:ln w="12700">
            <a:solidFill>
              <a:srgbClr val="2F6BC4"/>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The hours you’re already up or down. Without it every figure starts from zero,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BC4"/>
          </a:solidFill>
          <a:ln w="12700">
            <a:solidFill>
              <a:srgbClr val="2F6BC4"/>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One tap if you’re a normal Mon–Fri.</a:t>
            </a:r>
            <a:endParaRPr lang="en-US" sz="1350" dirty="0"/>
          </a:p>
        </p:txBody>
      </p:sp>
      <p:sp>
        <p:nvSpPr>
          <p:cNvPr id="12" name="Shape 10"/>
          <p:cNvSpPr/>
          <p:nvPr/>
        </p:nvSpPr>
        <p:spPr>
          <a:xfrm>
            <a:off x="6400800" y="4626864"/>
            <a:ext cx="347472" cy="347472"/>
          </a:xfrm>
          <a:prstGeom prst="ellipse">
            <a:avLst/>
          </a:prstGeom>
          <a:solidFill>
            <a:srgbClr val="2F6BC4"/>
          </a:solidFill>
          <a:ln w="12700">
            <a:solidFill>
              <a:srgbClr val="2F6BC4"/>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DDE3EC"/>
          </a:solidFill>
          <a:ln w="12700">
            <a:solidFill>
              <a:srgbClr val="DDE3EC"/>
            </a:solidFill>
            <a:prstDash val="solid"/>
          </a:ln>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F2F2F7"/>
          </a:solidFill>
          <a:ln w="12700">
            <a:solidFill>
              <a:srgbClr val="DDE3EC"/>
            </a:solidFill>
            <a:prstDash val="solid"/>
          </a:ln>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0F1522"/>
                </a:solidFill>
                <a:latin typeface="Arial" pitchFamily="34" charset="0"/>
                <a:ea typeface="Arial" pitchFamily="34" charset="-122"/>
                <a:cs typeface="Arial" pitchFamily="34" charset="-120"/>
              </a:rPr>
              <a:t>40.0h</a:t>
            </a:r>
            <a:pPr indent="0" marL="0">
              <a:buNone/>
            </a:pPr>
            <a:r>
              <a:rPr lang="en-US" sz="1900" dirty="0">
                <a:solidFill>
                  <a:srgbClr val="6B7485"/>
                </a:solidFill>
                <a:latin typeface="Arial" pitchFamily="34" charset="0"/>
                <a:ea typeface="Arial" pitchFamily="34" charset="-122"/>
                <a:cs typeface="Arial" pitchFamily="34" charset="-120"/>
              </a:rPr>
              <a:t>  rostered  ×  </a:t>
            </a:r>
            <a:pPr indent="0" marL="0">
              <a:buNone/>
            </a:pPr>
            <a:r>
              <a:rPr lang="en-US" sz="1900" dirty="0">
                <a:solidFill>
                  <a:srgbClr val="0F1522"/>
                </a:solidFill>
                <a:latin typeface="Arial" pitchFamily="34" charset="0"/>
                <a:ea typeface="Arial" pitchFamily="34" charset="-122"/>
                <a:cs typeface="Arial" pitchFamily="34" charset="-120"/>
              </a:rPr>
              <a:t>80%</a:t>
            </a:r>
            <a:pPr indent="0" marL="0">
              <a:buNone/>
            </a:pPr>
            <a:r>
              <a:rPr lang="en-US" sz="1900" dirty="0">
                <a:solidFill>
                  <a:srgbClr val="6B7485"/>
                </a:solidFill>
                <a:latin typeface="Arial" pitchFamily="34" charset="0"/>
                <a:ea typeface="Arial" pitchFamily="34" charset="-122"/>
                <a:cs typeface="Arial" pitchFamily="34" charset="-120"/>
              </a:rPr>
              <a:t>   =   </a:t>
            </a:r>
            <a:pPr indent="0" marL="0">
              <a:buNone/>
            </a:pPr>
            <a:r>
              <a:rPr lang="en-US" sz="1900" b="1" dirty="0">
                <a:solidFill>
                  <a:srgbClr val="2F6BC4"/>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6B7485"/>
                </a:solidFill>
                <a:latin typeface="Calibri" pitchFamily="34" charset="0"/>
                <a:ea typeface="Calibri" pitchFamily="34" charset="-122"/>
                <a:cs typeface="Calibri" pitchFamily="34" charset="-120"/>
              </a:rPr>
              <a:t>The 80% is a buffer for travel and performance factor. It’s the employer’s bar, so it never drifts towards your own average.</a:t>
            </a:r>
            <a:endParaRPr lang="en-US" sz="1200" dirty="0"/>
          </a:p>
        </p:txBody>
      </p:sp>
      <p:sp>
        <p:nvSpPr>
          <p:cNvPr id="8" name="Shape 6"/>
          <p:cNvSpPr/>
          <p:nvPr/>
        </p:nvSpPr>
        <p:spPr>
          <a:xfrm>
            <a:off x="566928" y="3931920"/>
            <a:ext cx="6720840" cy="1691640"/>
          </a:xfrm>
          <a:prstGeom prst="roundRect">
            <a:avLst>
              <a:gd name="adj" fmla="val 6486"/>
            </a:avLst>
          </a:prstGeom>
          <a:solidFill>
            <a:srgbClr val="F2F2F7"/>
          </a:solidFill>
          <a:ln w="12700">
            <a:solidFill>
              <a:srgbClr val="2F6BC4"/>
            </a:solidFill>
            <a:prstDash val="solid"/>
          </a:ln>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0F1522"/>
                </a:solidFill>
                <a:latin typeface="Arial" pitchFamily="34" charset="0"/>
                <a:ea typeface="Arial" pitchFamily="34" charset="-122"/>
                <a:cs typeface="Arial" pitchFamily="34" charset="-120"/>
              </a:rPr>
              <a:t>17.23h</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£19.39</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1.4×</a:t>
            </a:r>
            <a:pPr indent="0" marL="0">
              <a:buNone/>
            </a:pPr>
            <a:r>
              <a:rPr lang="en-US" sz="1700" dirty="0">
                <a:solidFill>
                  <a:srgbClr val="6B7485"/>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1F8A4C"/>
                </a:solidFill>
                <a:latin typeface="Arial" pitchFamily="34" charset="0"/>
                <a:ea typeface="Arial" pitchFamily="34" charset="-122"/>
                <a:cs typeface="Arial" pitchFamily="34" charset="-120"/>
              </a:rPr>
              <a:t>£336.83</a:t>
            </a:r>
            <a:pPr indent="0" marL="0">
              <a:buNone/>
            </a:pPr>
            <a:r>
              <a:rPr lang="en-US" sz="1500" dirty="0">
                <a:solidFill>
                  <a:srgbClr val="6B7485"/>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calculation is shown under the figure in the app, so you can check it rather than take it on trust.</a:t>
            </a:r>
            <a:endParaRPr lang="en-US" sz="1300" dirty="0"/>
          </a:p>
        </p:txBody>
      </p:sp>
      <p:sp>
        <p:nvSpPr>
          <p:cNvPr id="13" name="Shape 11"/>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Every week you’ve logged,</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and the balance that carries.</a:t>
            </a:r>
            <a:endParaRPr lang="en-GB" sz="3000" dirty="0"/>
          </a:p>
        </p:txBody>
      </p:sp>
      <p:sp>
        <p:nvSpPr>
          <p:cNvPr id="4" name="Shape 2"/>
          <p:cNvSpPr/>
          <p:nvPr/>
        </p:nvSpPr>
        <p:spPr>
          <a:xfrm>
            <a:off x="6309360" y="2459736"/>
            <a:ext cx="173736" cy="173736"/>
          </a:xfrm>
          <a:prstGeom prst="ellipse">
            <a:avLst/>
          </a:prstGeom>
          <a:solidFill>
            <a:srgbClr val="1F8A4C"/>
          </a:solidFill>
          <a:ln w="12700">
            <a:solidFill>
              <a:srgbClr val="1F8A4C"/>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D9A21B"/>
          </a:solidFill>
          <a:ln w="12700">
            <a:solidFill>
              <a:srgbClr val="D9A21B"/>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D64545"/>
          </a:solidFill>
          <a:ln w="12700">
            <a:solidFill>
              <a:srgbClr val="D64545"/>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Had a week that wasn’t a fair test? Sickness, a phased return, a week you were still getting the hang of the app. Untick it and it stays out of your balance without being deleted.</a:t>
            </a:r>
            <a:endParaRPr lang="en-GB"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Your balance never resets.</a:t>
            </a:r>
            <a:r>
              <a:rPr lang="en-GB" sz="1400" dirty="0">
                <a:solidFill>
                  <a:srgbClr val="0F1522"/>
                </a:solidFill>
                <a:latin typeface="Calibri" pitchFamily="34" charset="0"/>
                <a:ea typeface="Calibri" pitchFamily="34" charset="-122"/>
                <a:cs typeface="Calibri" pitchFamily="34" charset="-120"/>
              </a:rPr>
              <a:t> It carries on from wherever you were already up or down, week after week.</a:t>
            </a:r>
            <a:endParaRPr lang="en-GB" sz="1400" dirty="0"/>
          </a:p>
        </p:txBody>
      </p:sp>
      <p:sp>
        <p:nvSpPr>
          <p:cNvPr id="12" name="Shape 10"/>
          <p:cNvSpPr/>
          <p:nvPr/>
        </p:nvSpPr>
        <p:spPr>
          <a:xfrm>
            <a:off x="12573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COACH MODE  ·  OPTIONAL</a:t>
            </a:r>
            <a:endParaRPr lang="en-GB"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GB" sz="3200" b="1" dirty="0">
                <a:solidFill>
                  <a:srgbClr val="0F1522"/>
                </a:solidFill>
                <a:latin typeface="Arial" pitchFamily="34" charset="0"/>
                <a:ea typeface="Arial" pitchFamily="34" charset="-122"/>
                <a:cs typeface="Arial" pitchFamily="34" charset="-120"/>
              </a:rPr>
              <a:t>Coach works out the way back.</a:t>
            </a:r>
            <a:endParaRPr lang="en-GB" sz="3200" dirty="0"/>
          </a:p>
          <a:p>
            <a:pPr indent="0" marL="0">
              <a:lnSpc>
                <a:spcPts val="4000"/>
              </a:lnSpc>
              <a:buNone/>
            </a:pPr>
            <a:r>
              <a:rPr lang="en-GB" sz="3200" b="1" dirty="0">
                <a:solidFill>
                  <a:srgbClr val="0F1522"/>
                </a:solidFill>
                <a:latin typeface="Arial" pitchFamily="34" charset="0"/>
                <a:ea typeface="Arial" pitchFamily="34" charset="-122"/>
                <a:cs typeface="Arial" pitchFamily="34" charset="-120"/>
              </a:rPr>
              <a:t>And shows what lifts the balance most.</a:t>
            </a:r>
            <a:endParaRPr lang="en-GB" sz="3200" dirty="0"/>
          </a:p>
        </p:txBody>
      </p:sp>
      <p:sp>
        <p:nvSpPr>
          <p:cNvPr id="4" name="Shape 2"/>
          <p:cNvSpPr/>
          <p:nvPr/>
        </p:nvSpPr>
        <p:spPr>
          <a:xfrm>
            <a:off x="566928" y="2423160"/>
            <a:ext cx="5440680" cy="3840480"/>
          </a:xfrm>
          <a:prstGeom prst="roundRect">
            <a:avLst>
              <a:gd name="adj" fmla="val 2857"/>
            </a:avLst>
          </a:prstGeom>
          <a:solidFill>
            <a:srgbClr val="F2F2F7"/>
          </a:solidFill>
          <a:ln w="12700">
            <a:solidFill>
              <a:srgbClr val="DDE3EC"/>
            </a:solidFill>
            <a:prstDash val="solid"/>
          </a:ln>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GB" sz="2100" b="1" dirty="0">
                <a:solidFill>
                  <a:srgbClr val="0F1522"/>
                </a:solidFill>
                <a:latin typeface="Arial" pitchFamily="34" charset="0"/>
                <a:ea typeface="Arial" pitchFamily="34" charset="-122"/>
                <a:cs typeface="Arial" pitchFamily="34" charset="-120"/>
              </a:rPr>
              <a:t>Coach Mode</a:t>
            </a:r>
            <a:endParaRPr lang="en-GB" sz="2100" dirty="0"/>
          </a:p>
        </p:txBody>
      </p:sp>
      <p:pic>
        <p:nvPicPr>
          <p:cNvPr id="6" name="Image 0" descr="shots/coach-card.png">    </p:cNvPr>
          <p:cNvPicPr>
            <a:picLocks noChangeAspect="1"/>
          </p:cNvPicPr>
          <p:nvPr/>
        </p:nvPicPr>
        <p:blipFill>
          <a:blip r:embed="rId1"/>
          <a:stretch>
            <a:fillRect/>
          </a:stretch>
        </p:blipFill>
        <p:spPr>
          <a:xfrm>
            <a:off x="877824" y="3108960"/>
            <a:ext cx="3478149" cy="1554480"/>
          </a:xfrm>
          <a:prstGeom prst="rect">
            <a:avLst/>
          </a:prstGeom>
        </p:spPr>
      </p:pic>
      <p:sp>
        <p:nvSpPr>
          <p:cNvPr id="7" name="Text 4"/>
          <p:cNvSpPr txBox="1"/>
          <p:nvPr/>
        </p:nvSpPr>
        <p:spPr>
          <a:xfrm>
            <a:off x="877824" y="4773168"/>
            <a:ext cx="4818888" cy="1371600"/>
          </a:xfrm>
          <a:prstGeom prst="rect">
            <a:avLst/>
          </a:prstGeom>
          <a:noFill/>
          <a:ln/>
        </p:spPr>
        <p:txBody>
          <a:bodyPr wrap="square" lIns="0" tIns="0" rIns="0" bIns="0" rtlCol="0" anchor="t"/>
          <a:lstStyle/>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Your run rate.</a:t>
            </a:r>
            <a:r>
              <a:rPr lang="en-GB" sz="1150" dirty="0">
                <a:solidFill>
                  <a:srgbClr val="0F1522"/>
                </a:solidFill>
                <a:latin typeface="Calibri" pitchFamily="34" charset="0"/>
                <a:ea typeface="Calibri" pitchFamily="34" charset="-122"/>
                <a:cs typeface="Calibri" pitchFamily="34" charset="-120"/>
              </a:rPr>
              <a:t> How many jobs, or how many hours, get a deficit down, and by when. Keep going as you are today and it tells you where you’ll be in ten days.</a:t>
            </a:r>
            <a:endParaRPr lang="en-GB" sz="1150" dirty="0"/>
          </a:p>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What lifts the balance most.</a:t>
            </a:r>
            <a:r>
              <a:rPr lang="en-GB" sz="1150" dirty="0">
                <a:solidFill>
                  <a:srgbClr val="0F1522"/>
                </a:solidFill>
                <a:latin typeface="Calibri" pitchFamily="34" charset="0"/>
                <a:ea typeface="Calibri" pitchFamily="34" charset="-122"/>
                <a:cs typeface="Calibri" pitchFamily="34" charset="-120"/>
              </a:rPr>
              <a:t> On the visit you’re already on: a Hive, an inhibitor, a CO alarm, a boiler lead. It shows what each one is worth against today’s gap.</a:t>
            </a:r>
            <a:endParaRPr lang="en-GB" sz="1150" dirty="0"/>
          </a:p>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Never dispatched work.</a:t>
            </a:r>
            <a:r>
              <a:rPr lang="en-GB" sz="1150" dirty="0">
                <a:solidFill>
                  <a:srgbClr val="0F1522"/>
                </a:solidFill>
                <a:latin typeface="Calibri" pitchFamily="34" charset="0"/>
                <a:ea typeface="Calibri" pitchFamily="34" charset="-122"/>
                <a:cs typeface="Calibri" pitchFamily="34" charset="-120"/>
              </a:rPr>
              <a:t> It won’t suggest a service or a repair you weren’t given, so it can’t nudge anyone into raising work that wasn’t done.</a:t>
            </a:r>
            <a:endParaRPr lang="en-GB" sz="1150" dirty="0"/>
          </a:p>
        </p:txBody>
      </p:sp>
      <p:sp>
        <p:nvSpPr>
          <p:cNvPr id="8" name="Shape 5"/>
          <p:cNvSpPr/>
          <p:nvPr/>
        </p:nvSpPr>
        <p:spPr>
          <a:xfrm>
            <a:off x="6373368" y="2423160"/>
            <a:ext cx="5440680" cy="3840480"/>
          </a:xfrm>
          <a:prstGeom prst="roundRect">
            <a:avLst>
              <a:gd name="adj" fmla="val 2857"/>
            </a:avLst>
          </a:prstGeom>
          <a:solidFill>
            <a:srgbClr val="F2F2F7"/>
          </a:solidFill>
          <a:ln w="12700">
            <a:solidFill>
              <a:srgbClr val="DDE3EC"/>
            </a:solidFill>
            <a:prstDash val="solid"/>
          </a:ln>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GB" sz="2100" b="1" dirty="0">
                <a:solidFill>
                  <a:srgbClr val="0F1522"/>
                </a:solidFill>
                <a:latin typeface="Arial" pitchFamily="34" charset="0"/>
                <a:ea typeface="Arial" pitchFamily="34" charset="-122"/>
                <a:cs typeface="Arial" pitchFamily="34" charset="-120"/>
              </a:rPr>
              <a:t>Best advice</a:t>
            </a:r>
            <a:endParaRPr lang="en-GB" sz="2100" dirty="0"/>
          </a:p>
        </p:txBody>
      </p:sp>
      <p:pic>
        <p:nvPicPr>
          <p:cNvPr id="10" name="Image 1" descr="shots/coach-best-advice.png">    </p:cNvPr>
          <p:cNvPicPr>
            <a:picLocks noChangeAspect="1"/>
          </p:cNvPicPr>
          <p:nvPr/>
        </p:nvPicPr>
        <p:blipFill>
          <a:blip r:embed="rId2"/>
          <a:stretch>
            <a:fillRect/>
          </a:stretch>
        </p:blipFill>
        <p:spPr>
          <a:xfrm>
            <a:off x="6684264" y="3108960"/>
            <a:ext cx="3388231" cy="297180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DATA</a:t>
            </a:r>
            <a:endParaRPr lang="en-GB"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GB" sz="3400" b="1" dirty="0">
                <a:solidFill>
                  <a:srgbClr val="0F1522"/>
                </a:solidFill>
                <a:latin typeface="Arial" pitchFamily="34" charset="0"/>
                <a:ea typeface="Arial" pitchFamily="34" charset="-122"/>
                <a:cs typeface="Arial" pitchFamily="34" charset="-120"/>
              </a:rPr>
              <a:t>Everything stays</a:t>
            </a:r>
            <a:endParaRPr lang="en-GB" sz="3400" dirty="0"/>
          </a:p>
          <a:p>
            <a:pPr indent="0" marL="0">
              <a:lnSpc>
                <a:spcPts val="4200"/>
              </a:lnSpc>
              <a:buNone/>
            </a:pPr>
            <a:r>
              <a:rPr lang="en-GB" sz="3400" b="1" dirty="0">
                <a:solidFill>
                  <a:srgbClr val="0F1522"/>
                </a:solidFill>
                <a:latin typeface="Arial" pitchFamily="34" charset="0"/>
                <a:ea typeface="Arial" pitchFamily="34" charset="-122"/>
                <a:cs typeface="Arial" pitchFamily="34" charset="-120"/>
              </a:rPr>
              <a:t>on your phone.</a:t>
            </a:r>
            <a:endParaRPr lang="en-GB"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GB" sz="1500" dirty="0">
                <a:solidFill>
                  <a:srgbClr val="4B5565"/>
                </a:solidFill>
                <a:latin typeface="Calibri" pitchFamily="34" charset="0"/>
                <a:ea typeface="Calibri" pitchFamily="34" charset="-122"/>
                <a:cs typeface="Calibri" pitchFamily="34" charset="-120"/>
              </a:rPr>
              <a:t>It’s completely secure, because there’s nothing to secure: every figure you log lives on your own phone and nowhere else. No account, no upload, no server. Nobody can see your CTAP figures but you.</a:t>
            </a:r>
            <a:endParaRPr lang="en-GB"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None. Nothing to sign into, nothing to sign out of.</a:t>
            </a:r>
            <a:endParaRPr lang="en-GB" sz="1300" dirty="0"/>
          </a:p>
        </p:txBody>
      </p:sp>
      <p:sp>
        <p:nvSpPr>
          <p:cNvPr id="7" name="Shape 5"/>
          <p:cNvSpPr/>
          <p:nvPr/>
        </p:nvSpPr>
        <p:spPr>
          <a:xfrm>
            <a:off x="566928" y="4050792"/>
            <a:ext cx="6675120" cy="7315"/>
          </a:xfrm>
          <a:prstGeom prst="rect">
            <a:avLst/>
          </a:prstGeom>
          <a:solidFill>
            <a:srgbClr val="DDE3EC"/>
          </a:solidFill>
          <a:ln w="12700">
            <a:solidFill>
              <a:srgbClr val="DDE3EC"/>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None. Once it’s installed it makes no network requests at all.</a:t>
            </a:r>
            <a:endParaRPr lang="en-GB" sz="1300" dirty="0"/>
          </a:p>
        </p:txBody>
      </p:sp>
      <p:sp>
        <p:nvSpPr>
          <p:cNvPr id="10" name="Shape 8"/>
          <p:cNvSpPr/>
          <p:nvPr/>
        </p:nvSpPr>
        <p:spPr>
          <a:xfrm>
            <a:off x="566928" y="4562856"/>
            <a:ext cx="6675120" cy="7315"/>
          </a:xfrm>
          <a:prstGeom prst="rect">
            <a:avLst/>
          </a:prstGeom>
          <a:solidFill>
            <a:srgbClr val="DDE3EC"/>
          </a:solidFill>
          <a:ln w="12700">
            <a:solidFill>
              <a:srgbClr val="DDE3EC"/>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Nobody. Not your manager, not me, no analytics.</a:t>
            </a:r>
            <a:endParaRPr lang="en-GB" sz="1300" dirty="0"/>
          </a:p>
        </p:txBody>
      </p:sp>
      <p:sp>
        <p:nvSpPr>
          <p:cNvPr id="13" name="Shape 11"/>
          <p:cNvSpPr/>
          <p:nvPr/>
        </p:nvSpPr>
        <p:spPr>
          <a:xfrm>
            <a:off x="566928" y="5074920"/>
            <a:ext cx="6675120" cy="7315"/>
          </a:xfrm>
          <a:prstGeom prst="rect">
            <a:avLst/>
          </a:prstGeom>
          <a:solidFill>
            <a:srgbClr val="DDE3EC"/>
          </a:solidFill>
          <a:ln w="12700">
            <a:solidFill>
              <a:srgbClr val="DDE3EC"/>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Works fully, which matters in plant rooms and cellars.</a:t>
            </a:r>
            <a:endParaRPr lang="en-GB" sz="1300" dirty="0"/>
          </a:p>
        </p:txBody>
      </p:sp>
      <p:sp>
        <p:nvSpPr>
          <p:cNvPr id="16" name="Shape 14"/>
          <p:cNvSpPr/>
          <p:nvPr/>
        </p:nvSpPr>
        <p:spPr>
          <a:xfrm>
            <a:off x="566928" y="5586984"/>
            <a:ext cx="6675120" cy="7315"/>
          </a:xfrm>
          <a:prstGeom prst="rect">
            <a:avLst/>
          </a:prstGeom>
          <a:solidFill>
            <a:srgbClr val="DDE3EC"/>
          </a:solidFill>
          <a:ln w="12700">
            <a:solidFill>
              <a:srgbClr val="DDE3EC"/>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F2F2F7"/>
          </a:solidFill>
          <a:ln w="12700">
            <a:solidFill>
              <a:srgbClr val="D9A21B"/>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A86B00"/>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GB" sz="1700" b="1" dirty="0">
                <a:solidFill>
                  <a:srgbClr val="0F1522"/>
                </a:solidFill>
                <a:latin typeface="Arial" pitchFamily="34" charset="0"/>
                <a:ea typeface="Arial" pitchFamily="34" charset="-122"/>
                <a:cs typeface="Arial" pitchFamily="34" charset="-120"/>
              </a:rPr>
              <a:t>The one catch</a:t>
            </a:r>
            <a:endParaRPr lang="en-GB"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spcAft>
                <a:spcPts val="600"/>
              </a:spcAft>
              <a:buNone/>
            </a:pPr>
            <a:r>
              <a:rPr lang="en-GB" sz="1300" dirty="0">
                <a:solidFill>
                  <a:srgbClr val="4B5565"/>
                </a:solidFill>
                <a:latin typeface="Calibri" pitchFamily="34" charset="0"/>
                <a:ea typeface="Calibri" pitchFamily="34" charset="-122"/>
                <a:cs typeface="Calibri" pitchFamily="34" charset="-120"/>
              </a:rPr>
              <a:t>There’s no backup. Delete the app, erase the data or lose the phone and it’s gone. Nobody can get it back, because nobody else ever had it.</a:t>
            </a:r>
            <a:endParaRPr lang="en-GB" sz="1300" dirty="0"/>
          </a:p>
          <a:p>
            <a:pPr indent="0" marL="0">
              <a:lnSpc>
                <a:spcPts val="1900"/>
              </a:lnSpc>
              <a:spcAft>
                <a:spcPts val="600"/>
              </a:spcAft>
              <a:buNone/>
            </a:pPr>
            <a:r>
              <a:rPr lang="en-GB" sz="1300" dirty="0">
                <a:solidFill>
                  <a:srgbClr val="4B5565"/>
                </a:solidFill>
                <a:latin typeface="Calibri" pitchFamily="34" charset="0"/>
                <a:ea typeface="Calibri" pitchFamily="34" charset="-122"/>
                <a:cs typeface="Calibri" pitchFamily="34" charset="-120"/>
              </a:rPr>
              <a:t>Engineers are told this before they start.</a:t>
            </a:r>
            <a:endParaRPr lang="en-GB" sz="1300" dirty="0"/>
          </a:p>
        </p:txBody>
      </p:sp>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GB" sz="3400" b="1" dirty="0">
                <a:solidFill>
                  <a:srgbClr val="0F1522"/>
                </a:solidFill>
                <a:latin typeface="Arial" pitchFamily="34" charset="0"/>
                <a:ea typeface="Arial" pitchFamily="34" charset="-122"/>
                <a:cs typeface="Arial" pitchFamily="34" charset="-120"/>
              </a:rPr>
              <a:t>Where it’s up to.</a:t>
            </a:r>
            <a:endParaRPr lang="en-GB" sz="3400" dirty="0"/>
          </a:p>
        </p:txBody>
      </p:sp>
      <p:sp>
        <p:nvSpPr>
          <p:cNvPr id="4" name="Shape 2"/>
          <p:cNvSpPr/>
          <p:nvPr/>
        </p:nvSpPr>
        <p:spPr>
          <a:xfrm>
            <a:off x="566928" y="2286000"/>
            <a:ext cx="3447288" cy="1691640"/>
          </a:xfrm>
          <a:prstGeom prst="roundRect">
            <a:avLst>
              <a:gd name="adj" fmla="val 6486"/>
            </a:avLst>
          </a:prstGeom>
          <a:solidFill>
            <a:srgbClr val="F2F2F7"/>
          </a:solidFill>
          <a:ln w="12700">
            <a:solidFill>
              <a:srgbClr val="DDE3EC"/>
            </a:solidFill>
            <a:prstDash val="solid"/>
          </a:ln>
        </p:spPr>
      </p:sp>
      <p:sp>
        <p:nvSpPr>
          <p:cNvPr id="5" name="Text 3"/>
          <p:cNvSpPr txBox="1"/>
          <p:nvPr/>
        </p:nvSpPr>
        <p:spPr>
          <a:xfrm>
            <a:off x="804672" y="2542032"/>
            <a:ext cx="297180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4283964" y="2286000"/>
            <a:ext cx="3447288" cy="1691640"/>
          </a:xfrm>
          <a:prstGeom prst="roundRect">
            <a:avLst>
              <a:gd name="adj" fmla="val 6486"/>
            </a:avLst>
          </a:prstGeom>
          <a:solidFill>
            <a:srgbClr val="F2F2F7"/>
          </a:solidFill>
          <a:ln w="12700">
            <a:solidFill>
              <a:srgbClr val="DDE3EC"/>
            </a:solidFill>
            <a:prstDash val="solid"/>
          </a:ln>
        </p:spPr>
      </p:sp>
      <p:sp>
        <p:nvSpPr>
          <p:cNvPr id="8" name="Text 6"/>
          <p:cNvSpPr txBox="1"/>
          <p:nvPr/>
        </p:nvSpPr>
        <p:spPr>
          <a:xfrm>
            <a:off x="4521708" y="2542032"/>
            <a:ext cx="297180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5–10</a:t>
            </a:r>
            <a:endParaRPr lang="en-US" sz="3800" dirty="0"/>
          </a:p>
        </p:txBody>
      </p:sp>
      <p:sp>
        <p:nvSpPr>
          <p:cNvPr id="9" name="Text 7"/>
          <p:cNvSpPr txBox="1"/>
          <p:nvPr/>
        </p:nvSpPr>
        <p:spPr>
          <a:xfrm>
            <a:off x="4521708"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ENGINEERS WANTED</a:t>
            </a:r>
            <a:endParaRPr lang="en-US" sz="900" dirty="0"/>
          </a:p>
        </p:txBody>
      </p:sp>
      <p:sp>
        <p:nvSpPr>
          <p:cNvPr id="13" name="Shape 11"/>
          <p:cNvSpPr/>
          <p:nvPr/>
        </p:nvSpPr>
        <p:spPr>
          <a:xfrm>
            <a:off x="8001000" y="2286000"/>
            <a:ext cx="3447288" cy="1691640"/>
          </a:xfrm>
          <a:prstGeom prst="roundRect">
            <a:avLst>
              <a:gd name="adj" fmla="val 6486"/>
            </a:avLst>
          </a:prstGeom>
          <a:solidFill>
            <a:srgbClr val="F2F2F7"/>
          </a:solidFill>
          <a:ln w="12700">
            <a:solidFill>
              <a:srgbClr val="DDE3EC"/>
            </a:solidFill>
            <a:prstDash val="solid"/>
          </a:ln>
        </p:spPr>
      </p:sp>
      <p:sp>
        <p:nvSpPr>
          <p:cNvPr id="14" name="Text 12"/>
          <p:cNvSpPr txBox="1"/>
          <p:nvPr/>
        </p:nvSpPr>
        <p:spPr>
          <a:xfrm>
            <a:off x="8238744" y="2542032"/>
            <a:ext cx="297180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518</a:t>
            </a:r>
            <a:endParaRPr lang="en-US" sz="3800" dirty="0"/>
          </a:p>
        </p:txBody>
      </p:sp>
      <p:sp>
        <p:nvSpPr>
          <p:cNvPr id="15" name="Text 13"/>
          <p:cNvSpPr txBox="1"/>
          <p:nvPr/>
        </p:nvSpPr>
        <p:spPr>
          <a:xfrm>
            <a:off x="8238744"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AUTOMATED TESTS PASSING</a:t>
            </a:r>
            <a:endParaRPr lang="en-US" sz="900" dirty="0"/>
          </a:p>
        </p:txBody>
      </p:sp>
      <p:sp>
        <p:nvSpPr>
          <p:cNvPr id="19" name="Text 17"/>
          <p:cNvSpPr txBox="1"/>
          <p:nvPr/>
        </p:nvSpPr>
        <p:spPr>
          <a:xfrm>
            <a:off x="566928" y="4526280"/>
            <a:ext cx="10881360" cy="457200"/>
          </a:xfrm>
          <a:prstGeom prst="rect">
            <a:avLst/>
          </a:prstGeom>
          <a:noFill/>
          <a:ln/>
        </p:spPr>
        <p:txBody>
          <a:bodyPr wrap="square" lIns="0" tIns="0" rIns="0" bIns="0" rtlCol="0" anchor="ctr"/>
          <a:lstStyle/>
          <a:p>
            <a:pPr indent="0" marL="0">
              <a:lnSpc>
                <a:spcPts val="1400"/>
              </a:lnSpc>
              <a:buNone/>
            </a:pPr>
            <a:r>
              <a:rPr lang="en-US" sz="1050" dirty="0">
                <a:solidFill>
                  <a:srgbClr val="6B7485"/>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2F6BC4"/>
          </a:solidFill>
          <a:ln w="12700">
            <a:solidFill>
              <a:srgbClr val="2F6BC4"/>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2F6BC4"/>
          </a:solidFill>
          <a:ln w="12700">
            <a:solidFill>
              <a:srgbClr val="2F6BC4"/>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2F6BC4"/>
          </a:solidFill>
          <a:ln w="12700">
            <a:solidFill>
              <a:srgbClr val="2F6BC4"/>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 xml:space="preserve">A rest day keeps your 40 hours. </a:t>
            </a:r>
            <a:r>
              <a:rPr lang="en-GB" sz="1400" dirty="0">
                <a:solidFill>
                  <a:srgbClr val="4B5565"/>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DDE3EC"/>
          </a:solidFill>
          <a:ln w="12700">
            <a:solidFill>
              <a:srgbClr val="DDE3EC"/>
            </a:solidFill>
            <a:prstDash val="solid"/>
          </a:ln>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
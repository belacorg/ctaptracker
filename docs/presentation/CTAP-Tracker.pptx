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0" r:id="rId6"/>
    <p:sldId id="261" r:id="rId7"/>
    <p:sldId id="262" r:id="rId8"/>
    <p:sldId id="263" r:id="rId9"/>
    <p:sldId id="264" r:id="rId10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  <Relationship Id="rId17" Type="http://schemas.openxmlformats.org/officeDocument/2006/relationships/slide" Target="slides/slide11.xml"/>
  
  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CTAP Tracker — a personal tool for Service &amp; Repair engineers to track their CTAP bonus in real time. Built by an engineer, and looking for a handful of engineers, five to ten, to trial it: anyone a manager thinks would get something out of it. Everything you see is on-device; I will come back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scheme is real money, but the feedback loop is broken. MI is ten to fourteen days behind, so you learn about a bad week when there is nothing left to do about it. This app closes that loop — it does not replace MI, it just tells you where you are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bit engineers actually care about. You can talk a day in, or catch a whole week up on a Friday by naming the days. Critically it produces a draft, not a write — you see the proposed entries and anything it could not match, and nothing lands until you confirm. The worst outcome would be wrong figures you did not know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open. The app deliberately does not look finished until it is — the starting balance is the one setting that makes the headline number theirs rather than fictional, so the card names it rather than leaving it at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your multiplier and tax band and it shows gross and take-home. Example figures on screen. This is the thing that turns the bonus from an abstraction into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gives the pattern rather than a single week. The exclude toggle matters for fairness — a week of certified sickness should not drag a balance down, and deleting the data to achieve that would be worse.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and off in one tap in Settings. Coach is the bit I would show a new engineer first: it turns the figures into a run rate and tells you what the extras on a visit are worth. It only ever suggests advice on a visit you were already given, never extra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question, answered the simple way: nothing leaves the phone, so there is nothing to protect on a server and nobody to share it with. The catch is real and we say it up front: no backup, no recovery.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shipped. The version is in Settings under About if I ask which build you are on, and every change runs the full set of tests before it reaches your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New since the first version of this deck. Shift times are set in a picker with a Confirm, because the iPhone time wheel used to close after the first scroll. An engineer on a rota can copy a shift to exactly the days they work. A day with no times is a rest day: it isn't leave, so the week keeps its 40 hours, and nobody has to mark it, because it's read from the Schedule.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GB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73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-11-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057400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-150" kern="0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CTAP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035808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-15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Tracker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2245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your CTAP stands today, not next month.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8920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8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 BUILD  ·  v0.8.0  ·  SERVICE + REPAIR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95260" y="708660"/>
            <a:ext cx="2587839" cy="5440680"/>
          </a:xfrm>
          <a:prstGeom prst="roundRect">
            <a:avLst>
              <a:gd name="adj" fmla="val 7774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7" name="Image 0" descr="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777240"/>
            <a:ext cx="2450679" cy="530352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77824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GB" sz="38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find out a week was short</a:t>
            </a:r>
            <a:endParaRPr lang="en-GB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GB" sz="38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it’s already gone.</a:t>
            </a:r>
            <a:endParaRPr lang="en-GB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2514600"/>
            <a:ext cx="3493008" cy="2788920"/>
          </a:xfrm>
          <a:prstGeom prst="roundRect">
            <a:avLst>
              <a:gd name="adj" fmla="val 3934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2788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10–14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35844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MI lands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43708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the figures come back, the week they’re about is long gone.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4256" y="2514600"/>
            <a:ext cx="3493008" cy="2788920"/>
          </a:xfrm>
          <a:prstGeom prst="roundRect">
            <a:avLst>
              <a:gd name="adj" fmla="val 3934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2788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35844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IN-WEEK VIEW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act 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43708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tells you mid-week that you’re behind while there’s still time to do something about it.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2514600"/>
            <a:ext cx="3493008" cy="2788920"/>
          </a:xfrm>
          <a:prstGeom prst="roundRect">
            <a:avLst>
              <a:gd name="adj" fmla="val 3934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2788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000" dirty="0"/>
          </a:p>
        </p:txBody>
      </p:sp>
      <p:sp>
        <p:nvSpPr>
          <p:cNvPr id="16" name="Text 14"/>
          <p:cNvSpPr txBox="1"/>
          <p:nvPr/>
        </p:nvSpPr>
        <p:spPr>
          <a:xfrm>
            <a:off x="8394192" y="35844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balance in hours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43708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bonus is a number of hours. Nobody tells you what that is in your pocket.</a:t>
            </a:r>
            <a:endParaRPr lang="en-US" sz="1300" dirty="0"/>
          </a:p>
        </p:txBody>
      </p:sp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77824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day. It writes nothing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you confirm.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32004" cy="621792"/>
          </a:xfrm>
          <a:prstGeom prst="rect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33172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“Six breakdowns and two services.”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679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day, said once.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419856"/>
            <a:ext cx="32004" cy="1161288"/>
          </a:xfrm>
          <a:prstGeom prst="rect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3419856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“Monday six breakdowns, Tuesday three services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an inhibitor, Wednesday a long duration.”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407822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week, caught up on a Friday. Each day is read on its own and lands on the day you said.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956048"/>
            <a:ext cx="6675120" cy="960120"/>
          </a:xfrm>
          <a:prstGeom prst="roundRect">
            <a:avLst>
              <a:gd name="adj" fmla="val 9524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51389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handles what voice does to trade numbers.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“too high installs” becomes 2 × Hive install, not a job called “too high”.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06740" y="589788"/>
            <a:ext cx="2714598" cy="5715000"/>
          </a:xfrm>
          <a:prstGeom prst="roundRect">
            <a:avLst>
              <a:gd name="adj" fmla="val 7411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13" name="Image 0" descr="shots/log-jo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658368"/>
            <a:ext cx="2577438" cy="557784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0" y="5669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877824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taps, then it gets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the way.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0" y="2304288"/>
            <a:ext cx="347472" cy="347472"/>
          </a:xfrm>
          <a:prstGeom prst="ellipse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912864" y="22860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starting balance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912864" y="26517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hours you’re already up or down. Without it every figure starts from zero, which is almost certainly not where you 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0" y="3602736"/>
            <a:ext cx="347472" cy="347472"/>
          </a:xfrm>
          <a:prstGeom prst="ellipse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12864" y="358444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week’s shifts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12864" y="39502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if you’re a normal Mon–Fri.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0" y="4626864"/>
            <a:ext cx="347472" cy="347472"/>
          </a:xfrm>
          <a:prstGeom prst="ellipse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46268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12864" y="46085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912864" y="49743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covering where the data lives.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57150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card ticks each step off and disappears for good once they are done.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303020" y="589788"/>
            <a:ext cx="2714598" cy="5715000"/>
          </a:xfrm>
          <a:prstGeom prst="roundRect">
            <a:avLst>
              <a:gd name="adj" fmla="val 7411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18" name="Image 0" descr="shots/setup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658368"/>
            <a:ext cx="2577438" cy="557784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 WORTH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77824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Hours, converted into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reaches your bank.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377440"/>
            <a:ext cx="6720840" cy="1371600"/>
          </a:xfrm>
          <a:prstGeom prst="roundRect">
            <a:avLst>
              <a:gd name="adj" fmla="val 8000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2578608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TARGET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85292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40.0h</a:t>
            </a:r>
            <a:pPr indent="0" marL="0">
              <a:buNone/>
            </a:pPr>
            <a:r>
              <a:rPr lang="en-US" sz="190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rostered  ×  </a:t>
            </a:r>
            <a:pPr indent="0" marL="0">
              <a:buNone/>
            </a:pPr>
            <a:r>
              <a:rPr lang="en-US" sz="1900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indent="0" marL="0">
              <a:buNone/>
            </a:pPr>
            <a:r>
              <a:rPr lang="en-US" sz="190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=   </a:t>
            </a:r>
            <a:pPr indent="0" marL="0">
              <a:buNone/>
            </a:pPr>
            <a:r>
              <a:rPr lang="en-US" sz="1900" b="1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32.0h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31012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80% is a buffer for travel and performance factor. It’s the employer’s bar, so it never drifts towards your own average.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3931920"/>
            <a:ext cx="6720840" cy="1691640"/>
          </a:xfrm>
          <a:prstGeom prst="roundRect">
            <a:avLst>
              <a:gd name="adj" fmla="val 6486"/>
            </a:avLst>
          </a:prstGeom>
          <a:solidFill>
            <a:srgbClr val="F2F2F7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4133088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CASH-OUT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44074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17.23h</a:t>
            </a:r>
            <a:pPr indent="0" marL="0">
              <a:buNone/>
            </a:pPr>
            <a:r>
              <a:rPr lang="en-US" sz="170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</a:t>
            </a:r>
            <a:pPr indent="0" marL="0">
              <a:buNone/>
            </a:pPr>
            <a:r>
              <a:rPr lang="en-US" sz="1700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£19.39</a:t>
            </a:r>
            <a:pPr indent="0" marL="0">
              <a:buNone/>
            </a:pPr>
            <a:r>
              <a:rPr lang="en-US" sz="170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</a:t>
            </a:r>
            <a:pPr indent="0" marL="0">
              <a:buNone/>
            </a:pPr>
            <a:r>
              <a:rPr lang="en-US" sz="1700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1.4×</a:t>
            </a:r>
            <a:pPr indent="0" marL="0">
              <a:buNone/>
            </a:pPr>
            <a:r>
              <a:rPr lang="en-US" sz="170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− 28%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59536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8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£336.83</a:t>
            </a:r>
            <a:pPr indent="0" marL="0">
              <a:buNone/>
            </a:pPr>
            <a:r>
              <a:rPr lang="en-US" sz="150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take-home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897880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calculation is shown under the figure in the app, so you can check it rather than take it on trust.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06740" y="589788"/>
            <a:ext cx="2714598" cy="5715000"/>
          </a:xfrm>
          <a:prstGeom prst="roundRect">
            <a:avLst>
              <a:gd name="adj" fmla="val 7411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14" name="Image 0" descr="shots/cashout-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658368"/>
            <a:ext cx="2577438" cy="557784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09360" y="566928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309360" y="877824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GB" sz="30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 you’ve logged,</a:t>
            </a:r>
            <a:endParaRPr lang="en-GB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GB" sz="30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balance that carries.</a:t>
            </a:r>
            <a:endParaRPr lang="en-GB" sz="3000" dirty="0"/>
          </a:p>
        </p:txBody>
      </p:sp>
      <p:sp>
        <p:nvSpPr>
          <p:cNvPr id="4" name="Shape 2"/>
          <p:cNvSpPr/>
          <p:nvPr/>
        </p:nvSpPr>
        <p:spPr>
          <a:xfrm>
            <a:off x="6309360" y="2459736"/>
            <a:ext cx="173736" cy="173736"/>
          </a:xfrm>
          <a:prstGeom prst="ellipse">
            <a:avLst/>
          </a:prstGeom>
          <a:solidFill>
            <a:srgbClr val="1F8A4C"/>
          </a:solidFill>
          <a:ln w="12700">
            <a:solidFill>
              <a:srgbClr val="1F8A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0" y="23957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— bonus hit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2916936"/>
            <a:ext cx="173736" cy="173736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28529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— on track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3374136"/>
            <a:ext cx="173736" cy="173736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0" y="33101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— below target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977640"/>
            <a:ext cx="5349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GB" sz="14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week that wasn’t a fair test? Sickness, a phased return, a week you were still getting the hang of the app. Untick it and it stays out of your balance without being deleted.</a:t>
            </a:r>
            <a:endParaRPr lang="en-GB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502920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GB" sz="1400" b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balance never resets.</a:t>
            </a:r>
            <a:r>
              <a:rPr lang="en-GB" sz="1400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carries on from wherever you were already up or down, week after week.</a:t>
            </a:r>
            <a:endParaRPr lang="en-GB" sz="1400" dirty="0"/>
          </a:p>
        </p:txBody>
      </p:sp>
      <p:sp>
        <p:nvSpPr>
          <p:cNvPr id="12" name="Shape 10"/>
          <p:cNvSpPr/>
          <p:nvPr/>
        </p:nvSpPr>
        <p:spPr>
          <a:xfrm>
            <a:off x="1257300" y="589788"/>
            <a:ext cx="2714598" cy="5715000"/>
          </a:xfrm>
          <a:prstGeom prst="roundRect">
            <a:avLst>
              <a:gd name="adj" fmla="val 7411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13" name="Image 0" descr="shots/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658368"/>
            <a:ext cx="2577438" cy="557784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MODE  ·  OPTIONAL</a:t>
            </a:r>
            <a:endParaRPr lang="en-GB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7782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GB" sz="32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works out the way back.</a:t>
            </a:r>
            <a:endParaRPr lang="en-GB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GB" sz="32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shows what lifts the balance most.</a:t>
            </a:r>
            <a:endParaRPr lang="en-GB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423160"/>
            <a:ext cx="5440680" cy="3840480"/>
          </a:xfrm>
          <a:prstGeom prst="roundRect">
            <a:avLst>
              <a:gd name="adj" fmla="val 2857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26700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21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Mode</a:t>
            </a:r>
            <a:endParaRPr lang="en-GB" sz="2100" dirty="0"/>
          </a:p>
        </p:txBody>
      </p:sp>
      <p:pic>
        <p:nvPicPr>
          <p:cNvPr id="6" name="Image 0" descr="shots/coach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108960"/>
            <a:ext cx="3478149" cy="1554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7824" y="4773168"/>
            <a:ext cx="4818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GB" sz="1150" b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run rate.</a:t>
            </a:r>
            <a:r>
              <a:rPr lang="en-GB" sz="1150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many jobs, or how many hours, get a deficit down, and by when. Keep going as you are today and it tells you where you’ll be in ten days.</a:t>
            </a:r>
            <a:endParaRPr lang="en-GB" sz="1150" dirty="0"/>
          </a:p>
          <a:p>
            <a:pPr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GB" sz="1150" b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lifts the balance most.</a:t>
            </a:r>
            <a:r>
              <a:rPr lang="en-GB" sz="1150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visit you’re already on: a Hive, an inhibitor, a CO alarm, a boiler lead. It shows what each one is worth against today’s gap.</a:t>
            </a:r>
            <a:endParaRPr lang="en-GB" sz="1150" dirty="0"/>
          </a:p>
          <a:p>
            <a:pPr indent="0" marL="0">
              <a:lnSpc>
                <a:spcPts val="1450"/>
              </a:lnSpc>
              <a:spcAft>
                <a:spcPts val="500"/>
              </a:spcAft>
              <a:buNone/>
            </a:pPr>
            <a:r>
              <a:rPr lang="en-GB" sz="1150" b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dispatched work.</a:t>
            </a:r>
            <a:r>
              <a:rPr lang="en-GB" sz="1150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won’t suggest a service or a repair you weren’t given, so it can’t nudge anyone into raising work that wasn’t done.</a:t>
            </a:r>
            <a:endParaRPr lang="en-GB" sz="1150" dirty="0"/>
          </a:p>
        </p:txBody>
      </p:sp>
      <p:sp>
        <p:nvSpPr>
          <p:cNvPr id="8" name="Shape 5"/>
          <p:cNvSpPr/>
          <p:nvPr/>
        </p:nvSpPr>
        <p:spPr>
          <a:xfrm>
            <a:off x="6373368" y="2423160"/>
            <a:ext cx="5440680" cy="3840480"/>
          </a:xfrm>
          <a:prstGeom prst="roundRect">
            <a:avLst>
              <a:gd name="adj" fmla="val 2857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84264" y="26700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21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advice</a:t>
            </a:r>
            <a:endParaRPr lang="en-GB" sz="2100" dirty="0"/>
          </a:p>
        </p:txBody>
      </p:sp>
      <p:pic>
        <p:nvPicPr>
          <p:cNvPr id="10" name="Image 1" descr="shots/coach-best-ad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3108960"/>
            <a:ext cx="3388231" cy="297180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DATA</a:t>
            </a:r>
            <a:endParaRPr lang="en-GB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77824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GB" sz="34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stays</a:t>
            </a:r>
            <a:endParaRPr lang="en-GB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GB" sz="34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phone.</a:t>
            </a:r>
            <a:endParaRPr lang="en-GB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48716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GB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completely secure, because there’s nothing to secure: every figure you log lives on your own phone and nowhere else. No account, no upload, no server. Nobody can see your CTAP figures but you.</a:t>
            </a:r>
            <a:endParaRPr lang="en-GB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6118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357530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GB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Nothing to sign into, nothing to sign out of.</a:t>
            </a:r>
            <a:endParaRPr lang="en-GB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4050792"/>
            <a:ext cx="6675120" cy="7315"/>
          </a:xfrm>
          <a:prstGeom prst="rect">
            <a:avLst/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1239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4087368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GB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Once it’s installed it makes no network requests at all.</a:t>
            </a:r>
            <a:endParaRPr lang="en-GB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562856"/>
            <a:ext cx="6675120" cy="7315"/>
          </a:xfrm>
          <a:prstGeom prst="rect">
            <a:avLst/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46360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WITH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459943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GB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Nobody. Not your manager, not me, no analytics.</a:t>
            </a:r>
            <a:endParaRPr lang="en-GB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5074920"/>
            <a:ext cx="6675120" cy="7315"/>
          </a:xfrm>
          <a:prstGeom prst="rect">
            <a:avLst/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51480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511149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GB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fully, which matters in plant rooms and cellars.</a:t>
            </a:r>
            <a:endParaRPr lang="en-GB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586984"/>
            <a:ext cx="6675120" cy="7315"/>
          </a:xfrm>
          <a:prstGeom prst="rect">
            <a:avLst/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56601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DELETING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562356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Erase all data. Immediate and total.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0" y="3136392"/>
            <a:ext cx="3858768" cy="2286000"/>
          </a:xfrm>
          <a:prstGeom prst="roundRect">
            <a:avLst>
              <a:gd name="adj" fmla="val 4800"/>
            </a:avLst>
          </a:prstGeom>
          <a:solidFill>
            <a:srgbClr val="F2F2F7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65008" y="337413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57616" y="337413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7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catch</a:t>
            </a:r>
            <a:endParaRPr lang="en-GB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065008" y="3831336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GB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no backup. Delete the app, erase the data or lose the phone and it’s gone. Nobody can get it back, because nobody else ever had it.</a:t>
            </a:r>
            <a:endParaRPr lang="en-GB" sz="13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GB" sz="13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are told this before they start.</a:t>
            </a:r>
            <a:endParaRPr lang="en-GB" sz="1300" dirty="0"/>
          </a:p>
        </p:txBody>
      </p:sp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77824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GB" sz="34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it’s up to.</a:t>
            </a:r>
            <a:endParaRPr lang="en-GB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447288" cy="1691640"/>
          </a:xfrm>
          <a:prstGeom prst="roundRect">
            <a:avLst>
              <a:gd name="adj" fmla="val 6486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5420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v0.8.0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3467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spc="11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VERSION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83964" y="2286000"/>
            <a:ext cx="3447288" cy="1691640"/>
          </a:xfrm>
          <a:prstGeom prst="roundRect">
            <a:avLst>
              <a:gd name="adj" fmla="val 6486"/>
            </a:avLst>
          </a:prstGeom>
          <a:solidFill>
            <a:srgbClr val="F2F2F7"/>
          </a:solidFill>
          <a:ln w="12700">
            <a:solidFill>
              <a:srgbClr val="DD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1708" y="25420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8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518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4521708" y="33467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spc="11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526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4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estimates only — verify against your payslip and company tools. Not affiliated with, endorsed by, or representative of Centrica plc, British Gas or any employer.</a:t>
            </a:r>
            <a:endParaRPr lang="en-US" sz="1050" dirty="0"/>
          </a:p>
        </p:txBody>
      </p:sp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566928"/>
            <a:ext cx="5151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100" b="1" spc="240" kern="0" dirty="0">
                <a:solidFill>
                  <a:srgbClr val="2F6B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WEEK</a:t>
            </a:r>
            <a:endParaRPr lang="en-GB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877824"/>
            <a:ext cx="5151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GB" sz="30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week you work,</a:t>
            </a:r>
            <a:endParaRPr lang="en-GB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GB" sz="3000" b="1" dirty="0">
                <a:solidFill>
                  <a:srgbClr val="0F1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see all of it.</a:t>
            </a:r>
            <a:endParaRPr lang="en-GB" sz="3000" dirty="0"/>
          </a:p>
        </p:txBody>
      </p:sp>
      <p:sp>
        <p:nvSpPr>
          <p:cNvPr id="4" name="Shape 2"/>
          <p:cNvSpPr/>
          <p:nvPr/>
        </p:nvSpPr>
        <p:spPr>
          <a:xfrm>
            <a:off x="6583680" y="2459736"/>
            <a:ext cx="173736" cy="173736"/>
          </a:xfrm>
          <a:prstGeom prst="ellipse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2395728"/>
            <a:ext cx="478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day's times, set them, Confirm</a:t>
            </a:r>
            <a:endParaRPr lang="en-GB" sz="1500" dirty="0"/>
          </a:p>
        </p:txBody>
      </p:sp>
      <p:sp>
        <p:nvSpPr>
          <p:cNvPr id="6" name="Shape 4"/>
          <p:cNvSpPr/>
          <p:nvPr/>
        </p:nvSpPr>
        <p:spPr>
          <a:xfrm>
            <a:off x="6583680" y="2916936"/>
            <a:ext cx="173736" cy="173736"/>
          </a:xfrm>
          <a:prstGeom prst="ellipse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49440" y="2852928"/>
            <a:ext cx="478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shift to any days you choose</a:t>
            </a:r>
            <a:endParaRPr lang="en-GB" sz="1500" dirty="0"/>
          </a:p>
        </p:txBody>
      </p:sp>
      <p:sp>
        <p:nvSpPr>
          <p:cNvPr id="8" name="Shape 6"/>
          <p:cNvSpPr/>
          <p:nvPr/>
        </p:nvSpPr>
        <p:spPr>
          <a:xfrm>
            <a:off x="6583680" y="3374136"/>
            <a:ext cx="173736" cy="173736"/>
          </a:xfrm>
          <a:prstGeom prst="ellipse">
            <a:avLst/>
          </a:prstGeom>
          <a:solidFill>
            <a:srgbClr val="2F6BC4"/>
          </a:solidFill>
          <a:ln w="12700">
            <a:solidFill>
              <a:srgbClr val="2F6B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3310128"/>
            <a:ext cx="478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15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 means a rest day, not leave</a:t>
            </a:r>
            <a:endParaRPr lang="en-GB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3977640"/>
            <a:ext cx="515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GB" sz="14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Weekly Forecast runs Monday to Sunday and opens on today. Days left counts only the days you're working, so a Friday off doesn't spread the target over an extra day.</a:t>
            </a:r>
            <a:endParaRPr lang="en-GB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5029200"/>
            <a:ext cx="515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GB" sz="1400" b="1" dirty="0">
                <a:solidFill>
                  <a:srgbClr val="0F1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rest day keeps your 40 hours. </a:t>
            </a:r>
            <a:r>
              <a:rPr lang="en-GB" sz="1400" dirty="0">
                <a:solidFill>
                  <a:srgbClr val="4B55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just isn't a day you're expected to earn on, unlike leave, which takes that day's hours off the week.</a:t>
            </a:r>
            <a:endParaRPr lang="en-GB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589788"/>
            <a:ext cx="2714598" cy="5715000"/>
          </a:xfrm>
          <a:prstGeom prst="roundRect">
            <a:avLst>
              <a:gd name="adj" fmla="val 7411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13" name="Image 0" descr="Schedule: Monday to Saturday 08:00 to 16:30, Sunday shown as a rest da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658368"/>
            <a:ext cx="2577438" cy="55778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446118" y="589788"/>
            <a:ext cx="2714598" cy="5715000"/>
          </a:xfrm>
          <a:prstGeom prst="roundRect">
            <a:avLst>
              <a:gd name="adj" fmla="val 7411"/>
            </a:avLst>
          </a:prstGeom>
          <a:solidFill>
            <a:srgbClr val="DDE3EC"/>
          </a:solidFill>
          <a:ln w="12700">
            <a:solidFill>
              <a:srgbClr val="DDE3EC"/>
            </a:solidFill>
            <a:prstDash val="solid"/>
          </a:ln>
        </p:spPr>
      </p:sp>
      <p:pic>
        <p:nvPicPr>
          <p:cNvPr id="15" name="Image 1" descr="Weekly Forecast: a Monday to Sunday day strip open on Saturday, with the week's tota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4698" y="658368"/>
            <a:ext cx="2577438" cy="5577840"/>
          </a:xfrm>
          <a:prstGeom prst="rect">
            <a:avLst/>
          </a:prstGeom>
        </p:spPr>
      </p:pic>
      <p:sp>
        <p:nvSpPr>
          <p:cNvPr id="900" name="Footer"/>
          <p:cNvSpPr txBox="1"/>
          <p:nvPr/>
        </p:nvSpPr>
        <p:spPr>
          <a:xfrm>
            <a:off x="566928" y="6537960"/>
            <a:ext cx="1088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GB" sz="900" spc="40" kern="0" dirty="0">
                <a:solidFill>
                  <a:srgbClr val="6B74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created by Jake Rainford  ·  any questions, reach out on Teams</a:t>
            </a:r>
            <a:endParaRPr lang="en-GB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CTAP Tracker</dc:title>
  <dc:subject>PptxGenJS Presentation</dc:subject>
  <dc:creator>Jake Rainford</dc:creator>
  <cp:lastModifiedBy>Jake Rainford</cp:lastModifiedBy>
  <cp:revision>1</cp:revision>
  <dcterms:created xsi:type="dcterms:W3CDTF">2026-09-13T06:03:52Z</dcterms:created>
  <dcterms:modified xsi:type="dcterms:W3CDTF">2026-09-13T06:03:52Z</dcterms:modified>
</cp:coreProperties>
</file>
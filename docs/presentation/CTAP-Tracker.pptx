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0" r:id="rId6"/>
    <p:sldId id="261" r:id="rId7"/>
    <p:sldId id="262" r:id="rId8"/>
    <p:sldId id="263" r:id="rId9"/>
    <p:sldId id="264" r:id="rId10"/>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and looking for a handful of engineers, five to ten, to trial it: anyone a manager thinks would get something out of it.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in Settings. Coach is the bit I would show a new engineer first: it turns the figures into a run rate and tells you what the extras on a visit are worth. The check-in is a private diary built on GROW.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question, answered the simple way: nothing leaves the phone, so there is nothing to protect on a server and nobody to share it with. The catch is real and we say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shipped, and the ask: a handful of engineers, five to ten, who a manager thinks would get something out of it. Engineers a little behind on CTAP and new starters get the most from seeing the figures day to day. Nobody can install it without the link, so it goes out to whoever comes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New since the first version of this deck. Shift times are set in a picker with a Confirm, because the iPhone time wheel used to close after the first scroll. An engineer on a rota can copy a shift to exactly the days they work. A day with no times is a rest day: it isn't leave, so the week keeps its 40 hours, and nobody has to mark it, because it's read from the Schedule.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20917346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0F1522"/>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2F6BC4"/>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4B5565"/>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6B7485"/>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DDE3EC"/>
          </a:solidFill>
          <a:ln w="12700">
            <a:solidFill>
              <a:srgbClr val="DDE3EC"/>
            </a:solidFill>
            <a:prstDash val="solid"/>
          </a:ln>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GB" sz="3800" b="1" dirty="0">
                <a:solidFill>
                  <a:srgbClr val="0F1522"/>
                </a:solidFill>
                <a:latin typeface="Arial" pitchFamily="34" charset="0"/>
                <a:ea typeface="Arial" pitchFamily="34" charset="-122"/>
                <a:cs typeface="Arial" pitchFamily="34" charset="-120"/>
              </a:rPr>
              <a:t>You find out a week was short</a:t>
            </a:r>
            <a:endParaRPr lang="en-GB" sz="3800" dirty="0"/>
          </a:p>
          <a:p>
            <a:pPr indent="0" marL="0">
              <a:lnSpc>
                <a:spcPts val="4600"/>
              </a:lnSpc>
              <a:buNone/>
            </a:pPr>
            <a:r>
              <a:rPr lang="en-GB" sz="3800" b="1" dirty="0">
                <a:solidFill>
                  <a:srgbClr val="0F1522"/>
                </a:solidFill>
                <a:latin typeface="Arial" pitchFamily="34" charset="0"/>
                <a:ea typeface="Arial" pitchFamily="34" charset="-122"/>
                <a:cs typeface="Arial" pitchFamily="34" charset="-120"/>
              </a:rPr>
              <a:t>when it’s already gone.</a:t>
            </a:r>
            <a:endParaRPr lang="en-GB" sz="3800" dirty="0"/>
          </a:p>
        </p:txBody>
      </p:sp>
      <p:sp>
        <p:nvSpPr>
          <p:cNvPr id="4" name="Shape 2"/>
          <p:cNvSpPr/>
          <p:nvPr/>
        </p:nvSpPr>
        <p:spPr>
          <a:xfrm>
            <a:off x="566928" y="2514600"/>
            <a:ext cx="3493008" cy="2788920"/>
          </a:xfrm>
          <a:prstGeom prst="roundRect">
            <a:avLst>
              <a:gd name="adj" fmla="val 3934"/>
            </a:avLst>
          </a:prstGeom>
          <a:solidFill>
            <a:srgbClr val="F2F2F7"/>
          </a:solidFill>
          <a:ln w="12700">
            <a:solidFill>
              <a:srgbClr val="DDE3EC"/>
            </a:solidFill>
            <a:prstDash val="solid"/>
          </a:ln>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By the time the figures come back, the week they’re about is long gone.</a:t>
            </a:r>
            <a:endParaRPr lang="en-US" sz="1300" dirty="0"/>
          </a:p>
        </p:txBody>
      </p:sp>
      <p:sp>
        <p:nvSpPr>
          <p:cNvPr id="9" name="Shape 7"/>
          <p:cNvSpPr/>
          <p:nvPr/>
        </p:nvSpPr>
        <p:spPr>
          <a:xfrm>
            <a:off x="4334256" y="2514600"/>
            <a:ext cx="3493008" cy="2788920"/>
          </a:xfrm>
          <a:prstGeom prst="roundRect">
            <a:avLst>
              <a:gd name="adj" fmla="val 3934"/>
            </a:avLst>
          </a:prstGeom>
          <a:solidFill>
            <a:srgbClr val="F2F2F7"/>
          </a:solidFill>
          <a:ln w="12700">
            <a:solidFill>
              <a:srgbClr val="DDE3EC"/>
            </a:solidFill>
            <a:prstDash val="solid"/>
          </a:ln>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Nothing tells you mid-week that you’re behind while there’s still time to do something about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F2F2F7"/>
          </a:solidFill>
          <a:ln w="12700">
            <a:solidFill>
              <a:srgbClr val="DDE3EC"/>
            </a:solidFill>
            <a:prstDash val="solid"/>
          </a:ln>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 bonus is a number of hours. Nobody tells you what that is in your pocket.</a:t>
            </a:r>
            <a:endParaRPr lang="en-US" sz="1300" dirty="0"/>
          </a:p>
        </p:txBody>
      </p:sp>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2F6BC4"/>
          </a:solidFill>
          <a:ln w="12700">
            <a:solidFill>
              <a:srgbClr val="2F6BC4"/>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2F6BC4"/>
          </a:solidFill>
          <a:ln w="12700">
            <a:solidFill>
              <a:srgbClr val="2F6BC4"/>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whole week, caught up on a Friday. Each day is read on its own and lands on the day you said.</a:t>
            </a:r>
            <a:endParaRPr lang="en-US" sz="1250" dirty="0"/>
          </a:p>
        </p:txBody>
      </p:sp>
      <p:sp>
        <p:nvSpPr>
          <p:cNvPr id="10" name="Shape 8"/>
          <p:cNvSpPr/>
          <p:nvPr/>
        </p:nvSpPr>
        <p:spPr>
          <a:xfrm>
            <a:off x="566928" y="4956048"/>
            <a:ext cx="6675120" cy="960120"/>
          </a:xfrm>
          <a:prstGeom prst="roundRect">
            <a:avLst>
              <a:gd name="adj" fmla="val 9524"/>
            </a:avLst>
          </a:prstGeom>
          <a:solidFill>
            <a:srgbClr val="F2F2F7"/>
          </a:solidFill>
          <a:ln w="12700">
            <a:solidFill>
              <a:srgbClr val="DDE3EC"/>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0F1522"/>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4B5565"/>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BC4"/>
          </a:solidFill>
          <a:ln w="12700">
            <a:solidFill>
              <a:srgbClr val="2F6BC4"/>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The hours you’re already up or down. Without it every figure starts from zero,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BC4"/>
          </a:solidFill>
          <a:ln w="12700">
            <a:solidFill>
              <a:srgbClr val="2F6BC4"/>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One tap if you’re a normal Mon–Fri.</a:t>
            </a:r>
            <a:endParaRPr lang="en-US" sz="1350" dirty="0"/>
          </a:p>
        </p:txBody>
      </p:sp>
      <p:sp>
        <p:nvSpPr>
          <p:cNvPr id="12" name="Shape 10"/>
          <p:cNvSpPr/>
          <p:nvPr/>
        </p:nvSpPr>
        <p:spPr>
          <a:xfrm>
            <a:off x="6400800" y="4626864"/>
            <a:ext cx="347472" cy="347472"/>
          </a:xfrm>
          <a:prstGeom prst="ellipse">
            <a:avLst/>
          </a:prstGeom>
          <a:solidFill>
            <a:srgbClr val="2F6BC4"/>
          </a:solidFill>
          <a:ln w="12700">
            <a:solidFill>
              <a:srgbClr val="2F6BC4"/>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DDE3EC"/>
          </a:solidFill>
          <a:ln w="12700">
            <a:solidFill>
              <a:srgbClr val="DDE3EC"/>
            </a:solidFill>
            <a:prstDash val="solid"/>
          </a:ln>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F2F2F7"/>
          </a:solidFill>
          <a:ln w="12700">
            <a:solidFill>
              <a:srgbClr val="DDE3EC"/>
            </a:solidFill>
            <a:prstDash val="solid"/>
          </a:ln>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0F1522"/>
                </a:solidFill>
                <a:latin typeface="Arial" pitchFamily="34" charset="0"/>
                <a:ea typeface="Arial" pitchFamily="34" charset="-122"/>
                <a:cs typeface="Arial" pitchFamily="34" charset="-120"/>
              </a:rPr>
              <a:t>40.0h</a:t>
            </a:r>
            <a:pPr indent="0" marL="0">
              <a:buNone/>
            </a:pPr>
            <a:r>
              <a:rPr lang="en-US" sz="1900" dirty="0">
                <a:solidFill>
                  <a:srgbClr val="6B7485"/>
                </a:solidFill>
                <a:latin typeface="Arial" pitchFamily="34" charset="0"/>
                <a:ea typeface="Arial" pitchFamily="34" charset="-122"/>
                <a:cs typeface="Arial" pitchFamily="34" charset="-120"/>
              </a:rPr>
              <a:t>  rostered  ×  </a:t>
            </a:r>
            <a:pPr indent="0" marL="0">
              <a:buNone/>
            </a:pPr>
            <a:r>
              <a:rPr lang="en-US" sz="1900" dirty="0">
                <a:solidFill>
                  <a:srgbClr val="0F1522"/>
                </a:solidFill>
                <a:latin typeface="Arial" pitchFamily="34" charset="0"/>
                <a:ea typeface="Arial" pitchFamily="34" charset="-122"/>
                <a:cs typeface="Arial" pitchFamily="34" charset="-120"/>
              </a:rPr>
              <a:t>80%</a:t>
            </a:r>
            <a:pPr indent="0" marL="0">
              <a:buNone/>
            </a:pPr>
            <a:r>
              <a:rPr lang="en-US" sz="1900" dirty="0">
                <a:solidFill>
                  <a:srgbClr val="6B7485"/>
                </a:solidFill>
                <a:latin typeface="Arial" pitchFamily="34" charset="0"/>
                <a:ea typeface="Arial" pitchFamily="34" charset="-122"/>
                <a:cs typeface="Arial" pitchFamily="34" charset="-120"/>
              </a:rPr>
              <a:t>   =   </a:t>
            </a:r>
            <a:pPr indent="0" marL="0">
              <a:buNone/>
            </a:pPr>
            <a:r>
              <a:rPr lang="en-US" sz="1900" b="1" dirty="0">
                <a:solidFill>
                  <a:srgbClr val="2F6BC4"/>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6B7485"/>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F2F2F7"/>
          </a:solidFill>
          <a:ln w="12700">
            <a:solidFill>
              <a:srgbClr val="2F6BC4"/>
            </a:solidFill>
            <a:prstDash val="solid"/>
          </a:ln>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0F1522"/>
                </a:solidFill>
                <a:latin typeface="Arial" pitchFamily="34" charset="0"/>
                <a:ea typeface="Arial" pitchFamily="34" charset="-122"/>
                <a:cs typeface="Arial" pitchFamily="34" charset="-120"/>
              </a:rPr>
              <a:t>17.23h</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£19.39</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1.4×</a:t>
            </a:r>
            <a:pPr indent="0" marL="0">
              <a:buNone/>
            </a:pPr>
            <a:r>
              <a:rPr lang="en-US" sz="1700" dirty="0">
                <a:solidFill>
                  <a:srgbClr val="6B7485"/>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1F8A4C"/>
                </a:solidFill>
                <a:latin typeface="Arial" pitchFamily="34" charset="0"/>
                <a:ea typeface="Arial" pitchFamily="34" charset="-122"/>
                <a:cs typeface="Arial" pitchFamily="34" charset="-120"/>
              </a:rPr>
              <a:t>£336.83</a:t>
            </a:r>
            <a:pPr indent="0" marL="0">
              <a:buNone/>
            </a:pPr>
            <a:r>
              <a:rPr lang="en-US" sz="1500" dirty="0">
                <a:solidFill>
                  <a:srgbClr val="6B7485"/>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calculation is shown under the figure in the app, so you can check it rather than take it on trust.</a:t>
            </a:r>
            <a:endParaRPr lang="en-US" sz="1300" dirty="0"/>
          </a:p>
        </p:txBody>
      </p:sp>
      <p:sp>
        <p:nvSpPr>
          <p:cNvPr id="13" name="Shape 11"/>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Every week you’ve logged,</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and the balance that carries.</a:t>
            </a:r>
            <a:endParaRPr lang="en-GB" sz="3000" dirty="0"/>
          </a:p>
        </p:txBody>
      </p:sp>
      <p:sp>
        <p:nvSpPr>
          <p:cNvPr id="4" name="Shape 2"/>
          <p:cNvSpPr/>
          <p:nvPr/>
        </p:nvSpPr>
        <p:spPr>
          <a:xfrm>
            <a:off x="6309360" y="2459736"/>
            <a:ext cx="173736" cy="173736"/>
          </a:xfrm>
          <a:prstGeom prst="ellipse">
            <a:avLst/>
          </a:prstGeom>
          <a:solidFill>
            <a:srgbClr val="1F8A4C"/>
          </a:solidFill>
          <a:ln w="12700">
            <a:solidFill>
              <a:srgbClr val="1F8A4C"/>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D9A21B"/>
          </a:solidFill>
          <a:ln w="12700">
            <a:solidFill>
              <a:srgbClr val="D9A21B"/>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D64545"/>
          </a:solidFill>
          <a:ln w="12700">
            <a:solidFill>
              <a:srgbClr val="D64545"/>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Had a week that wasn’t a fair test? Sickness, a phased return, a week you were still getting the hang of the app. Untick it and it stays out of your balance without being deleted.</a:t>
            </a:r>
            <a:endParaRPr lang="en-GB"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Your balance never resets.</a:t>
            </a:r>
            <a:r>
              <a:rPr lang="en-GB" sz="1400" dirty="0">
                <a:solidFill>
                  <a:srgbClr val="0F1522"/>
                </a:solidFill>
                <a:latin typeface="Calibri" pitchFamily="34" charset="0"/>
                <a:ea typeface="Calibri" pitchFamily="34" charset="-122"/>
                <a:cs typeface="Calibri" pitchFamily="34" charset="-120"/>
              </a:rPr>
              <a:t> It carries on from wherever you were already up or down, week after week.</a:t>
            </a:r>
            <a:endParaRPr lang="en-GB" sz="1400" dirty="0"/>
          </a:p>
        </p:txBody>
      </p:sp>
      <p:sp>
        <p:nvSpPr>
          <p:cNvPr id="12" name="Shape 10"/>
          <p:cNvSpPr/>
          <p:nvPr/>
        </p:nvSpPr>
        <p:spPr>
          <a:xfrm>
            <a:off x="12573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COACH MODE AND THE DAILY CHECK-IN  ·  BOTH OPTIONAL</a:t>
            </a:r>
            <a:endParaRPr lang="en-GB"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GB" sz="3200" b="1" dirty="0">
                <a:solidFill>
                  <a:srgbClr val="0F1522"/>
                </a:solidFill>
                <a:latin typeface="Arial" pitchFamily="34" charset="0"/>
                <a:ea typeface="Arial" pitchFamily="34" charset="-122"/>
                <a:cs typeface="Arial" pitchFamily="34" charset="-120"/>
              </a:rPr>
              <a:t>Coach works out the way back.</a:t>
            </a:r>
            <a:endParaRPr lang="en-GB" sz="3200" dirty="0"/>
          </a:p>
          <a:p>
            <a:pPr indent="0" marL="0">
              <a:lnSpc>
                <a:spcPts val="4000"/>
              </a:lnSpc>
              <a:buNone/>
            </a:pPr>
            <a:r>
              <a:rPr lang="en-GB" sz="3200" b="1" dirty="0">
                <a:solidFill>
                  <a:srgbClr val="0F1522"/>
                </a:solidFill>
                <a:latin typeface="Arial" pitchFamily="34" charset="0"/>
                <a:ea typeface="Arial" pitchFamily="34" charset="-122"/>
                <a:cs typeface="Arial" pitchFamily="34" charset="-120"/>
              </a:rPr>
              <a:t>The check-in is your own diary.</a:t>
            </a:r>
            <a:endParaRPr lang="en-GB" sz="3200" dirty="0"/>
          </a:p>
        </p:txBody>
      </p:sp>
      <p:sp>
        <p:nvSpPr>
          <p:cNvPr id="4" name="Shape 2"/>
          <p:cNvSpPr/>
          <p:nvPr/>
        </p:nvSpPr>
        <p:spPr>
          <a:xfrm>
            <a:off x="566928" y="2423160"/>
            <a:ext cx="5440680" cy="3840480"/>
          </a:xfrm>
          <a:prstGeom prst="roundRect">
            <a:avLst>
              <a:gd name="adj" fmla="val 2857"/>
            </a:avLst>
          </a:prstGeom>
          <a:solidFill>
            <a:srgbClr val="F2F2F7"/>
          </a:solidFill>
          <a:ln w="12700">
            <a:solidFill>
              <a:srgbClr val="DDE3EC"/>
            </a:solidFill>
            <a:prstDash val="solid"/>
          </a:ln>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GB" sz="2100" b="1" dirty="0">
                <a:solidFill>
                  <a:srgbClr val="0F1522"/>
                </a:solidFill>
                <a:latin typeface="Arial" pitchFamily="34" charset="0"/>
                <a:ea typeface="Arial" pitchFamily="34" charset="-122"/>
                <a:cs typeface="Arial" pitchFamily="34" charset="-120"/>
              </a:rPr>
              <a:t>Coach Mode</a:t>
            </a:r>
            <a:endParaRPr lang="en-GB" sz="2100" dirty="0"/>
          </a:p>
        </p:txBody>
      </p:sp>
      <p:pic>
        <p:nvPicPr>
          <p:cNvPr id="6" name="Image 0" descr="shots/coach-card.png">    </p:cNvPr>
          <p:cNvPicPr>
            <a:picLocks noChangeAspect="1"/>
          </p:cNvPicPr>
          <p:nvPr/>
        </p:nvPicPr>
        <p:blipFill>
          <a:blip r:embed="rId1"/>
          <a:stretch>
            <a:fillRect/>
          </a:stretch>
        </p:blipFill>
        <p:spPr>
          <a:xfrm>
            <a:off x="877824" y="3108960"/>
            <a:ext cx="3931920" cy="1554480"/>
          </a:xfrm>
          <a:prstGeom prst="rect">
            <a:avLst/>
          </a:prstGeom>
        </p:spPr>
      </p:pic>
      <p:sp>
        <p:nvSpPr>
          <p:cNvPr id="7" name="Text 4"/>
          <p:cNvSpPr txBox="1"/>
          <p:nvPr/>
        </p:nvSpPr>
        <p:spPr>
          <a:xfrm>
            <a:off x="877824" y="4773168"/>
            <a:ext cx="4818888" cy="1371600"/>
          </a:xfrm>
          <a:prstGeom prst="rect">
            <a:avLst/>
          </a:prstGeom>
          <a:noFill/>
          <a:ln/>
        </p:spPr>
        <p:txBody>
          <a:bodyPr wrap="square" lIns="0" tIns="0" rIns="0" bIns="0" rtlCol="0" anchor="t"/>
          <a:lstStyle/>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Your run rate.</a:t>
            </a:r>
            <a:r>
              <a:rPr lang="en-GB" sz="1150" dirty="0">
                <a:solidFill>
                  <a:srgbClr val="0F1522"/>
                </a:solidFill>
                <a:latin typeface="Calibri" pitchFamily="34" charset="0"/>
                <a:ea typeface="Calibri" pitchFamily="34" charset="-122"/>
                <a:cs typeface="Calibri" pitchFamily="34" charset="-120"/>
              </a:rPr>
              <a:t> How many jobs, or how many hours, get a deficit down, and by when. Keep going as you are today and it tells you where you’ll be in ten days.</a:t>
            </a:r>
            <a:endParaRPr lang="en-GB" sz="1150" dirty="0"/>
          </a:p>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What lifts the balance most.</a:t>
            </a:r>
            <a:r>
              <a:rPr lang="en-GB" sz="1150" dirty="0">
                <a:solidFill>
                  <a:srgbClr val="0F1522"/>
                </a:solidFill>
                <a:latin typeface="Calibri" pitchFamily="34" charset="0"/>
                <a:ea typeface="Calibri" pitchFamily="34" charset="-122"/>
                <a:cs typeface="Calibri" pitchFamily="34" charset="-120"/>
              </a:rPr>
              <a:t> On the visit you’re already on: a Hive, an inhibitor, a CO alarm, a boiler lead. It shows what each one is worth against today’s gap.</a:t>
            </a:r>
            <a:endParaRPr lang="en-GB" sz="1150" dirty="0"/>
          </a:p>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Never dispatched work.</a:t>
            </a:r>
            <a:r>
              <a:rPr lang="en-GB" sz="1150" dirty="0">
                <a:solidFill>
                  <a:srgbClr val="0F1522"/>
                </a:solidFill>
                <a:latin typeface="Calibri" pitchFamily="34" charset="0"/>
                <a:ea typeface="Calibri" pitchFamily="34" charset="-122"/>
                <a:cs typeface="Calibri" pitchFamily="34" charset="-120"/>
              </a:rPr>
              <a:t> It won’t suggest a service or a repair you weren’t given, so it can’t nudge anyone into raising work that wasn’t done.</a:t>
            </a:r>
            <a:endParaRPr lang="en-GB" sz="1150" dirty="0"/>
          </a:p>
        </p:txBody>
      </p:sp>
      <p:sp>
        <p:nvSpPr>
          <p:cNvPr id="8" name="Shape 5"/>
          <p:cNvSpPr/>
          <p:nvPr/>
        </p:nvSpPr>
        <p:spPr>
          <a:xfrm>
            <a:off x="6373368" y="2423160"/>
            <a:ext cx="5440680" cy="3840480"/>
          </a:xfrm>
          <a:prstGeom prst="roundRect">
            <a:avLst>
              <a:gd name="adj" fmla="val 2857"/>
            </a:avLst>
          </a:prstGeom>
          <a:solidFill>
            <a:srgbClr val="F2F2F7"/>
          </a:solidFill>
          <a:ln w="12700">
            <a:solidFill>
              <a:srgbClr val="DDE3EC"/>
            </a:solidFill>
            <a:prstDash val="solid"/>
          </a:ln>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GB" sz="2100" b="1" dirty="0">
                <a:solidFill>
                  <a:srgbClr val="0F1522"/>
                </a:solidFill>
                <a:latin typeface="Arial" pitchFamily="34" charset="0"/>
                <a:ea typeface="Arial" pitchFamily="34" charset="-122"/>
                <a:cs typeface="Arial" pitchFamily="34" charset="-120"/>
              </a:rPr>
              <a:t>The daily check-in</a:t>
            </a:r>
            <a:endParaRPr lang="en-GB"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24528"/>
            <a:ext cx="4818888" cy="1874519"/>
          </a:xfrm>
          <a:prstGeom prst="rect">
            <a:avLst/>
          </a:prstGeom>
          <a:noFill/>
          <a:ln/>
        </p:spPr>
        <p:txBody>
          <a:bodyPr wrap="square" lIns="0" tIns="0" rIns="0" bIns="0" rtlCol="0" anchor="t"/>
          <a:lstStyle/>
          <a:p>
            <a:pPr indent="0" marL="0">
              <a:lnSpc>
                <a:spcPts val="1500"/>
              </a:lnSpc>
              <a:spcAft>
                <a:spcPts val="600"/>
              </a:spcAft>
              <a:buNone/>
            </a:pPr>
            <a:r>
              <a:rPr lang="en-GB" sz="1200" b="1" dirty="0">
                <a:solidFill>
                  <a:srgbClr val="0F1522"/>
                </a:solidFill>
                <a:latin typeface="Calibri" pitchFamily="34" charset="0"/>
                <a:ea typeface="Calibri" pitchFamily="34" charset="-122"/>
                <a:cs typeface="Calibri" pitchFamily="34" charset="-120"/>
              </a:rPr>
              <a:t>Built on GROW.</a:t>
            </a:r>
            <a:r>
              <a:rPr lang="en-GB" sz="1200" dirty="0">
                <a:solidFill>
                  <a:srgbClr val="0F1522"/>
                </a:solidFill>
                <a:latin typeface="Calibri" pitchFamily="34" charset="0"/>
                <a:ea typeface="Calibri" pitchFamily="34" charset="-122"/>
                <a:cs typeface="Calibri" pitchFamily="34" charset="-120"/>
              </a:rPr>
              <a:t> Goal, Reality, Options, Will. One question a day, and it takes under a minute.</a:t>
            </a:r>
            <a:endParaRPr lang="en-GB" sz="1200" dirty="0"/>
          </a:p>
          <a:p>
            <a:pPr indent="0" marL="0">
              <a:lnSpc>
                <a:spcPts val="1500"/>
              </a:lnSpc>
              <a:spcAft>
                <a:spcPts val="600"/>
              </a:spcAft>
              <a:buNone/>
            </a:pPr>
            <a:r>
              <a:rPr lang="en-GB" sz="1200" b="1" dirty="0">
                <a:solidFill>
                  <a:srgbClr val="0F1522"/>
                </a:solidFill>
                <a:latin typeface="Calibri" pitchFamily="34" charset="0"/>
                <a:ea typeface="Calibri" pitchFamily="34" charset="-122"/>
                <a:cs typeface="Calibri" pitchFamily="34" charset="-120"/>
              </a:rPr>
              <a:t>An honest diary.</a:t>
            </a:r>
            <a:r>
              <a:rPr lang="en-GB" sz="1200" dirty="0">
                <a:solidFill>
                  <a:srgbClr val="0F1522"/>
                </a:solidFill>
                <a:latin typeface="Calibri" pitchFamily="34" charset="0"/>
                <a:ea typeface="Calibri" pitchFamily="34" charset="-122"/>
                <a:cs typeface="Calibri" pitchFamily="34" charset="-120"/>
              </a:rPr>
              <a:t> Where the gaps in the day were, what you’re struggling with, what you’d do differently. It’s there for the engineers who genuinely want to use it.</a:t>
            </a:r>
            <a:endParaRPr lang="en-GB" sz="1200" dirty="0"/>
          </a:p>
          <a:p>
            <a:pPr indent="0" marL="0">
              <a:lnSpc>
                <a:spcPts val="1500"/>
              </a:lnSpc>
              <a:spcAft>
                <a:spcPts val="600"/>
              </a:spcAft>
              <a:buNone/>
            </a:pPr>
            <a:r>
              <a:rPr lang="en-GB" sz="1200" b="1" dirty="0">
                <a:solidFill>
                  <a:srgbClr val="0F1522"/>
                </a:solidFill>
                <a:latin typeface="Calibri" pitchFamily="34" charset="0"/>
                <a:ea typeface="Calibri" pitchFamily="34" charset="-122"/>
                <a:cs typeface="Calibri" pitchFamily="34" charset="-120"/>
              </a:rPr>
              <a:t>Only you can read it.</a:t>
            </a:r>
            <a:r>
              <a:rPr lang="en-GB" sz="1200" dirty="0">
                <a:solidFill>
                  <a:srgbClr val="0F1522"/>
                </a:solidFill>
                <a:latin typeface="Calibri" pitchFamily="34" charset="0"/>
                <a:ea typeface="Calibri" pitchFamily="34" charset="-122"/>
                <a:cs typeface="Calibri" pitchFamily="34" charset="-120"/>
              </a:rPr>
              <a:t> No team view, no export, no comparing engineers. That’s how it’s built, not a setting.</a:t>
            </a:r>
            <a:endParaRPr lang="en-GB" sz="1200" dirty="0"/>
          </a:p>
        </p:txBody>
      </p:sp>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DATA</a:t>
            </a:r>
            <a:endParaRPr lang="en-GB"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GB" sz="3400" b="1" dirty="0">
                <a:solidFill>
                  <a:srgbClr val="0F1522"/>
                </a:solidFill>
                <a:latin typeface="Arial" pitchFamily="34" charset="0"/>
                <a:ea typeface="Arial" pitchFamily="34" charset="-122"/>
                <a:cs typeface="Arial" pitchFamily="34" charset="-120"/>
              </a:rPr>
              <a:t>Everything stays</a:t>
            </a:r>
            <a:endParaRPr lang="en-GB" sz="3400" dirty="0"/>
          </a:p>
          <a:p>
            <a:pPr indent="0" marL="0">
              <a:lnSpc>
                <a:spcPts val="4200"/>
              </a:lnSpc>
              <a:buNone/>
            </a:pPr>
            <a:r>
              <a:rPr lang="en-GB" sz="3400" b="1" dirty="0">
                <a:solidFill>
                  <a:srgbClr val="0F1522"/>
                </a:solidFill>
                <a:latin typeface="Arial" pitchFamily="34" charset="0"/>
                <a:ea typeface="Arial" pitchFamily="34" charset="-122"/>
                <a:cs typeface="Arial" pitchFamily="34" charset="-120"/>
              </a:rPr>
              <a:t>on your phone.</a:t>
            </a:r>
            <a:endParaRPr lang="en-GB"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GB" sz="1500" dirty="0">
                <a:solidFill>
                  <a:srgbClr val="4B5565"/>
                </a:solidFill>
                <a:latin typeface="Calibri" pitchFamily="34" charset="0"/>
                <a:ea typeface="Calibri" pitchFamily="34" charset="-122"/>
                <a:cs typeface="Calibri" pitchFamily="34" charset="-120"/>
              </a:rPr>
              <a:t>It’s completely secure, because there’s nothing to secure: every figure you log lives on your own phone and nowhere else. No account, no upload, no server. Nobody can see your CTAP figures but you.</a:t>
            </a:r>
            <a:endParaRPr lang="en-GB"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None. Nothing to sign into, nothing to sign out of.</a:t>
            </a:r>
            <a:endParaRPr lang="en-GB" sz="1300" dirty="0"/>
          </a:p>
        </p:txBody>
      </p:sp>
      <p:sp>
        <p:nvSpPr>
          <p:cNvPr id="7" name="Shape 5"/>
          <p:cNvSpPr/>
          <p:nvPr/>
        </p:nvSpPr>
        <p:spPr>
          <a:xfrm>
            <a:off x="566928" y="4050792"/>
            <a:ext cx="6675120" cy="7315"/>
          </a:xfrm>
          <a:prstGeom prst="rect">
            <a:avLst/>
          </a:prstGeom>
          <a:solidFill>
            <a:srgbClr val="DDE3EC"/>
          </a:solidFill>
          <a:ln w="12700">
            <a:solidFill>
              <a:srgbClr val="DDE3EC"/>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None. Once it’s installed it makes no network requests at all.</a:t>
            </a:r>
            <a:endParaRPr lang="en-GB" sz="1300" dirty="0"/>
          </a:p>
        </p:txBody>
      </p:sp>
      <p:sp>
        <p:nvSpPr>
          <p:cNvPr id="10" name="Shape 8"/>
          <p:cNvSpPr/>
          <p:nvPr/>
        </p:nvSpPr>
        <p:spPr>
          <a:xfrm>
            <a:off x="566928" y="4562856"/>
            <a:ext cx="6675120" cy="7315"/>
          </a:xfrm>
          <a:prstGeom prst="rect">
            <a:avLst/>
          </a:prstGeom>
          <a:solidFill>
            <a:srgbClr val="DDE3EC"/>
          </a:solidFill>
          <a:ln w="12700">
            <a:solidFill>
              <a:srgbClr val="DDE3EC"/>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Nobody. Not your manager, not me, no analytics.</a:t>
            </a:r>
            <a:endParaRPr lang="en-GB" sz="1300" dirty="0"/>
          </a:p>
        </p:txBody>
      </p:sp>
      <p:sp>
        <p:nvSpPr>
          <p:cNvPr id="13" name="Shape 11"/>
          <p:cNvSpPr/>
          <p:nvPr/>
        </p:nvSpPr>
        <p:spPr>
          <a:xfrm>
            <a:off x="566928" y="5074920"/>
            <a:ext cx="6675120" cy="7315"/>
          </a:xfrm>
          <a:prstGeom prst="rect">
            <a:avLst/>
          </a:prstGeom>
          <a:solidFill>
            <a:srgbClr val="DDE3EC"/>
          </a:solidFill>
          <a:ln w="12700">
            <a:solidFill>
              <a:srgbClr val="DDE3EC"/>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Works fully, which matters in plant rooms and cellars.</a:t>
            </a:r>
            <a:endParaRPr lang="en-GB" sz="1300" dirty="0"/>
          </a:p>
        </p:txBody>
      </p:sp>
      <p:sp>
        <p:nvSpPr>
          <p:cNvPr id="16" name="Shape 14"/>
          <p:cNvSpPr/>
          <p:nvPr/>
        </p:nvSpPr>
        <p:spPr>
          <a:xfrm>
            <a:off x="566928" y="5586984"/>
            <a:ext cx="6675120" cy="7315"/>
          </a:xfrm>
          <a:prstGeom prst="rect">
            <a:avLst/>
          </a:prstGeom>
          <a:solidFill>
            <a:srgbClr val="DDE3EC"/>
          </a:solidFill>
          <a:ln w="12700">
            <a:solidFill>
              <a:srgbClr val="DDE3EC"/>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Settings → Erase all data. Immediate and total.</a:t>
            </a:r>
            <a:endParaRPr lang="en-US" sz="1300" dirty="0"/>
          </a:p>
        </p:txBody>
      </p:sp>
      <p:sp>
        <p:nvSpPr>
          <p:cNvPr id="19" name="Shape 17"/>
          <p:cNvSpPr/>
          <p:nvPr/>
        </p:nvSpPr>
        <p:spPr>
          <a:xfrm>
            <a:off x="7772400" y="3136392"/>
            <a:ext cx="3858768" cy="2286000"/>
          </a:xfrm>
          <a:prstGeom prst="roundRect">
            <a:avLst>
              <a:gd name="adj" fmla="val 4800"/>
            </a:avLst>
          </a:prstGeom>
          <a:solidFill>
            <a:srgbClr val="F2F2F7"/>
          </a:solidFill>
          <a:ln w="12700">
            <a:solidFill>
              <a:srgbClr val="D9A21B"/>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A86B00"/>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GB" sz="1700" b="1" dirty="0">
                <a:solidFill>
                  <a:srgbClr val="0F1522"/>
                </a:solidFill>
                <a:latin typeface="Arial" pitchFamily="34" charset="0"/>
                <a:ea typeface="Arial" pitchFamily="34" charset="-122"/>
                <a:cs typeface="Arial" pitchFamily="34" charset="-120"/>
              </a:rPr>
              <a:t>The one catch</a:t>
            </a:r>
            <a:endParaRPr lang="en-GB"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spcAft>
                <a:spcPts val="600"/>
              </a:spcAft>
              <a:buNone/>
            </a:pPr>
            <a:r>
              <a:rPr lang="en-GB" sz="1300" dirty="0">
                <a:solidFill>
                  <a:srgbClr val="4B5565"/>
                </a:solidFill>
                <a:latin typeface="Calibri" pitchFamily="34" charset="0"/>
                <a:ea typeface="Calibri" pitchFamily="34" charset="-122"/>
                <a:cs typeface="Calibri" pitchFamily="34" charset="-120"/>
              </a:rPr>
              <a:t>There’s no backup. Delete the app, erase the data or lose the phone and it’s gone. Nobody can get it back, because nobody else ever had it.</a:t>
            </a:r>
            <a:endParaRPr lang="en-GB" sz="1300" dirty="0"/>
          </a:p>
          <a:p>
            <a:pPr indent="0" marL="0">
              <a:lnSpc>
                <a:spcPts val="1900"/>
              </a:lnSpc>
              <a:spcAft>
                <a:spcPts val="600"/>
              </a:spcAft>
              <a:buNone/>
            </a:pPr>
            <a:r>
              <a:rPr lang="en-GB" sz="1300" dirty="0">
                <a:solidFill>
                  <a:srgbClr val="4B5565"/>
                </a:solidFill>
                <a:latin typeface="Calibri" pitchFamily="34" charset="0"/>
                <a:ea typeface="Calibri" pitchFamily="34" charset="-122"/>
                <a:cs typeface="Calibri" pitchFamily="34" charset="-120"/>
              </a:rPr>
              <a:t>Engineers are told this before they start.</a:t>
            </a:r>
            <a:endParaRPr lang="en-GB" sz="1300" dirty="0"/>
          </a:p>
        </p:txBody>
      </p:sp>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GB" sz="3400" b="1" dirty="0">
                <a:solidFill>
                  <a:srgbClr val="0F1522"/>
                </a:solidFill>
                <a:latin typeface="Arial" pitchFamily="34" charset="0"/>
                <a:ea typeface="Arial" pitchFamily="34" charset="-122"/>
                <a:cs typeface="Arial" pitchFamily="34" charset="-120"/>
              </a:rPr>
              <a:t>Where it’s up to.</a:t>
            </a:r>
            <a:endParaRPr lang="en-GB" sz="3400" dirty="0"/>
          </a:p>
        </p:txBody>
      </p:sp>
      <p:sp>
        <p:nvSpPr>
          <p:cNvPr id="4" name="Shape 2"/>
          <p:cNvSpPr/>
          <p:nvPr/>
        </p:nvSpPr>
        <p:spPr>
          <a:xfrm>
            <a:off x="566928" y="2286000"/>
            <a:ext cx="3447288" cy="1691640"/>
          </a:xfrm>
          <a:prstGeom prst="roundRect">
            <a:avLst>
              <a:gd name="adj" fmla="val 6486"/>
            </a:avLst>
          </a:prstGeom>
          <a:solidFill>
            <a:srgbClr val="F2F2F7"/>
          </a:solidFill>
          <a:ln w="12700">
            <a:solidFill>
              <a:srgbClr val="DDE3EC"/>
            </a:solidFill>
            <a:prstDash val="solid"/>
          </a:ln>
        </p:spPr>
      </p:sp>
      <p:sp>
        <p:nvSpPr>
          <p:cNvPr id="5" name="Text 3"/>
          <p:cNvSpPr txBox="1"/>
          <p:nvPr/>
        </p:nvSpPr>
        <p:spPr>
          <a:xfrm>
            <a:off x="804672" y="2542032"/>
            <a:ext cx="297180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97180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4283964" y="2286000"/>
            <a:ext cx="3447288" cy="1691640"/>
          </a:xfrm>
          <a:prstGeom prst="roundRect">
            <a:avLst>
              <a:gd name="adj" fmla="val 6486"/>
            </a:avLst>
          </a:prstGeom>
          <a:solidFill>
            <a:srgbClr val="F2F2F7"/>
          </a:solidFill>
          <a:ln w="12700">
            <a:solidFill>
              <a:srgbClr val="DDE3EC"/>
            </a:solidFill>
            <a:prstDash val="solid"/>
          </a:ln>
        </p:spPr>
      </p:sp>
      <p:sp>
        <p:nvSpPr>
          <p:cNvPr id="8" name="Text 6"/>
          <p:cNvSpPr txBox="1"/>
          <p:nvPr/>
        </p:nvSpPr>
        <p:spPr>
          <a:xfrm>
            <a:off x="4521708" y="2542032"/>
            <a:ext cx="297180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5–10</a:t>
            </a:r>
            <a:endParaRPr lang="en-US" sz="3800" dirty="0"/>
          </a:p>
        </p:txBody>
      </p:sp>
      <p:sp>
        <p:nvSpPr>
          <p:cNvPr id="9" name="Text 7"/>
          <p:cNvSpPr txBox="1"/>
          <p:nvPr/>
        </p:nvSpPr>
        <p:spPr>
          <a:xfrm>
            <a:off x="4521708" y="3346704"/>
            <a:ext cx="297180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ENGINEERS WANTED</a:t>
            </a:r>
            <a:endParaRPr lang="en-US" sz="900" dirty="0"/>
          </a:p>
        </p:txBody>
      </p:sp>
      <p:sp>
        <p:nvSpPr>
          <p:cNvPr id="13" name="Shape 11"/>
          <p:cNvSpPr/>
          <p:nvPr/>
        </p:nvSpPr>
        <p:spPr>
          <a:xfrm>
            <a:off x="8001000" y="2286000"/>
            <a:ext cx="3447288" cy="1691640"/>
          </a:xfrm>
          <a:prstGeom prst="roundRect">
            <a:avLst>
              <a:gd name="adj" fmla="val 6486"/>
            </a:avLst>
          </a:prstGeom>
          <a:solidFill>
            <a:srgbClr val="F2F2F7"/>
          </a:solidFill>
          <a:ln w="12700">
            <a:solidFill>
              <a:srgbClr val="DDE3EC"/>
            </a:solidFill>
            <a:prstDash val="solid"/>
          </a:ln>
        </p:spPr>
      </p:sp>
      <p:sp>
        <p:nvSpPr>
          <p:cNvPr id="14" name="Text 12"/>
          <p:cNvSpPr txBox="1"/>
          <p:nvPr/>
        </p:nvSpPr>
        <p:spPr>
          <a:xfrm>
            <a:off x="8238744" y="2542032"/>
            <a:ext cx="297180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429</a:t>
            </a:r>
            <a:endParaRPr lang="en-US" sz="3800" dirty="0"/>
          </a:p>
        </p:txBody>
      </p:sp>
      <p:sp>
        <p:nvSpPr>
          <p:cNvPr id="15" name="Text 13"/>
          <p:cNvSpPr txBox="1"/>
          <p:nvPr/>
        </p:nvSpPr>
        <p:spPr>
          <a:xfrm>
            <a:off x="8238744" y="3346704"/>
            <a:ext cx="297180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AUTOMATED TESTS PASSING</a:t>
            </a:r>
            <a:endParaRPr lang="en-US" sz="900" dirty="0"/>
          </a:p>
        </p:txBody>
      </p:sp>
      <p:sp>
        <p:nvSpPr>
          <p:cNvPr id="19" name="Text 17"/>
          <p:cNvSpPr txBox="1"/>
          <p:nvPr/>
        </p:nvSpPr>
        <p:spPr>
          <a:xfrm>
            <a:off x="566928" y="4526280"/>
            <a:ext cx="10881360" cy="457200"/>
          </a:xfrm>
          <a:prstGeom prst="rect">
            <a:avLst/>
          </a:prstGeom>
          <a:noFill/>
          <a:ln/>
        </p:spPr>
        <p:txBody>
          <a:bodyPr wrap="square" lIns="0" tIns="0" rIns="0" bIns="0" rtlCol="0" anchor="ctr"/>
          <a:lstStyle/>
          <a:p>
            <a:pPr indent="0" marL="0">
              <a:lnSpc>
                <a:spcPts val="1400"/>
              </a:lnSpc>
              <a:buNone/>
            </a:pPr>
            <a:r>
              <a:rPr lang="en-US" sz="1050" dirty="0">
                <a:solidFill>
                  <a:srgbClr val="6B7485"/>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0" y="566928"/>
            <a:ext cx="515112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WEEK</a:t>
            </a:r>
            <a:endParaRPr lang="en-GB" sz="1100" dirty="0"/>
          </a:p>
        </p:txBody>
      </p:sp>
      <p:sp>
        <p:nvSpPr>
          <p:cNvPr id="3" name="Text 1"/>
          <p:cNvSpPr txBox="1"/>
          <p:nvPr/>
        </p:nvSpPr>
        <p:spPr>
          <a:xfrm>
            <a:off x="6583680" y="877824"/>
            <a:ext cx="515112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Set the week you work,</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then see all of it.</a:t>
            </a:r>
            <a:endParaRPr lang="en-GB" sz="3000" dirty="0"/>
          </a:p>
        </p:txBody>
      </p:sp>
      <p:sp>
        <p:nvSpPr>
          <p:cNvPr id="4" name="Shape 2"/>
          <p:cNvSpPr/>
          <p:nvPr/>
        </p:nvSpPr>
        <p:spPr>
          <a:xfrm>
            <a:off x="6583680" y="2459736"/>
            <a:ext cx="173736" cy="173736"/>
          </a:xfrm>
          <a:prstGeom prst="ellipse">
            <a:avLst/>
          </a:prstGeom>
          <a:solidFill>
            <a:srgbClr val="2F6BC4"/>
          </a:solidFill>
          <a:ln w="12700">
            <a:solidFill>
              <a:srgbClr val="2F6BC4"/>
            </a:solidFill>
            <a:prstDash val="solid"/>
          </a:ln>
        </p:spPr>
      </p:sp>
      <p:sp>
        <p:nvSpPr>
          <p:cNvPr id="5" name="Text 3"/>
          <p:cNvSpPr txBox="1"/>
          <p:nvPr/>
        </p:nvSpPr>
        <p:spPr>
          <a:xfrm>
            <a:off x="6949440" y="23957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Tap a day's times, set them, Confirm</a:t>
            </a:r>
            <a:endParaRPr lang="en-GB" sz="1500" dirty="0"/>
          </a:p>
        </p:txBody>
      </p:sp>
      <p:sp>
        <p:nvSpPr>
          <p:cNvPr id="6" name="Shape 4"/>
          <p:cNvSpPr/>
          <p:nvPr/>
        </p:nvSpPr>
        <p:spPr>
          <a:xfrm>
            <a:off x="6583680" y="2916936"/>
            <a:ext cx="173736" cy="173736"/>
          </a:xfrm>
          <a:prstGeom prst="ellipse">
            <a:avLst/>
          </a:prstGeom>
          <a:solidFill>
            <a:srgbClr val="2F6BC4"/>
          </a:solidFill>
          <a:ln w="12700">
            <a:solidFill>
              <a:srgbClr val="2F6BC4"/>
            </a:solidFill>
            <a:prstDash val="solid"/>
          </a:ln>
        </p:spPr>
      </p:sp>
      <p:sp>
        <p:nvSpPr>
          <p:cNvPr id="7" name="Text 5"/>
          <p:cNvSpPr txBox="1"/>
          <p:nvPr/>
        </p:nvSpPr>
        <p:spPr>
          <a:xfrm>
            <a:off x="6949440" y="28529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Copy a shift to any days you choose</a:t>
            </a:r>
            <a:endParaRPr lang="en-GB" sz="1500" dirty="0"/>
          </a:p>
        </p:txBody>
      </p:sp>
      <p:sp>
        <p:nvSpPr>
          <p:cNvPr id="8" name="Shape 6"/>
          <p:cNvSpPr/>
          <p:nvPr/>
        </p:nvSpPr>
        <p:spPr>
          <a:xfrm>
            <a:off x="6583680" y="3374136"/>
            <a:ext cx="173736" cy="173736"/>
          </a:xfrm>
          <a:prstGeom prst="ellipse">
            <a:avLst/>
          </a:prstGeom>
          <a:solidFill>
            <a:srgbClr val="2F6BC4"/>
          </a:solidFill>
          <a:ln w="12700">
            <a:solidFill>
              <a:srgbClr val="2F6BC4"/>
            </a:solidFill>
            <a:prstDash val="solid"/>
          </a:ln>
        </p:spPr>
      </p:sp>
      <p:sp>
        <p:nvSpPr>
          <p:cNvPr id="9" name="Text 7"/>
          <p:cNvSpPr txBox="1"/>
          <p:nvPr/>
        </p:nvSpPr>
        <p:spPr>
          <a:xfrm>
            <a:off x="6949440" y="33101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No times means a rest day, not leave</a:t>
            </a:r>
            <a:endParaRPr lang="en-GB" sz="1500" dirty="0"/>
          </a:p>
        </p:txBody>
      </p:sp>
      <p:sp>
        <p:nvSpPr>
          <p:cNvPr id="10" name="Text 8"/>
          <p:cNvSpPr txBox="1"/>
          <p:nvPr/>
        </p:nvSpPr>
        <p:spPr>
          <a:xfrm>
            <a:off x="6583680" y="3977640"/>
            <a:ext cx="515112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The Weekly Forecast runs Monday to Sunday and opens on today. Days left counts only the days you're working, so a Friday off doesn't spread the target over an extra day.</a:t>
            </a:r>
            <a:endParaRPr lang="en-GB" sz="1400" dirty="0"/>
          </a:p>
        </p:txBody>
      </p:sp>
      <p:sp>
        <p:nvSpPr>
          <p:cNvPr id="11" name="Text 9"/>
          <p:cNvSpPr txBox="1"/>
          <p:nvPr/>
        </p:nvSpPr>
        <p:spPr>
          <a:xfrm>
            <a:off x="6583680" y="5029200"/>
            <a:ext cx="515112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 xml:space="preserve">A rest day keeps your 40 hours. </a:t>
            </a:r>
            <a:r>
              <a:rPr lang="en-GB" sz="1400" dirty="0">
                <a:solidFill>
                  <a:srgbClr val="4B5565"/>
                </a:solidFill>
                <a:latin typeface="Calibri" pitchFamily="34" charset="0"/>
                <a:ea typeface="Calibri" pitchFamily="34" charset="-122"/>
                <a:cs typeface="Calibri" pitchFamily="34" charset="-120"/>
              </a:rPr>
              <a:t>It just isn't a day you're expected to earn on, unlike leave, which takes that day's hours off the week.</a:t>
            </a:r>
            <a:endParaRPr lang="en-GB" sz="1400" dirty="0"/>
          </a:p>
        </p:txBody>
      </p:sp>
      <p:sp>
        <p:nvSpPr>
          <p:cNvPr id="12" name="Shape 10"/>
          <p:cNvSpPr/>
          <p:nvPr/>
        </p:nvSpPr>
        <p:spPr>
          <a:xfrm>
            <a:off x="4572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chedule: Monday to Saturday 08:00 to 16:30, Sunday shown as a rest day"/>
          <p:cNvPicPr>
            <a:picLocks noChangeAspect="1"/>
          </p:cNvPicPr>
          <p:nvPr/>
        </p:nvPicPr>
        <p:blipFill>
          <a:blip r:embed="rId1"/>
          <a:stretch>
            <a:fillRect/>
          </a:stretch>
        </p:blipFill>
        <p:spPr>
          <a:xfrm>
            <a:off x="525780" y="658368"/>
            <a:ext cx="2577438" cy="5577840"/>
          </a:xfrm>
          <a:prstGeom prst="rect">
            <a:avLst/>
          </a:prstGeom>
        </p:spPr>
      </p:pic>
      <p:sp>
        <p:nvSpPr>
          <p:cNvPr id="14" name="Shape 11"/>
          <p:cNvSpPr/>
          <p:nvPr/>
        </p:nvSpPr>
        <p:spPr>
          <a:xfrm>
            <a:off x="3446118" y="589788"/>
            <a:ext cx="2714598" cy="5715000"/>
          </a:xfrm>
          <a:prstGeom prst="roundRect">
            <a:avLst>
              <a:gd name="adj" fmla="val 7411"/>
            </a:avLst>
          </a:prstGeom>
          <a:solidFill>
            <a:srgbClr val="DDE3EC"/>
          </a:solidFill>
          <a:ln w="12700">
            <a:solidFill>
              <a:srgbClr val="DDE3EC"/>
            </a:solidFill>
            <a:prstDash val="solid"/>
          </a:ln>
        </p:spPr>
      </p:sp>
      <p:pic>
        <p:nvPicPr>
          <p:cNvPr id="15" name="Image 1" descr="Weekly Forecast: a Monday to Sunday day strip open on Saturday, with the week's totals"/>
          <p:cNvPicPr>
            <a:picLocks noChangeAspect="1"/>
          </p:cNvPicPr>
          <p:nvPr/>
        </p:nvPicPr>
        <p:blipFill>
          <a:blip r:embed="rId4"/>
          <a:stretch>
            <a:fillRect/>
          </a:stretch>
        </p:blipFill>
        <p:spPr>
          <a:xfrm>
            <a:off x="3514698" y="658368"/>
            <a:ext cx="2577438" cy="5577840"/>
          </a:xfrm>
          <a:prstGeom prst="rect">
            <a:avLst/>
          </a:prstGeom>
        </p:spPr>
      </p:pic>
      <p:sp>
        <p:nvSpPr>
          <p:cNvPr id="900" name="Footer"/>
          <p:cNvSpPr txBox="1"/>
          <p:nvPr/>
        </p:nvSpPr>
        <p:spPr>
          <a:xfrm>
            <a:off x="566928" y="6537960"/>
            <a:ext cx="10881360" cy="228600"/>
          </a:xfrm>
          <a:prstGeom prst="rect">
            <a:avLst/>
          </a:prstGeom>
          <a:noFill/>
          <a:ln>
            <a:noFill/>
          </a:ln>
        </p:spPr>
        <p:txBody>
          <a:bodyPr wrap="square" lIns="0" tIns="0" rIns="0" bIns="0" rtlCol="0" anchor="ctr"/>
          <a:lstStyle/>
          <a:p>
            <a:pPr indent="0" marL="0">
              <a:buNone/>
            </a:pPr>
            <a:r>
              <a:rPr lang="en-GB" sz="900" spc="40" kern="0" dirty="0">
                <a:solidFill>
                  <a:srgbClr val="6B7485"/>
                </a:solidFill>
                <a:latin typeface="Arial" pitchFamily="34" charset="0"/>
                <a:ea typeface="Arial" pitchFamily="34" charset="-122"/>
                <a:cs typeface="Arial" pitchFamily="34" charset="-120"/>
              </a:rPr>
              <a:t>Designed and created by Jake Rainford  ·  any questions, reach out on Teams</a:t>
            </a:r>
            <a:endParaRPr lang="en-GB"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
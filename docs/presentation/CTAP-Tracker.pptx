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a handful of engineers, five to ten, to trial it: anyone a manager thinks would get something out of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in Settings. Coach is the bit I would show a new engineer first: it turns the figures into a run rate and tells you what the extras on a visit are worth. The check-in is a private diary built on GROW.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question, answered the simple way: nothing leaves the phone, so there is nothing to protect on a server and nobody to share it with. The catch is real and we say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shipped, and the ask: a handful of engineers, five to ten, who a manager thinks would get something out of it. Engineers a little behind on CTAP and new starters get the most from seeing the figures day to day. Nobody can install it without the link, so it goes out to whoever comes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GB" sz="3800" b="1" dirty="0">
                <a:solidFill>
                  <a:srgbClr val="0F1522"/>
                </a:solidFill>
                <a:latin typeface="Arial" pitchFamily="34" charset="0"/>
                <a:ea typeface="Arial" pitchFamily="34" charset="-122"/>
                <a:cs typeface="Arial" pitchFamily="34" charset="-120"/>
              </a:rPr>
              <a:t>You find out a week was short</a:t>
            </a:r>
            <a:endParaRPr lang="en-GB" sz="3800" dirty="0"/>
          </a:p>
          <a:p>
            <a:pPr indent="0" marL="0">
              <a:lnSpc>
                <a:spcPts val="4600"/>
              </a:lnSpc>
              <a:buNone/>
            </a:pPr>
            <a:r>
              <a:rPr lang="en-GB" sz="3800" b="1" dirty="0">
                <a:solidFill>
                  <a:srgbClr val="0F1522"/>
                </a:solidFill>
                <a:latin typeface="Arial" pitchFamily="34" charset="0"/>
                <a:ea typeface="Arial" pitchFamily="34" charset="-122"/>
                <a:cs typeface="Arial" pitchFamily="34" charset="-120"/>
              </a:rPr>
              <a:t>when it’s already gone.</a:t>
            </a:r>
            <a:endParaRPr lang="en-GB"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they’re about is long gone.</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Nothing tells you mid-week that you’re behind while there’s still time to do something about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is a number of hours. Nobody tells you what that is in your pocket.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on its own and lands on the day you said.</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you’re already up or down. Without it every figure starts from zero,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Every week you’ve logged,</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and the balance that carries.</a:t>
            </a:r>
            <a:endParaRPr lang="en-GB"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Had a week that wasn’t a fair test? Sickness, a phased return, a week you were still getting the hang of the app. Untick it and it stays out of your balance without being deleted.</a:t>
            </a:r>
            <a:endParaRPr lang="en-GB"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Your balance never resets.</a:t>
            </a:r>
            <a:r>
              <a:rPr lang="en-GB" sz="1400" dirty="0">
                <a:solidFill>
                  <a:srgbClr val="0F1522"/>
                </a:solidFill>
                <a:latin typeface="Calibri" pitchFamily="34" charset="0"/>
                <a:ea typeface="Calibri" pitchFamily="34" charset="-122"/>
                <a:cs typeface="Calibri" pitchFamily="34" charset="-120"/>
              </a:rPr>
              <a:t> It carries on from wherever you were already up or down, week after week.</a:t>
            </a:r>
            <a:endParaRPr lang="en-GB"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COACH MODE AND THE DAILY CHECK-IN  ·  BOTH OPTIONAL</a:t>
            </a:r>
            <a:endParaRPr lang="en-GB"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GB" sz="3200" b="1" dirty="0">
                <a:solidFill>
                  <a:srgbClr val="0F1522"/>
                </a:solidFill>
                <a:latin typeface="Arial" pitchFamily="34" charset="0"/>
                <a:ea typeface="Arial" pitchFamily="34" charset="-122"/>
                <a:cs typeface="Arial" pitchFamily="34" charset="-120"/>
              </a:rPr>
              <a:t>Coach works out the way back.</a:t>
            </a:r>
            <a:endParaRPr lang="en-GB" sz="3200" dirty="0"/>
          </a:p>
          <a:p>
            <a:pPr indent="0" marL="0">
              <a:lnSpc>
                <a:spcPts val="4000"/>
              </a:lnSpc>
              <a:buNone/>
            </a:pPr>
            <a:r>
              <a:rPr lang="en-GB" sz="3200" b="1" dirty="0">
                <a:solidFill>
                  <a:srgbClr val="0F1522"/>
                </a:solidFill>
                <a:latin typeface="Arial" pitchFamily="34" charset="0"/>
                <a:ea typeface="Arial" pitchFamily="34" charset="-122"/>
                <a:cs typeface="Arial" pitchFamily="34" charset="-120"/>
              </a:rPr>
              <a:t>The check-in is your own diary.</a:t>
            </a:r>
            <a:endParaRPr lang="en-GB"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Coach Mode</a:t>
            </a:r>
            <a:endParaRPr lang="en-GB" sz="2100" dirty="0"/>
          </a:p>
        </p:txBody>
      </p:sp>
      <p:pic>
        <p:nvPicPr>
          <p:cNvPr id="6" name="Image 0" descr="shots/coach-card.png">    </p:cNvPr>
          <p:cNvPicPr>
            <a:picLocks noChangeAspect="1"/>
          </p:cNvPicPr>
          <p:nvPr/>
        </p:nvPicPr>
        <p:blipFill>
          <a:blip r:embed="rId1"/>
          <a:stretch>
            <a:fillRect/>
          </a:stretch>
        </p:blipFill>
        <p:spPr>
          <a:xfrm>
            <a:off x="877824" y="3108960"/>
            <a:ext cx="3931920" cy="1554480"/>
          </a:xfrm>
          <a:prstGeom prst="rect">
            <a:avLst/>
          </a:prstGeom>
        </p:spPr>
      </p:pic>
      <p:sp>
        <p:nvSpPr>
          <p:cNvPr id="7" name="Text 4"/>
          <p:cNvSpPr txBox="1"/>
          <p:nvPr/>
        </p:nvSpPr>
        <p:spPr>
          <a:xfrm>
            <a:off x="877824" y="4773168"/>
            <a:ext cx="4818888" cy="1371600"/>
          </a:xfrm>
          <a:prstGeom prst="rect">
            <a:avLst/>
          </a:prstGeom>
          <a:noFill/>
          <a:ln/>
        </p:spPr>
        <p:txBody>
          <a:bodyPr wrap="square" lIns="0" tIns="0" rIns="0" bIns="0" rtlCol="0" anchor="t"/>
          <a:lstStyle/>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Your run rate.</a:t>
            </a:r>
            <a:r>
              <a:rPr lang="en-GB" sz="1150" dirty="0">
                <a:solidFill>
                  <a:srgbClr val="0F1522"/>
                </a:solidFill>
                <a:latin typeface="Calibri" pitchFamily="34" charset="0"/>
                <a:ea typeface="Calibri" pitchFamily="34" charset="-122"/>
                <a:cs typeface="Calibri" pitchFamily="34" charset="-120"/>
              </a:rPr>
              <a:t> How many jobs, or how many hours, get a deficit down, and by when. Keep going as you are today and it tells you where you’ll be in ten days.</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What lifts the balance most.</a:t>
            </a:r>
            <a:r>
              <a:rPr lang="en-GB" sz="1150" dirty="0">
                <a:solidFill>
                  <a:srgbClr val="0F1522"/>
                </a:solidFill>
                <a:latin typeface="Calibri" pitchFamily="34" charset="0"/>
                <a:ea typeface="Calibri" pitchFamily="34" charset="-122"/>
                <a:cs typeface="Calibri" pitchFamily="34" charset="-120"/>
              </a:rPr>
              <a:t> On the visit you’re already on: a Hive, an inhibitor, a CO alarm, a boiler lead. It shows what each one is worth against today’s gap.</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Never dispatched work.</a:t>
            </a:r>
            <a:r>
              <a:rPr lang="en-GB" sz="1150" dirty="0">
                <a:solidFill>
                  <a:srgbClr val="0F1522"/>
                </a:solidFill>
                <a:latin typeface="Calibri" pitchFamily="34" charset="0"/>
                <a:ea typeface="Calibri" pitchFamily="34" charset="-122"/>
                <a:cs typeface="Calibri" pitchFamily="34" charset="-120"/>
              </a:rPr>
              <a:t> It won’t suggest a service or a repair you weren’t given, so it can’t nudge anyone into raising work that wasn’t done.</a:t>
            </a:r>
            <a:endParaRPr lang="en-GB" sz="115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The daily check-in</a:t>
            </a:r>
            <a:endParaRPr lang="en-GB"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24528"/>
            <a:ext cx="4818888" cy="1874519"/>
          </a:xfrm>
          <a:prstGeom prst="rect">
            <a:avLst/>
          </a:prstGeom>
          <a:noFill/>
          <a:ln/>
        </p:spPr>
        <p:txBody>
          <a:bodyPr wrap="square" lIns="0" tIns="0" rIns="0" bIns="0" rtlCol="0" anchor="t"/>
          <a:lstStyle/>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Built on GROW.</a:t>
            </a:r>
            <a:r>
              <a:rPr lang="en-GB" sz="1200" dirty="0">
                <a:solidFill>
                  <a:srgbClr val="0F1522"/>
                </a:solidFill>
                <a:latin typeface="Calibri" pitchFamily="34" charset="0"/>
                <a:ea typeface="Calibri" pitchFamily="34" charset="-122"/>
                <a:cs typeface="Calibri" pitchFamily="34" charset="-120"/>
              </a:rPr>
              <a:t> Goal, Reality, Options, Will. One question a day, and it takes under a minute.</a:t>
            </a:r>
            <a:endParaRPr lang="en-GB" sz="1200" dirty="0"/>
          </a:p>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An honest diary.</a:t>
            </a:r>
            <a:r>
              <a:rPr lang="en-GB" sz="1200" dirty="0">
                <a:solidFill>
                  <a:srgbClr val="0F1522"/>
                </a:solidFill>
                <a:latin typeface="Calibri" pitchFamily="34" charset="0"/>
                <a:ea typeface="Calibri" pitchFamily="34" charset="-122"/>
                <a:cs typeface="Calibri" pitchFamily="34" charset="-120"/>
              </a:rPr>
              <a:t> Where the gaps in the day were, what you’re struggling with, what you’d do differently. It’s there for the engineers who genuinely want to use it.</a:t>
            </a:r>
            <a:endParaRPr lang="en-GB" sz="1200" dirty="0"/>
          </a:p>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Only you can read it.</a:t>
            </a:r>
            <a:r>
              <a:rPr lang="en-GB" sz="1200" dirty="0">
                <a:solidFill>
                  <a:srgbClr val="0F1522"/>
                </a:solidFill>
                <a:latin typeface="Calibri" pitchFamily="34" charset="0"/>
                <a:ea typeface="Calibri" pitchFamily="34" charset="-122"/>
                <a:cs typeface="Calibri" pitchFamily="34" charset="-120"/>
              </a:rPr>
              <a:t> No team view, no export, no comparing engineers. That’s how it’s built, not a setting.</a:t>
            </a:r>
            <a:endParaRPr lang="en-GB"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DATA</a:t>
            </a:r>
            <a:endParaRPr lang="en-GB"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GB" sz="3400" b="1" dirty="0">
                <a:solidFill>
                  <a:srgbClr val="0F1522"/>
                </a:solidFill>
                <a:latin typeface="Arial" pitchFamily="34" charset="0"/>
                <a:ea typeface="Arial" pitchFamily="34" charset="-122"/>
                <a:cs typeface="Arial" pitchFamily="34" charset="-120"/>
              </a:rPr>
              <a:t>Everything stays</a:t>
            </a:r>
            <a:endParaRPr lang="en-GB" sz="3400" dirty="0"/>
          </a:p>
          <a:p>
            <a:pPr indent="0" marL="0">
              <a:lnSpc>
                <a:spcPts val="4200"/>
              </a:lnSpc>
              <a:buNone/>
            </a:pPr>
            <a:r>
              <a:rPr lang="en-GB" sz="3400" b="1" dirty="0">
                <a:solidFill>
                  <a:srgbClr val="0F1522"/>
                </a:solidFill>
                <a:latin typeface="Arial" pitchFamily="34" charset="0"/>
                <a:ea typeface="Arial" pitchFamily="34" charset="-122"/>
                <a:cs typeface="Arial" pitchFamily="34" charset="-120"/>
              </a:rPr>
              <a:t>on your phone.</a:t>
            </a:r>
            <a:endParaRPr lang="en-GB"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GB" sz="1500" dirty="0">
                <a:solidFill>
                  <a:srgbClr val="4B5565"/>
                </a:solidFill>
                <a:latin typeface="Calibri" pitchFamily="34" charset="0"/>
                <a:ea typeface="Calibri" pitchFamily="34" charset="-122"/>
                <a:cs typeface="Calibri" pitchFamily="34" charset="-120"/>
              </a:rPr>
              <a:t>It’s completely secure, because there’s nothing to secure: every figure you log lives on your own phone and nowhere else. No account, no upload, no server. Nobody can see your CTAP figures but you.</a:t>
            </a:r>
            <a:endParaRPr lang="en-GB"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Nothing to sign into, nothing to sign out of.</a:t>
            </a:r>
            <a:endParaRPr lang="en-GB"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Once it’s installed it makes no network requests at all.</a:t>
            </a:r>
            <a:endParaRPr lang="en-GB"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Nobody. Not your manager, not me, no analytics.</a:t>
            </a:r>
            <a:endParaRPr lang="en-GB"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Works fully, which matters in plant rooms and cellars.</a:t>
            </a:r>
            <a:endParaRPr lang="en-GB"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Settings → Erase all data, and it’s gone straight away.</a:t>
            </a:r>
            <a:endParaRPr lang="en-GB"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GB" sz="1700" b="1" dirty="0">
                <a:solidFill>
                  <a:srgbClr val="0F1522"/>
                </a:solidFill>
                <a:latin typeface="Arial" pitchFamily="34" charset="0"/>
                <a:ea typeface="Arial" pitchFamily="34" charset="-122"/>
                <a:cs typeface="Arial" pitchFamily="34" charset="-120"/>
              </a:rPr>
              <a:t>The one catch</a:t>
            </a:r>
            <a:endParaRPr lang="en-GB"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There’s no backup. Delete the app, erase the data or lose the phone and it’s gone. Nobody can get it back, because nobody else ever had it.</a:t>
            </a:r>
            <a:endParaRPr lang="en-GB" sz="1300" dirty="0"/>
          </a:p>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Engineers are told this before they start.</a:t>
            </a:r>
            <a:endParaRPr lang="en-GB"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GB" sz="3400" b="1" dirty="0">
                <a:solidFill>
                  <a:srgbClr val="0F1522"/>
                </a:solidFill>
                <a:latin typeface="Arial" pitchFamily="34" charset="0"/>
                <a:ea typeface="Arial" pitchFamily="34" charset="-122"/>
                <a:cs typeface="Arial" pitchFamily="34" charset="-120"/>
              </a:rPr>
              <a:t>Where it’s up to.</a:t>
            </a:r>
            <a:endParaRPr lang="en-GB" sz="3400" dirty="0"/>
          </a:p>
        </p:txBody>
      </p:sp>
      <p:sp>
        <p:nvSpPr>
          <p:cNvPr id="4" name="Shape 2"/>
          <p:cNvSpPr/>
          <p:nvPr/>
        </p:nvSpPr>
        <p:spPr>
          <a:xfrm>
            <a:off x="566928" y="2286000"/>
            <a:ext cx="344728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97180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4283964" y="2286000"/>
            <a:ext cx="344728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4521708" y="2542032"/>
            <a:ext cx="297180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5–10</a:t>
            </a:r>
            <a:endParaRPr lang="en-US" sz="3800" dirty="0"/>
          </a:p>
        </p:txBody>
      </p:sp>
      <p:sp>
        <p:nvSpPr>
          <p:cNvPr id="9" name="Text 7"/>
          <p:cNvSpPr txBox="1"/>
          <p:nvPr/>
        </p:nvSpPr>
        <p:spPr>
          <a:xfrm>
            <a:off x="4521708"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3" name="Shape 11"/>
          <p:cNvSpPr/>
          <p:nvPr/>
        </p:nvSpPr>
        <p:spPr>
          <a:xfrm>
            <a:off x="8001000" y="2286000"/>
            <a:ext cx="344728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8238744" y="2542032"/>
            <a:ext cx="297180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429</a:t>
            </a:r>
            <a:endParaRPr lang="en-US" sz="3800" dirty="0"/>
          </a:p>
        </p:txBody>
      </p:sp>
      <p:sp>
        <p:nvSpPr>
          <p:cNvPr id="15" name="Text 13"/>
          <p:cNvSpPr txBox="1"/>
          <p:nvPr/>
        </p:nvSpPr>
        <p:spPr>
          <a:xfrm>
            <a:off x="8238744"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8" name="Text 16"/>
          <p:cNvSpPr txBox="1"/>
          <p:nvPr/>
        </p:nvSpPr>
        <p:spPr>
          <a:xfrm>
            <a:off x="566928" y="4526280"/>
            <a:ext cx="10881360" cy="274320"/>
          </a:xfrm>
          <a:prstGeom prst="rect">
            <a:avLst/>
          </a:prstGeom>
          <a:noFill/>
          <a:ln/>
        </p:spPr>
        <p:txBody>
          <a:bodyPr wrap="square" lIns="0" tIns="0" rIns="0" bIns="0" rtlCol="0" anchor="ctr"/>
          <a:lstStyle/>
          <a:p>
            <a:pPr indent="0" marL="0">
              <a:buNone/>
            </a:pPr>
            <a:r>
              <a:rPr lang="en-GB" sz="1300" dirty="0">
                <a:solidFill>
                  <a:srgbClr val="6B7485"/>
                </a:solidFill>
                <a:latin typeface="Calibri" pitchFamily="34" charset="0"/>
                <a:ea typeface="Calibri" pitchFamily="34" charset="-122"/>
                <a:cs typeface="Calibri" pitchFamily="34" charset="-120"/>
              </a:rPr>
              <a:t>Jake Rainford  ·  Service &amp; Repair Engineer  ·  any questions, get me on email or Teams</a:t>
            </a:r>
            <a:endParaRPr lang="en-GB" sz="1300" dirty="0"/>
          </a:p>
        </p:txBody>
      </p:sp>
      <p:sp>
        <p:nvSpPr>
          <p:cNvPr id="19" name="Text 17"/>
          <p:cNvSpPr txBox="1"/>
          <p:nvPr/>
        </p:nvSpPr>
        <p:spPr>
          <a:xfrm>
            <a:off x="566928" y="6291072"/>
            <a:ext cx="10881360" cy="45720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
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17"/>
    <p:sldId id="260" r:id="rId6"/>
    <p:sldId id="261" r:id="rId7"/>
    <p:sldId id="262" r:id="rId8"/>
    <p:sldId id="263" r:id="rId9"/>
    <p:sldId id="264" r:id="rId10"/>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CTAP Tracker — a personal tool for Service &amp; Repair engineers to track their CTAP bonus in real time. Built by an engineer, and looking for a handful of engineers, five to ten, to trial it: anyone a manager thinks would get something out of it. Everything you see is on-device; I will come back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scheme is real money, but the feedback loop is broken. MI is ten to fourteen days behind, so you learn about a bad week when there is nothing left to do about it. This app closes that loop — it does not replace MI, it just tells you where you are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bit engineers actually care about. You can talk a day in, or catch a whole week up on a Friday by naming the days. Critically it produces a draft, not a write — you see the proposed entries and anything it could not match, and nothing lands until you confirm. The worst outcome would be wrong figures you did not know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open. The app deliberately does not look finished until it is — the starting balance is the one setting that makes the headline number theirs rather than fictional, so the card names it rather than leaving it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your multiplier and tax band and it shows gross and take-home. Example figures on screen. This is the thing that turns the bonus from an abstraction into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gives the pattern rather than a single week. The exclude toggle matters for fairness — a week of certified sickness should not drag a balance down, and deleting the data to achieve that would be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optional, both off in one tap in Settings. Coach is the bit I would show a new engineer first: it turns the figures into a run rate and tells you what the extras on a visit are worth. The check-in is a private diary built on GROW. There is no management view of it, and that is a property of the build rather than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question, answered the simple way: nothing leaves the phone, so there is nothing to protect on a server and nobody to share it with. The catch is real and we say it up front: no backup, no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shipped, and the ask: a handful of engineers, five to ten, who a manager thinks would get something out of it. Engineers a little behind on CTAP and new starters get the most from seeing the figures day to day. Nobody can install it without the link, so it goes out to whoever comes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New since the first version of this deck. Shift times are set in a picker with a Confirm, because the iPhone time wheel used to close after the first scroll. An engineer on a rota can copy a shift to exactly the days they work. A day with no times is a rest day: it isn't leave, so the week keeps its 40 hours, and nobody has to mark it, because it's read from the Schedule.</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5</a:t>
            </a:fld>
            <a:endParaRPr lang="en-GB"/>
          </a:p>
        </p:txBody>
      </p:sp>
    </p:spTree>
    <p:extLst>
      <p:ext uri="{BB962C8B-B14F-4D97-AF65-F5344CB8AC3E}">
        <p14:creationId xmlns:p14="http://schemas.microsoft.com/office/powerpoint/2010/main" val="2091734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057400"/>
            <a:ext cx="6583680" cy="1051560"/>
          </a:xfrm>
          <a:prstGeom prst="rect">
            <a:avLst/>
          </a:prstGeom>
          <a:noFill/>
          <a:ln/>
        </p:spPr>
        <p:txBody>
          <a:bodyPr wrap="square" lIns="0" tIns="0" rIns="0" bIns="0" rtlCol="0" anchor="ctr"/>
          <a:lstStyle/>
          <a:p>
            <a:pPr indent="0" marL="0">
              <a:buNone/>
            </a:pPr>
            <a:r>
              <a:rPr lang="en-US" sz="7200" b="1" spc="-150" kern="0" dirty="0">
                <a:solidFill>
                  <a:srgbClr val="0F1522"/>
                </a:solidFill>
                <a:latin typeface="Arial" pitchFamily="34" charset="0"/>
                <a:ea typeface="Arial" pitchFamily="34" charset="-122"/>
                <a:cs typeface="Arial" pitchFamily="34" charset="-120"/>
              </a:rPr>
              <a:t>CTAP</a:t>
            </a:r>
            <a:endParaRPr lang="en-US" sz="7200" dirty="0"/>
          </a:p>
        </p:txBody>
      </p:sp>
      <p:sp>
        <p:nvSpPr>
          <p:cNvPr id="3" name="Text 1"/>
          <p:cNvSpPr txBox="1"/>
          <p:nvPr/>
        </p:nvSpPr>
        <p:spPr>
          <a:xfrm>
            <a:off x="566928" y="3035808"/>
            <a:ext cx="6583680" cy="1051560"/>
          </a:xfrm>
          <a:prstGeom prst="rect">
            <a:avLst/>
          </a:prstGeom>
          <a:noFill/>
          <a:ln/>
        </p:spPr>
        <p:txBody>
          <a:bodyPr wrap="square" lIns="0" tIns="0" rIns="0" bIns="0" rtlCol="0" anchor="ctr"/>
          <a:lstStyle/>
          <a:p>
            <a:pPr indent="0" marL="0">
              <a:buNone/>
            </a:pPr>
            <a:r>
              <a:rPr lang="en-US" sz="7200" b="1" spc="-150" kern="0" dirty="0">
                <a:solidFill>
                  <a:srgbClr val="2F6BC4"/>
                </a:solidFill>
                <a:latin typeface="Arial" pitchFamily="34" charset="0"/>
                <a:ea typeface="Arial" pitchFamily="34" charset="-122"/>
                <a:cs typeface="Arial" pitchFamily="34" charset="-120"/>
              </a:rPr>
              <a:t>Tracker</a:t>
            </a:r>
            <a:endParaRPr lang="en-US" sz="7200" dirty="0"/>
          </a:p>
        </p:txBody>
      </p:sp>
      <p:sp>
        <p:nvSpPr>
          <p:cNvPr id="4" name="Text 2"/>
          <p:cNvSpPr txBox="1"/>
          <p:nvPr/>
        </p:nvSpPr>
        <p:spPr>
          <a:xfrm>
            <a:off x="566928" y="4224528"/>
            <a:ext cx="5852160" cy="457200"/>
          </a:xfrm>
          <a:prstGeom prst="rect">
            <a:avLst/>
          </a:prstGeom>
          <a:noFill/>
          <a:ln/>
        </p:spPr>
        <p:txBody>
          <a:bodyPr wrap="square" lIns="0" tIns="0" rIns="0" bIns="0" rtlCol="0" anchor="ctr"/>
          <a:lstStyle/>
          <a:p>
            <a:pPr indent="0" marL="0">
              <a:buNone/>
            </a:pPr>
            <a:r>
              <a:rPr lang="en-US" sz="1800" dirty="0">
                <a:solidFill>
                  <a:srgbClr val="4B5565"/>
                </a:solidFill>
                <a:latin typeface="Calibri" pitchFamily="34" charset="0"/>
                <a:ea typeface="Calibri" pitchFamily="34" charset="-122"/>
                <a:cs typeface="Calibri" pitchFamily="34" charset="-120"/>
              </a:rPr>
              <a:t>Know where your CTAP stands today, not next month.</a:t>
            </a:r>
            <a:endParaRPr lang="en-US" sz="1800" dirty="0"/>
          </a:p>
        </p:txBody>
      </p:sp>
      <p:sp>
        <p:nvSpPr>
          <p:cNvPr id="5" name="Text 3"/>
          <p:cNvSpPr txBox="1"/>
          <p:nvPr/>
        </p:nvSpPr>
        <p:spPr>
          <a:xfrm>
            <a:off x="566928" y="4892040"/>
            <a:ext cx="5852160" cy="274320"/>
          </a:xfrm>
          <a:prstGeom prst="rect">
            <a:avLst/>
          </a:prstGeom>
          <a:noFill/>
          <a:ln/>
        </p:spPr>
        <p:txBody>
          <a:bodyPr wrap="square" lIns="0" tIns="0" rIns="0" bIns="0" rtlCol="0" anchor="ctr"/>
          <a:lstStyle/>
          <a:p>
            <a:pPr indent="0" marL="0">
              <a:buNone/>
            </a:pPr>
            <a:r>
              <a:rPr lang="en-US" sz="1100" spc="180" kern="0" dirty="0">
                <a:solidFill>
                  <a:srgbClr val="6B7485"/>
                </a:solidFill>
                <a:latin typeface="Arial" pitchFamily="34" charset="0"/>
                <a:ea typeface="Arial" pitchFamily="34" charset="-122"/>
                <a:cs typeface="Arial" pitchFamily="34" charset="-120"/>
              </a:rPr>
              <a:t>TRIAL BUILD  ·  v0.8.0  ·  SERVICE + REPAIR</a:t>
            </a:r>
            <a:endParaRPr lang="en-US" sz="1100" dirty="0"/>
          </a:p>
        </p:txBody>
      </p:sp>
      <p:sp>
        <p:nvSpPr>
          <p:cNvPr id="6" name="Shape 4"/>
          <p:cNvSpPr/>
          <p:nvPr/>
        </p:nvSpPr>
        <p:spPr>
          <a:xfrm>
            <a:off x="7795260" y="708660"/>
            <a:ext cx="2587839" cy="5440680"/>
          </a:xfrm>
          <a:prstGeom prst="roundRect">
            <a:avLst>
              <a:gd name="adj" fmla="val 7774"/>
            </a:avLst>
          </a:prstGeom>
          <a:solidFill>
            <a:srgbClr val="DDE3EC"/>
          </a:solidFill>
          <a:ln w="12700">
            <a:solidFill>
              <a:srgbClr val="DDE3EC"/>
            </a:solidFill>
            <a:prstDash val="solid"/>
          </a:ln>
        </p:spPr>
      </p:sp>
      <p:pic>
        <p:nvPicPr>
          <p:cNvPr id="7" name="Image 0" descr="shots/dashboard.png">    </p:cNvPr>
          <p:cNvPicPr>
            <a:picLocks noChangeAspect="1"/>
          </p:cNvPicPr>
          <p:nvPr/>
        </p:nvPicPr>
        <p:blipFill>
          <a:blip r:embed="rId1"/>
          <a:stretch>
            <a:fillRect/>
          </a:stretch>
        </p:blipFill>
        <p:spPr>
          <a:xfrm>
            <a:off x="7863840" y="777240"/>
            <a:ext cx="2450679" cy="5303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566928"/>
            <a:ext cx="10058400" cy="237744"/>
          </a:xfrm>
          <a:prstGeom prst="rect">
            <a:avLst/>
          </a:prstGeom>
          <a:noFill/>
          <a:ln/>
        </p:spPr>
        <p:txBody>
          <a:bodyPr wrap="square" lIns="0" tIns="0" rIns="0" bIns="0" rtlCol="0" anchor="ctr"/>
          <a:lstStyle/>
          <a:p>
            <a:pPr indent="0" marL="0">
              <a:buNone/>
            </a:pPr>
            <a:r>
              <a:rPr lang="en-US" sz="1100" b="1" spc="240" kern="0" dirty="0">
                <a:solidFill>
                  <a:srgbClr val="2F6BC4"/>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566928" y="877824"/>
            <a:ext cx="10058400" cy="1371600"/>
          </a:xfrm>
          <a:prstGeom prst="rect">
            <a:avLst/>
          </a:prstGeom>
          <a:noFill/>
          <a:ln/>
        </p:spPr>
        <p:txBody>
          <a:bodyPr wrap="square" lIns="0" tIns="0" rIns="0" bIns="0" rtlCol="0" anchor="ctr"/>
          <a:lstStyle/>
          <a:p>
            <a:pPr indent="0" marL="0">
              <a:lnSpc>
                <a:spcPts val="4600"/>
              </a:lnSpc>
              <a:buNone/>
            </a:pPr>
            <a:r>
              <a:rPr lang="en-GB" sz="3800" b="1" dirty="0">
                <a:solidFill>
                  <a:srgbClr val="0F1522"/>
                </a:solidFill>
                <a:latin typeface="Arial" pitchFamily="34" charset="0"/>
                <a:ea typeface="Arial" pitchFamily="34" charset="-122"/>
                <a:cs typeface="Arial" pitchFamily="34" charset="-120"/>
              </a:rPr>
              <a:t>You find out a week was short</a:t>
            </a:r>
            <a:endParaRPr lang="en-GB" sz="3800" dirty="0"/>
          </a:p>
          <a:p>
            <a:pPr indent="0" marL="0">
              <a:lnSpc>
                <a:spcPts val="4600"/>
              </a:lnSpc>
              <a:buNone/>
            </a:pPr>
            <a:r>
              <a:rPr lang="en-GB" sz="3800" b="1" dirty="0">
                <a:solidFill>
                  <a:srgbClr val="0F1522"/>
                </a:solidFill>
                <a:latin typeface="Arial" pitchFamily="34" charset="0"/>
                <a:ea typeface="Arial" pitchFamily="34" charset="-122"/>
                <a:cs typeface="Arial" pitchFamily="34" charset="-120"/>
              </a:rPr>
              <a:t>when it’s already gone.</a:t>
            </a:r>
            <a:endParaRPr lang="en-GB" sz="3800" dirty="0"/>
          </a:p>
        </p:txBody>
      </p:sp>
      <p:sp>
        <p:nvSpPr>
          <p:cNvPr id="4" name="Shape 2"/>
          <p:cNvSpPr/>
          <p:nvPr/>
        </p:nvSpPr>
        <p:spPr>
          <a:xfrm>
            <a:off x="566928" y="2514600"/>
            <a:ext cx="3493008" cy="2788920"/>
          </a:xfrm>
          <a:prstGeom prst="roundRect">
            <a:avLst>
              <a:gd name="adj" fmla="val 3934"/>
            </a:avLst>
          </a:prstGeom>
          <a:solidFill>
            <a:srgbClr val="F2F2F7"/>
          </a:solidFill>
          <a:ln w="12700">
            <a:solidFill>
              <a:srgbClr val="DDE3EC"/>
            </a:solidFill>
            <a:prstDash val="solid"/>
          </a:ln>
        </p:spPr>
      </p:sp>
      <p:sp>
        <p:nvSpPr>
          <p:cNvPr id="5" name="Text 3"/>
          <p:cNvSpPr txBox="1"/>
          <p:nvPr/>
        </p:nvSpPr>
        <p:spPr>
          <a:xfrm>
            <a:off x="859536" y="2788920"/>
            <a:ext cx="2926080" cy="777240"/>
          </a:xfrm>
          <a:prstGeom prst="rect">
            <a:avLst/>
          </a:prstGeom>
          <a:noFill/>
          <a:ln/>
        </p:spPr>
        <p:txBody>
          <a:bodyPr wrap="square" lIns="0" tIns="0" rIns="0" bIns="0" rtlCol="0" anchor="ctr"/>
          <a:lstStyle/>
          <a:p>
            <a:pPr indent="0" marL="0">
              <a:buNone/>
            </a:pPr>
            <a:r>
              <a:rPr lang="en-US" sz="5000" b="1" dirty="0">
                <a:solidFill>
                  <a:srgbClr val="2F6BC4"/>
                </a:solidFill>
                <a:latin typeface="Arial" pitchFamily="34" charset="0"/>
                <a:ea typeface="Arial" pitchFamily="34" charset="-122"/>
                <a:cs typeface="Arial" pitchFamily="34" charset="-120"/>
              </a:rPr>
              <a:t>10–14</a:t>
            </a:r>
            <a:endParaRPr lang="en-US" sz="5000" dirty="0"/>
          </a:p>
        </p:txBody>
      </p:sp>
      <p:sp>
        <p:nvSpPr>
          <p:cNvPr id="6" name="Text 4"/>
          <p:cNvSpPr txBox="1"/>
          <p:nvPr/>
        </p:nvSpPr>
        <p:spPr>
          <a:xfrm>
            <a:off x="859536" y="3584448"/>
            <a:ext cx="2926080" cy="228600"/>
          </a:xfrm>
          <a:prstGeom prst="rect">
            <a:avLst/>
          </a:prstGeom>
          <a:noFill/>
          <a:ln/>
        </p:spPr>
        <p:txBody>
          <a:bodyPr wrap="square" lIns="0" tIns="0" rIns="0" bIns="0" rtlCol="0" anchor="ctr"/>
          <a:lstStyle/>
          <a:p>
            <a:pPr indent="0" marL="0">
              <a:buNone/>
            </a:pPr>
            <a:r>
              <a:rPr lang="en-US" sz="1000" spc="160" kern="0" dirty="0">
                <a:solidFill>
                  <a:srgbClr val="6B7485"/>
                </a:solidFill>
                <a:latin typeface="Arial" pitchFamily="34" charset="0"/>
                <a:ea typeface="Arial" pitchFamily="34" charset="-122"/>
                <a:cs typeface="Arial" pitchFamily="34" charset="-120"/>
              </a:rPr>
              <a:t>DAYS</a:t>
            </a:r>
            <a:endParaRPr lang="en-US" sz="1000" dirty="0"/>
          </a:p>
        </p:txBody>
      </p:sp>
      <p:sp>
        <p:nvSpPr>
          <p:cNvPr id="7" name="Text 5"/>
          <p:cNvSpPr txBox="1"/>
          <p:nvPr/>
        </p:nvSpPr>
        <p:spPr>
          <a:xfrm>
            <a:off x="859536" y="3977640"/>
            <a:ext cx="2926080" cy="320040"/>
          </a:xfrm>
          <a:prstGeom prst="rect">
            <a:avLst/>
          </a:prstGeom>
          <a:noFill/>
          <a:ln/>
        </p:spPr>
        <p:txBody>
          <a:bodyPr wrap="square" lIns="0" tIns="0" rIns="0" bIns="0" rtlCol="0" anchor="ctr"/>
          <a:lstStyle/>
          <a:p>
            <a:pPr indent="0" marL="0">
              <a:buNone/>
            </a:pPr>
            <a:r>
              <a:rPr lang="en-US" sz="1600" b="1" dirty="0">
                <a:solidFill>
                  <a:srgbClr val="0F1522"/>
                </a:solidFill>
                <a:latin typeface="Arial" pitchFamily="34" charset="0"/>
                <a:ea typeface="Arial" pitchFamily="34" charset="-122"/>
                <a:cs typeface="Arial" pitchFamily="34" charset="-120"/>
              </a:rPr>
              <a:t>Before MI lands</a:t>
            </a:r>
            <a:endParaRPr lang="en-US" sz="1600" dirty="0"/>
          </a:p>
        </p:txBody>
      </p:sp>
      <p:sp>
        <p:nvSpPr>
          <p:cNvPr id="8" name="Text 6"/>
          <p:cNvSpPr txBox="1"/>
          <p:nvPr/>
        </p:nvSpPr>
        <p:spPr>
          <a:xfrm>
            <a:off x="859536" y="4370832"/>
            <a:ext cx="2926080" cy="868680"/>
          </a:xfrm>
          <a:prstGeom prst="rect">
            <a:avLst/>
          </a:prstGeom>
          <a:noFill/>
          <a:ln/>
        </p:spPr>
        <p:txBody>
          <a:bodyPr wrap="square" lIns="0" tIns="0" rIns="0" bIns="0" rtlCol="0" anchor="t"/>
          <a:lstStyle/>
          <a:p>
            <a:pPr indent="0" marL="0">
              <a:lnSpc>
                <a:spcPts val="1900"/>
              </a:lnSpc>
              <a:buNone/>
            </a:pPr>
            <a:r>
              <a:rPr lang="en-US" sz="1300" dirty="0">
                <a:solidFill>
                  <a:srgbClr val="4B5565"/>
                </a:solidFill>
                <a:latin typeface="Calibri" pitchFamily="34" charset="0"/>
                <a:ea typeface="Calibri" pitchFamily="34" charset="-122"/>
                <a:cs typeface="Calibri" pitchFamily="34" charset="-120"/>
              </a:rPr>
              <a:t>By the time the figures come back, the week they’re about is long gone.</a:t>
            </a:r>
            <a:endParaRPr lang="en-US" sz="1300" dirty="0"/>
          </a:p>
        </p:txBody>
      </p:sp>
      <p:sp>
        <p:nvSpPr>
          <p:cNvPr id="9" name="Shape 7"/>
          <p:cNvSpPr/>
          <p:nvPr/>
        </p:nvSpPr>
        <p:spPr>
          <a:xfrm>
            <a:off x="4334256" y="2514600"/>
            <a:ext cx="3493008" cy="2788920"/>
          </a:xfrm>
          <a:prstGeom prst="roundRect">
            <a:avLst>
              <a:gd name="adj" fmla="val 3934"/>
            </a:avLst>
          </a:prstGeom>
          <a:solidFill>
            <a:srgbClr val="F2F2F7"/>
          </a:solidFill>
          <a:ln w="12700">
            <a:solidFill>
              <a:srgbClr val="DDE3EC"/>
            </a:solidFill>
            <a:prstDash val="solid"/>
          </a:ln>
        </p:spPr>
      </p:sp>
      <p:sp>
        <p:nvSpPr>
          <p:cNvPr id="10" name="Text 8"/>
          <p:cNvSpPr txBox="1"/>
          <p:nvPr/>
        </p:nvSpPr>
        <p:spPr>
          <a:xfrm>
            <a:off x="4626864" y="2788920"/>
            <a:ext cx="2926080" cy="777240"/>
          </a:xfrm>
          <a:prstGeom prst="rect">
            <a:avLst/>
          </a:prstGeom>
          <a:noFill/>
          <a:ln/>
        </p:spPr>
        <p:txBody>
          <a:bodyPr wrap="square" lIns="0" tIns="0" rIns="0" bIns="0" rtlCol="0" anchor="ctr"/>
          <a:lstStyle/>
          <a:p>
            <a:pPr indent="0" marL="0">
              <a:buNone/>
            </a:pPr>
            <a:r>
              <a:rPr lang="en-US" sz="5000" b="1" dirty="0">
                <a:solidFill>
                  <a:srgbClr val="2F6BC4"/>
                </a:solidFill>
                <a:latin typeface="Arial" pitchFamily="34" charset="0"/>
                <a:ea typeface="Arial" pitchFamily="34" charset="-122"/>
                <a:cs typeface="Arial" pitchFamily="34" charset="-120"/>
              </a:rPr>
              <a:t>0</a:t>
            </a:r>
            <a:endParaRPr lang="en-US" sz="5000" dirty="0"/>
          </a:p>
        </p:txBody>
      </p:sp>
      <p:sp>
        <p:nvSpPr>
          <p:cNvPr id="11" name="Text 9"/>
          <p:cNvSpPr txBox="1"/>
          <p:nvPr/>
        </p:nvSpPr>
        <p:spPr>
          <a:xfrm>
            <a:off x="4626864" y="3584448"/>
            <a:ext cx="2926080" cy="228600"/>
          </a:xfrm>
          <a:prstGeom prst="rect">
            <a:avLst/>
          </a:prstGeom>
          <a:noFill/>
          <a:ln/>
        </p:spPr>
        <p:txBody>
          <a:bodyPr wrap="square" lIns="0" tIns="0" rIns="0" bIns="0" rtlCol="0" anchor="ctr"/>
          <a:lstStyle/>
          <a:p>
            <a:pPr indent="0" marL="0">
              <a:buNone/>
            </a:pPr>
            <a:r>
              <a:rPr lang="en-US" sz="1000" spc="160" kern="0" dirty="0">
                <a:solidFill>
                  <a:srgbClr val="6B7485"/>
                </a:solidFill>
                <a:latin typeface="Arial" pitchFamily="34" charset="0"/>
                <a:ea typeface="Arial" pitchFamily="34" charset="-122"/>
                <a:cs typeface="Arial" pitchFamily="34" charset="-120"/>
              </a:rPr>
              <a:t>IN-WEEK VIEW</a:t>
            </a:r>
            <a:endParaRPr lang="en-US" sz="1000" dirty="0"/>
          </a:p>
        </p:txBody>
      </p:sp>
      <p:sp>
        <p:nvSpPr>
          <p:cNvPr id="12" name="Text 10"/>
          <p:cNvSpPr txBox="1"/>
          <p:nvPr/>
        </p:nvSpPr>
        <p:spPr>
          <a:xfrm>
            <a:off x="4626864" y="3977640"/>
            <a:ext cx="2926080" cy="320040"/>
          </a:xfrm>
          <a:prstGeom prst="rect">
            <a:avLst/>
          </a:prstGeom>
          <a:noFill/>
          <a:ln/>
        </p:spPr>
        <p:txBody>
          <a:bodyPr wrap="square" lIns="0" tIns="0" rIns="0" bIns="0" rtlCol="0" anchor="ctr"/>
          <a:lstStyle/>
          <a:p>
            <a:pPr indent="0" marL="0">
              <a:buNone/>
            </a:pPr>
            <a:r>
              <a:rPr lang="en-US" sz="1600" b="1" dirty="0">
                <a:solidFill>
                  <a:srgbClr val="0F1522"/>
                </a:solidFill>
                <a:latin typeface="Arial" pitchFamily="34" charset="0"/>
                <a:ea typeface="Arial" pitchFamily="34" charset="-122"/>
                <a:cs typeface="Arial" pitchFamily="34" charset="-120"/>
              </a:rPr>
              <a:t>Nothing to act on</a:t>
            </a:r>
            <a:endParaRPr lang="en-US" sz="1600" dirty="0"/>
          </a:p>
        </p:txBody>
      </p:sp>
      <p:sp>
        <p:nvSpPr>
          <p:cNvPr id="13" name="Text 11"/>
          <p:cNvSpPr txBox="1"/>
          <p:nvPr/>
        </p:nvSpPr>
        <p:spPr>
          <a:xfrm>
            <a:off x="4626864" y="4370832"/>
            <a:ext cx="2926080" cy="868680"/>
          </a:xfrm>
          <a:prstGeom prst="rect">
            <a:avLst/>
          </a:prstGeom>
          <a:noFill/>
          <a:ln/>
        </p:spPr>
        <p:txBody>
          <a:bodyPr wrap="square" lIns="0" tIns="0" rIns="0" bIns="0" rtlCol="0" anchor="t"/>
          <a:lstStyle/>
          <a:p>
            <a:pPr indent="0" marL="0">
              <a:lnSpc>
                <a:spcPts val="1900"/>
              </a:lnSpc>
              <a:buNone/>
            </a:pPr>
            <a:r>
              <a:rPr lang="en-US" sz="1300" dirty="0">
                <a:solidFill>
                  <a:srgbClr val="4B5565"/>
                </a:solidFill>
                <a:latin typeface="Calibri" pitchFamily="34" charset="0"/>
                <a:ea typeface="Calibri" pitchFamily="34" charset="-122"/>
                <a:cs typeface="Calibri" pitchFamily="34" charset="-120"/>
              </a:rPr>
              <a:t>Nothing tells you mid-week that you’re behind while there’s still time to do something about it.</a:t>
            </a:r>
            <a:endParaRPr lang="en-US" sz="1300" dirty="0"/>
          </a:p>
        </p:txBody>
      </p:sp>
      <p:sp>
        <p:nvSpPr>
          <p:cNvPr id="14" name="Shape 12"/>
          <p:cNvSpPr/>
          <p:nvPr/>
        </p:nvSpPr>
        <p:spPr>
          <a:xfrm>
            <a:off x="8101584" y="2514600"/>
            <a:ext cx="3493008" cy="2788920"/>
          </a:xfrm>
          <a:prstGeom prst="roundRect">
            <a:avLst>
              <a:gd name="adj" fmla="val 3934"/>
            </a:avLst>
          </a:prstGeom>
          <a:solidFill>
            <a:srgbClr val="F2F2F7"/>
          </a:solidFill>
          <a:ln w="12700">
            <a:solidFill>
              <a:srgbClr val="DDE3EC"/>
            </a:solidFill>
            <a:prstDash val="solid"/>
          </a:ln>
        </p:spPr>
      </p:sp>
      <p:sp>
        <p:nvSpPr>
          <p:cNvPr id="15" name="Text 13"/>
          <p:cNvSpPr txBox="1"/>
          <p:nvPr/>
        </p:nvSpPr>
        <p:spPr>
          <a:xfrm>
            <a:off x="8394192" y="2788920"/>
            <a:ext cx="2926080" cy="777240"/>
          </a:xfrm>
          <a:prstGeom prst="rect">
            <a:avLst/>
          </a:prstGeom>
          <a:noFill/>
          <a:ln/>
        </p:spPr>
        <p:txBody>
          <a:bodyPr wrap="square" lIns="0" tIns="0" rIns="0" bIns="0" rtlCol="0" anchor="ctr"/>
          <a:lstStyle/>
          <a:p>
            <a:pPr indent="0" marL="0">
              <a:buNone/>
            </a:pPr>
            <a:r>
              <a:rPr lang="en-US" sz="5000" b="1" dirty="0">
                <a:solidFill>
                  <a:srgbClr val="2F6BC4"/>
                </a:solidFill>
                <a:latin typeface="Arial" pitchFamily="34" charset="0"/>
                <a:ea typeface="Arial" pitchFamily="34" charset="-122"/>
                <a:cs typeface="Arial" pitchFamily="34" charset="-120"/>
              </a:rPr>
              <a:t>?</a:t>
            </a:r>
            <a:endParaRPr lang="en-US" sz="5000" dirty="0"/>
          </a:p>
        </p:txBody>
      </p:sp>
      <p:sp>
        <p:nvSpPr>
          <p:cNvPr id="16" name="Text 14"/>
          <p:cNvSpPr txBox="1"/>
          <p:nvPr/>
        </p:nvSpPr>
        <p:spPr>
          <a:xfrm>
            <a:off x="8394192" y="3584448"/>
            <a:ext cx="2926080" cy="228600"/>
          </a:xfrm>
          <a:prstGeom prst="rect">
            <a:avLst/>
          </a:prstGeom>
          <a:noFill/>
          <a:ln/>
        </p:spPr>
        <p:txBody>
          <a:bodyPr wrap="square" lIns="0" tIns="0" rIns="0" bIns="0" rtlCol="0" anchor="ctr"/>
          <a:lstStyle/>
          <a:p>
            <a:pPr indent="0" marL="0">
              <a:buNone/>
            </a:pPr>
            <a:r>
              <a:rPr lang="en-US" sz="1000" spc="160" kern="0" dirty="0">
                <a:solidFill>
                  <a:srgbClr val="6B7485"/>
                </a:solidFill>
                <a:latin typeface="Arial" pitchFamily="34" charset="0"/>
                <a:ea typeface="Arial" pitchFamily="34" charset="-122"/>
                <a:cs typeface="Arial" pitchFamily="34" charset="-120"/>
              </a:rPr>
              <a:t>AFTER TAX</a:t>
            </a:r>
            <a:endParaRPr lang="en-US" sz="1000" dirty="0"/>
          </a:p>
        </p:txBody>
      </p:sp>
      <p:sp>
        <p:nvSpPr>
          <p:cNvPr id="17" name="Text 15"/>
          <p:cNvSpPr txBox="1"/>
          <p:nvPr/>
        </p:nvSpPr>
        <p:spPr>
          <a:xfrm>
            <a:off x="8394192" y="3977640"/>
            <a:ext cx="2926080" cy="320040"/>
          </a:xfrm>
          <a:prstGeom prst="rect">
            <a:avLst/>
          </a:prstGeom>
          <a:noFill/>
          <a:ln/>
        </p:spPr>
        <p:txBody>
          <a:bodyPr wrap="square" lIns="0" tIns="0" rIns="0" bIns="0" rtlCol="0" anchor="ctr"/>
          <a:lstStyle/>
          <a:p>
            <a:pPr indent="0" marL="0">
              <a:buNone/>
            </a:pPr>
            <a:r>
              <a:rPr lang="en-US" sz="1600" b="1" dirty="0">
                <a:solidFill>
                  <a:srgbClr val="0F1522"/>
                </a:solidFill>
                <a:latin typeface="Arial" pitchFamily="34" charset="0"/>
                <a:ea typeface="Arial" pitchFamily="34" charset="-122"/>
                <a:cs typeface="Arial" pitchFamily="34" charset="-120"/>
              </a:rPr>
              <a:t>A balance in hours</a:t>
            </a:r>
            <a:endParaRPr lang="en-US" sz="1600" dirty="0"/>
          </a:p>
        </p:txBody>
      </p:sp>
      <p:sp>
        <p:nvSpPr>
          <p:cNvPr id="18" name="Text 16"/>
          <p:cNvSpPr txBox="1"/>
          <p:nvPr/>
        </p:nvSpPr>
        <p:spPr>
          <a:xfrm>
            <a:off x="8394192" y="4370832"/>
            <a:ext cx="2926080" cy="868680"/>
          </a:xfrm>
          <a:prstGeom prst="rect">
            <a:avLst/>
          </a:prstGeom>
          <a:noFill/>
          <a:ln/>
        </p:spPr>
        <p:txBody>
          <a:bodyPr wrap="square" lIns="0" tIns="0" rIns="0" bIns="0" rtlCol="0" anchor="t"/>
          <a:lstStyle/>
          <a:p>
            <a:pPr indent="0" marL="0">
              <a:lnSpc>
                <a:spcPts val="1900"/>
              </a:lnSpc>
              <a:buNone/>
            </a:pPr>
            <a:r>
              <a:rPr lang="en-US" sz="1300" dirty="0">
                <a:solidFill>
                  <a:srgbClr val="4B5565"/>
                </a:solidFill>
                <a:latin typeface="Calibri" pitchFamily="34" charset="0"/>
                <a:ea typeface="Calibri" pitchFamily="34" charset="-122"/>
                <a:cs typeface="Calibri" pitchFamily="34" charset="-120"/>
              </a:rPr>
              <a:t>The bonus is a number of hours. Nobody tells you what that is in your pocket.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566928"/>
            <a:ext cx="6949440" cy="237744"/>
          </a:xfrm>
          <a:prstGeom prst="rect">
            <a:avLst/>
          </a:prstGeom>
          <a:noFill/>
          <a:ln/>
        </p:spPr>
        <p:txBody>
          <a:bodyPr wrap="square" lIns="0" tIns="0" rIns="0" bIns="0" rtlCol="0" anchor="ctr"/>
          <a:lstStyle/>
          <a:p>
            <a:pPr indent="0" marL="0">
              <a:buNone/>
            </a:pPr>
            <a:r>
              <a:rPr lang="en-US" sz="1100" b="1" spc="240" kern="0" dirty="0">
                <a:solidFill>
                  <a:srgbClr val="2F6BC4"/>
                </a:solidFill>
                <a:latin typeface="Arial" pitchFamily="34" charset="0"/>
                <a:ea typeface="Arial" pitchFamily="34" charset="-122"/>
                <a:cs typeface="Arial" pitchFamily="34" charset="-120"/>
              </a:rPr>
              <a:t>LOG IT</a:t>
            </a:r>
            <a:endParaRPr lang="en-US" sz="1100" dirty="0"/>
          </a:p>
        </p:txBody>
      </p:sp>
      <p:sp>
        <p:nvSpPr>
          <p:cNvPr id="3" name="Text 1"/>
          <p:cNvSpPr txBox="1"/>
          <p:nvPr/>
        </p:nvSpPr>
        <p:spPr>
          <a:xfrm>
            <a:off x="566928" y="877824"/>
            <a:ext cx="6949440" cy="1280160"/>
          </a:xfrm>
          <a:prstGeom prst="rect">
            <a:avLst/>
          </a:prstGeom>
          <a:noFill/>
          <a:ln/>
        </p:spPr>
        <p:txBody>
          <a:bodyPr wrap="square" lIns="0" tIns="0" rIns="0" bIns="0" rtlCol="0" anchor="ctr"/>
          <a:lstStyle/>
          <a:p>
            <a:pPr indent="0" marL="0">
              <a:lnSpc>
                <a:spcPts val="4000"/>
              </a:lnSpc>
              <a:buNone/>
            </a:pPr>
            <a:r>
              <a:rPr lang="en-US" sz="3200" b="1" dirty="0">
                <a:solidFill>
                  <a:srgbClr val="0F1522"/>
                </a:solidFill>
                <a:latin typeface="Arial" pitchFamily="34" charset="0"/>
                <a:ea typeface="Arial" pitchFamily="34" charset="-122"/>
                <a:cs typeface="Arial" pitchFamily="34" charset="-120"/>
              </a:rPr>
              <a:t>Say the day. It writes nothing</a:t>
            </a:r>
            <a:endParaRPr lang="en-US" sz="3200" dirty="0"/>
          </a:p>
          <a:p>
            <a:pPr indent="0" marL="0">
              <a:lnSpc>
                <a:spcPts val="4000"/>
              </a:lnSpc>
              <a:buNone/>
            </a:pPr>
            <a:r>
              <a:rPr lang="en-US" sz="3200" b="1" dirty="0">
                <a:solidFill>
                  <a:srgbClr val="0F1522"/>
                </a:solidFill>
                <a:latin typeface="Arial" pitchFamily="34" charset="0"/>
                <a:ea typeface="Arial" pitchFamily="34" charset="-122"/>
                <a:cs typeface="Arial" pitchFamily="34" charset="-120"/>
              </a:rPr>
              <a:t>until you confirm.</a:t>
            </a:r>
            <a:endParaRPr lang="en-US" sz="3200" dirty="0"/>
          </a:p>
        </p:txBody>
      </p:sp>
      <p:sp>
        <p:nvSpPr>
          <p:cNvPr id="4" name="Shape 2"/>
          <p:cNvSpPr/>
          <p:nvPr/>
        </p:nvSpPr>
        <p:spPr>
          <a:xfrm>
            <a:off x="566928" y="2331720"/>
            <a:ext cx="32004" cy="621792"/>
          </a:xfrm>
          <a:prstGeom prst="rect">
            <a:avLst/>
          </a:prstGeom>
          <a:solidFill>
            <a:srgbClr val="2F6BC4"/>
          </a:solidFill>
          <a:ln w="12700">
            <a:solidFill>
              <a:srgbClr val="2F6BC4"/>
            </a:solidFill>
            <a:prstDash val="solid"/>
          </a:ln>
        </p:spPr>
      </p:sp>
      <p:sp>
        <p:nvSpPr>
          <p:cNvPr id="5" name="Text 3"/>
          <p:cNvSpPr txBox="1"/>
          <p:nvPr/>
        </p:nvSpPr>
        <p:spPr>
          <a:xfrm>
            <a:off x="804672" y="2331720"/>
            <a:ext cx="6400800" cy="310896"/>
          </a:xfrm>
          <a:prstGeom prst="rect">
            <a:avLst/>
          </a:prstGeom>
          <a:noFill/>
          <a:ln/>
        </p:spPr>
        <p:txBody>
          <a:bodyPr wrap="square" lIns="0" tIns="0" rIns="0" bIns="0" rtlCol="0" anchor="ctr"/>
          <a:lstStyle/>
          <a:p>
            <a:pPr indent="0" marL="0">
              <a:lnSpc>
                <a:spcPts val="2400"/>
              </a:lnSpc>
              <a:buNone/>
            </a:pPr>
            <a:r>
              <a:rPr lang="en-US" sz="1800" i="1" dirty="0">
                <a:solidFill>
                  <a:srgbClr val="0F1522"/>
                </a:solidFill>
                <a:latin typeface="Calibri" pitchFamily="34" charset="0"/>
                <a:ea typeface="Calibri" pitchFamily="34" charset="-122"/>
                <a:cs typeface="Calibri" pitchFamily="34" charset="-120"/>
              </a:rPr>
              <a:t>“Six breakdowns and two services.”</a:t>
            </a:r>
            <a:endParaRPr lang="en-US" sz="1800" dirty="0"/>
          </a:p>
        </p:txBody>
      </p:sp>
      <p:sp>
        <p:nvSpPr>
          <p:cNvPr id="6" name="Text 4"/>
          <p:cNvSpPr txBox="1"/>
          <p:nvPr/>
        </p:nvSpPr>
        <p:spPr>
          <a:xfrm>
            <a:off x="804672" y="2679192"/>
            <a:ext cx="6400800" cy="274320"/>
          </a:xfrm>
          <a:prstGeom prst="rect">
            <a:avLst/>
          </a:prstGeom>
          <a:noFill/>
          <a:ln/>
        </p:spPr>
        <p:txBody>
          <a:bodyPr wrap="square" lIns="0" tIns="0" rIns="0" bIns="0" rtlCol="0" anchor="t"/>
          <a:lstStyle/>
          <a:p>
            <a:pPr indent="0" marL="0">
              <a:lnSpc>
                <a:spcPts val="1700"/>
              </a:lnSpc>
              <a:buNone/>
            </a:pPr>
            <a:r>
              <a:rPr lang="en-US" sz="1250" dirty="0">
                <a:solidFill>
                  <a:srgbClr val="6B7485"/>
                </a:solidFill>
                <a:latin typeface="Calibri" pitchFamily="34" charset="0"/>
                <a:ea typeface="Calibri" pitchFamily="34" charset="-122"/>
                <a:cs typeface="Calibri" pitchFamily="34" charset="-120"/>
              </a:rPr>
              <a:t>A day, said once.</a:t>
            </a:r>
            <a:endParaRPr lang="en-US" sz="1250" dirty="0"/>
          </a:p>
        </p:txBody>
      </p:sp>
      <p:sp>
        <p:nvSpPr>
          <p:cNvPr id="7" name="Shape 5"/>
          <p:cNvSpPr/>
          <p:nvPr/>
        </p:nvSpPr>
        <p:spPr>
          <a:xfrm>
            <a:off x="566928" y="3419856"/>
            <a:ext cx="32004" cy="1161288"/>
          </a:xfrm>
          <a:prstGeom prst="rect">
            <a:avLst/>
          </a:prstGeom>
          <a:solidFill>
            <a:srgbClr val="2F6BC4"/>
          </a:solidFill>
          <a:ln w="12700">
            <a:solidFill>
              <a:srgbClr val="2F6BC4"/>
            </a:solidFill>
            <a:prstDash val="solid"/>
          </a:ln>
        </p:spPr>
      </p:sp>
      <p:sp>
        <p:nvSpPr>
          <p:cNvPr id="8" name="Text 6"/>
          <p:cNvSpPr txBox="1"/>
          <p:nvPr/>
        </p:nvSpPr>
        <p:spPr>
          <a:xfrm>
            <a:off x="804672" y="3419856"/>
            <a:ext cx="6400800" cy="621792"/>
          </a:xfrm>
          <a:prstGeom prst="rect">
            <a:avLst/>
          </a:prstGeom>
          <a:noFill/>
          <a:ln/>
        </p:spPr>
        <p:txBody>
          <a:bodyPr wrap="square" lIns="0" tIns="0" rIns="0" bIns="0" rtlCol="0" anchor="ctr"/>
          <a:lstStyle/>
          <a:p>
            <a:pPr indent="0" marL="0">
              <a:lnSpc>
                <a:spcPts val="2400"/>
              </a:lnSpc>
              <a:buNone/>
            </a:pPr>
            <a:r>
              <a:rPr lang="en-US" sz="1800" i="1" dirty="0">
                <a:solidFill>
                  <a:srgbClr val="0F1522"/>
                </a:solidFill>
                <a:latin typeface="Calibri" pitchFamily="34" charset="0"/>
                <a:ea typeface="Calibri" pitchFamily="34" charset="-122"/>
                <a:cs typeface="Calibri" pitchFamily="34" charset="-120"/>
              </a:rPr>
              <a:t>“Monday six breakdowns, Tuesday three services</a:t>
            </a:r>
            <a:endParaRPr lang="en-US" sz="1800" dirty="0"/>
          </a:p>
          <a:p>
            <a:pPr indent="0" marL="0">
              <a:lnSpc>
                <a:spcPts val="2400"/>
              </a:lnSpc>
              <a:buNone/>
            </a:pPr>
            <a:r>
              <a:rPr lang="en-US" sz="1800" i="1" dirty="0">
                <a:solidFill>
                  <a:srgbClr val="0F1522"/>
                </a:solidFill>
                <a:latin typeface="Calibri" pitchFamily="34" charset="0"/>
                <a:ea typeface="Calibri" pitchFamily="34" charset="-122"/>
                <a:cs typeface="Calibri" pitchFamily="34" charset="-120"/>
              </a:rPr>
              <a:t>and an inhibitor, Wednesday a long duration.”</a:t>
            </a:r>
            <a:endParaRPr lang="en-US" sz="1800" dirty="0"/>
          </a:p>
        </p:txBody>
      </p:sp>
      <p:sp>
        <p:nvSpPr>
          <p:cNvPr id="9" name="Text 7"/>
          <p:cNvSpPr txBox="1"/>
          <p:nvPr/>
        </p:nvSpPr>
        <p:spPr>
          <a:xfrm>
            <a:off x="804672" y="4078224"/>
            <a:ext cx="6400800" cy="502920"/>
          </a:xfrm>
          <a:prstGeom prst="rect">
            <a:avLst/>
          </a:prstGeom>
          <a:noFill/>
          <a:ln/>
        </p:spPr>
        <p:txBody>
          <a:bodyPr wrap="square" lIns="0" tIns="0" rIns="0" bIns="0" rtlCol="0" anchor="t"/>
          <a:lstStyle/>
          <a:p>
            <a:pPr indent="0" marL="0">
              <a:lnSpc>
                <a:spcPts val="1700"/>
              </a:lnSpc>
              <a:buNone/>
            </a:pPr>
            <a:r>
              <a:rPr lang="en-US" sz="1250" dirty="0">
                <a:solidFill>
                  <a:srgbClr val="6B7485"/>
                </a:solidFill>
                <a:latin typeface="Calibri" pitchFamily="34" charset="0"/>
                <a:ea typeface="Calibri" pitchFamily="34" charset="-122"/>
                <a:cs typeface="Calibri" pitchFamily="34" charset="-120"/>
              </a:rPr>
              <a:t>A whole week, caught up on a Friday. Each day is read on its own and lands on the day you said.</a:t>
            </a:r>
            <a:endParaRPr lang="en-US" sz="1250" dirty="0"/>
          </a:p>
        </p:txBody>
      </p:sp>
      <p:sp>
        <p:nvSpPr>
          <p:cNvPr id="10" name="Shape 8"/>
          <p:cNvSpPr/>
          <p:nvPr/>
        </p:nvSpPr>
        <p:spPr>
          <a:xfrm>
            <a:off x="566928" y="4956048"/>
            <a:ext cx="6675120" cy="960120"/>
          </a:xfrm>
          <a:prstGeom prst="roundRect">
            <a:avLst>
              <a:gd name="adj" fmla="val 9524"/>
            </a:avLst>
          </a:prstGeom>
          <a:solidFill>
            <a:srgbClr val="F2F2F7"/>
          </a:solidFill>
          <a:ln w="12700">
            <a:solidFill>
              <a:srgbClr val="DDE3EC"/>
            </a:solidFill>
            <a:prstDash val="solid"/>
          </a:ln>
        </p:spPr>
      </p:sp>
      <p:sp>
        <p:nvSpPr>
          <p:cNvPr id="11" name="Text 9"/>
          <p:cNvSpPr txBox="1"/>
          <p:nvPr/>
        </p:nvSpPr>
        <p:spPr>
          <a:xfrm>
            <a:off x="841248" y="5138928"/>
            <a:ext cx="6126480" cy="640080"/>
          </a:xfrm>
          <a:prstGeom prst="rect">
            <a:avLst/>
          </a:prstGeom>
          <a:noFill/>
          <a:ln/>
        </p:spPr>
        <p:txBody>
          <a:bodyPr wrap="square" lIns="0" tIns="0" rIns="0" bIns="0" rtlCol="0" anchor="ctr"/>
          <a:lstStyle/>
          <a:p>
            <a:pPr indent="0" marL="0">
              <a:lnSpc>
                <a:spcPts val="2000"/>
              </a:lnSpc>
              <a:buNone/>
            </a:pPr>
            <a:r>
              <a:rPr lang="en-US" sz="1400" b="1" dirty="0">
                <a:solidFill>
                  <a:srgbClr val="0F1522"/>
                </a:solidFill>
                <a:latin typeface="Calibri" pitchFamily="34" charset="0"/>
                <a:ea typeface="Calibri" pitchFamily="34" charset="-122"/>
                <a:cs typeface="Calibri" pitchFamily="34" charset="-120"/>
              </a:rPr>
              <a:t>It handles what voice does to trade numbers.  </a:t>
            </a:r>
            <a:pPr indent="0" marL="0">
              <a:lnSpc>
                <a:spcPts val="2000"/>
              </a:lnSpc>
              <a:buNone/>
            </a:pPr>
            <a:r>
              <a:rPr lang="en-US" sz="1400" dirty="0">
                <a:solidFill>
                  <a:srgbClr val="4B5565"/>
                </a:solidFill>
                <a:latin typeface="Calibri" pitchFamily="34" charset="0"/>
                <a:ea typeface="Calibri" pitchFamily="34" charset="-122"/>
                <a:cs typeface="Calibri" pitchFamily="34" charset="-120"/>
              </a:rPr>
              <a:t>“too high installs” becomes 2 × Hive install, not a job called “too high”.</a:t>
            </a:r>
            <a:endParaRPr lang="en-US" sz="1400" dirty="0"/>
          </a:p>
        </p:txBody>
      </p:sp>
      <p:sp>
        <p:nvSpPr>
          <p:cNvPr id="12" name="Shape 10"/>
          <p:cNvSpPr/>
          <p:nvPr/>
        </p:nvSpPr>
        <p:spPr>
          <a:xfrm>
            <a:off x="8206740" y="589788"/>
            <a:ext cx="2714598" cy="5715000"/>
          </a:xfrm>
          <a:prstGeom prst="roundRect">
            <a:avLst>
              <a:gd name="adj" fmla="val 7411"/>
            </a:avLst>
          </a:prstGeom>
          <a:solidFill>
            <a:srgbClr val="DDE3EC"/>
          </a:solidFill>
          <a:ln w="12700">
            <a:solidFill>
              <a:srgbClr val="DDE3EC"/>
            </a:solidFill>
            <a:prstDash val="solid"/>
          </a:ln>
        </p:spPr>
      </p:sp>
      <p:pic>
        <p:nvPicPr>
          <p:cNvPr id="13" name="Image 0" descr="shots/log-job.png">    </p:cNvPr>
          <p:cNvPicPr>
            <a:picLocks noChangeAspect="1"/>
          </p:cNvPicPr>
          <p:nvPr/>
        </p:nvPicPr>
        <p:blipFill>
          <a:blip r:embed="rId1"/>
          <a:stretch>
            <a:fillRect/>
          </a:stretch>
        </p:blipFill>
        <p:spPr>
          <a:xfrm>
            <a:off x="8275320" y="658368"/>
            <a:ext cx="2577438" cy="5577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0" y="566928"/>
            <a:ext cx="5212080" cy="237744"/>
          </a:xfrm>
          <a:prstGeom prst="rect">
            <a:avLst/>
          </a:prstGeom>
          <a:noFill/>
          <a:ln/>
        </p:spPr>
        <p:txBody>
          <a:bodyPr wrap="square" lIns="0" tIns="0" rIns="0" bIns="0" rtlCol="0" anchor="ctr"/>
          <a:lstStyle/>
          <a:p>
            <a:pPr indent="0" marL="0">
              <a:buNone/>
            </a:pPr>
            <a:r>
              <a:rPr lang="en-US" sz="1100" b="1" spc="240" kern="0" dirty="0">
                <a:solidFill>
                  <a:srgbClr val="2F6BC4"/>
                </a:solidFill>
                <a:latin typeface="Arial" pitchFamily="34" charset="0"/>
                <a:ea typeface="Arial" pitchFamily="34" charset="-122"/>
                <a:cs typeface="Arial" pitchFamily="34" charset="-120"/>
              </a:rPr>
              <a:t>SET UP</a:t>
            </a:r>
            <a:endParaRPr lang="en-US" sz="1100" dirty="0"/>
          </a:p>
        </p:txBody>
      </p:sp>
      <p:sp>
        <p:nvSpPr>
          <p:cNvPr id="3" name="Text 1"/>
          <p:cNvSpPr txBox="1"/>
          <p:nvPr/>
        </p:nvSpPr>
        <p:spPr>
          <a:xfrm>
            <a:off x="6400800" y="877824"/>
            <a:ext cx="5212080" cy="1188720"/>
          </a:xfrm>
          <a:prstGeom prst="rect">
            <a:avLst/>
          </a:prstGeom>
          <a:noFill/>
          <a:ln/>
        </p:spPr>
        <p:txBody>
          <a:bodyPr wrap="square" lIns="0" tIns="0" rIns="0" bIns="0" rtlCol="0" anchor="ctr"/>
          <a:lstStyle/>
          <a:p>
            <a:pPr indent="0" marL="0">
              <a:lnSpc>
                <a:spcPts val="3800"/>
              </a:lnSpc>
              <a:buNone/>
            </a:pPr>
            <a:r>
              <a:rPr lang="en-US" sz="3000" b="1" dirty="0">
                <a:solidFill>
                  <a:srgbClr val="0F1522"/>
                </a:solidFill>
                <a:latin typeface="Arial" pitchFamily="34" charset="0"/>
                <a:ea typeface="Arial" pitchFamily="34" charset="-122"/>
                <a:cs typeface="Arial" pitchFamily="34" charset="-120"/>
              </a:rPr>
              <a:t>Three taps, then it gets</a:t>
            </a:r>
            <a:endParaRPr lang="en-US" sz="3000" dirty="0"/>
          </a:p>
          <a:p>
            <a:pPr indent="0" marL="0">
              <a:lnSpc>
                <a:spcPts val="3800"/>
              </a:lnSpc>
              <a:buNone/>
            </a:pPr>
            <a:r>
              <a:rPr lang="en-US" sz="3000" b="1" dirty="0">
                <a:solidFill>
                  <a:srgbClr val="0F1522"/>
                </a:solidFill>
                <a:latin typeface="Arial" pitchFamily="34" charset="0"/>
                <a:ea typeface="Arial" pitchFamily="34" charset="-122"/>
                <a:cs typeface="Arial" pitchFamily="34" charset="-120"/>
              </a:rPr>
              <a:t>out of the way.</a:t>
            </a:r>
            <a:endParaRPr lang="en-US" sz="3000" dirty="0"/>
          </a:p>
        </p:txBody>
      </p:sp>
      <p:sp>
        <p:nvSpPr>
          <p:cNvPr id="4" name="Shape 2"/>
          <p:cNvSpPr/>
          <p:nvPr/>
        </p:nvSpPr>
        <p:spPr>
          <a:xfrm>
            <a:off x="6400800" y="2304288"/>
            <a:ext cx="347472" cy="347472"/>
          </a:xfrm>
          <a:prstGeom prst="ellipse">
            <a:avLst/>
          </a:prstGeom>
          <a:solidFill>
            <a:srgbClr val="2F6BC4"/>
          </a:solidFill>
          <a:ln w="12700">
            <a:solidFill>
              <a:srgbClr val="2F6BC4"/>
            </a:solidFill>
            <a:prstDash val="solid"/>
          </a:ln>
        </p:spPr>
      </p:sp>
      <p:sp>
        <p:nvSpPr>
          <p:cNvPr id="5" name="Text 3"/>
          <p:cNvSpPr txBox="1"/>
          <p:nvPr/>
        </p:nvSpPr>
        <p:spPr>
          <a:xfrm>
            <a:off x="6400800" y="2304288"/>
            <a:ext cx="347472" cy="347472"/>
          </a:xfrm>
          <a:prstGeom prst="rect">
            <a:avLst/>
          </a:prstGeom>
          <a:noFill/>
          <a:ln/>
        </p:spPr>
        <p:txBody>
          <a:bodyPr wrap="square" lIns="0" tIns="0" rIns="0" bIns="0" rtlCol="0" anchor="ctr"/>
          <a:lstStyle/>
          <a:p>
            <a:pPr algn="ctr" indent="0" marL="0">
              <a:buNone/>
            </a:pPr>
            <a:r>
              <a:rPr lang="en-US" sz="1300" b="1" dirty="0">
                <a:solidFill>
                  <a:srgbClr val="0F1522"/>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6912864" y="2286000"/>
            <a:ext cx="4663440" cy="329184"/>
          </a:xfrm>
          <a:prstGeom prst="rect">
            <a:avLst/>
          </a:prstGeom>
          <a:noFill/>
          <a:ln/>
        </p:spPr>
        <p:txBody>
          <a:bodyPr wrap="square" lIns="0" tIns="0" rIns="0" bIns="0" rtlCol="0" anchor="ctr"/>
          <a:lstStyle/>
          <a:p>
            <a:pPr indent="0" marL="0">
              <a:buNone/>
            </a:pPr>
            <a:r>
              <a:rPr lang="en-US" sz="1700" b="1" dirty="0">
                <a:solidFill>
                  <a:srgbClr val="0F1522"/>
                </a:solidFill>
                <a:latin typeface="Arial" pitchFamily="34" charset="0"/>
                <a:ea typeface="Arial" pitchFamily="34" charset="-122"/>
                <a:cs typeface="Arial" pitchFamily="34" charset="-120"/>
              </a:rPr>
              <a:t>Your starting balance</a:t>
            </a:r>
            <a:endParaRPr lang="en-US" sz="1700" dirty="0"/>
          </a:p>
        </p:txBody>
      </p:sp>
      <p:sp>
        <p:nvSpPr>
          <p:cNvPr id="7" name="Text 5"/>
          <p:cNvSpPr txBox="1"/>
          <p:nvPr/>
        </p:nvSpPr>
        <p:spPr>
          <a:xfrm>
            <a:off x="6912864" y="2651760"/>
            <a:ext cx="4663440" cy="822960"/>
          </a:xfrm>
          <a:prstGeom prst="rect">
            <a:avLst/>
          </a:prstGeom>
          <a:noFill/>
          <a:ln/>
        </p:spPr>
        <p:txBody>
          <a:bodyPr wrap="square" lIns="0" tIns="0" rIns="0" bIns="0" rtlCol="0" anchor="t"/>
          <a:lstStyle/>
          <a:p>
            <a:pPr indent="0" marL="0">
              <a:lnSpc>
                <a:spcPts val="1900"/>
              </a:lnSpc>
              <a:buNone/>
            </a:pPr>
            <a:r>
              <a:rPr lang="en-US" sz="1350" dirty="0">
                <a:solidFill>
                  <a:srgbClr val="4B5565"/>
                </a:solidFill>
                <a:latin typeface="Calibri" pitchFamily="34" charset="0"/>
                <a:ea typeface="Calibri" pitchFamily="34" charset="-122"/>
                <a:cs typeface="Calibri" pitchFamily="34" charset="-120"/>
              </a:rPr>
              <a:t>The hours you’re already up or down. Without it every figure starts from zero, which is almost certainly not where you are.</a:t>
            </a:r>
            <a:endParaRPr lang="en-US" sz="1350" dirty="0"/>
          </a:p>
        </p:txBody>
      </p:sp>
      <p:sp>
        <p:nvSpPr>
          <p:cNvPr id="8" name="Shape 6"/>
          <p:cNvSpPr/>
          <p:nvPr/>
        </p:nvSpPr>
        <p:spPr>
          <a:xfrm>
            <a:off x="6400800" y="3602736"/>
            <a:ext cx="347472" cy="347472"/>
          </a:xfrm>
          <a:prstGeom prst="ellipse">
            <a:avLst/>
          </a:prstGeom>
          <a:solidFill>
            <a:srgbClr val="2F6BC4"/>
          </a:solidFill>
          <a:ln w="12700">
            <a:solidFill>
              <a:srgbClr val="2F6BC4"/>
            </a:solidFill>
            <a:prstDash val="solid"/>
          </a:ln>
        </p:spPr>
      </p:sp>
      <p:sp>
        <p:nvSpPr>
          <p:cNvPr id="9" name="Text 7"/>
          <p:cNvSpPr txBox="1"/>
          <p:nvPr/>
        </p:nvSpPr>
        <p:spPr>
          <a:xfrm>
            <a:off x="6400800" y="3602736"/>
            <a:ext cx="347472" cy="347472"/>
          </a:xfrm>
          <a:prstGeom prst="rect">
            <a:avLst/>
          </a:prstGeom>
          <a:noFill/>
          <a:ln/>
        </p:spPr>
        <p:txBody>
          <a:bodyPr wrap="square" lIns="0" tIns="0" rIns="0" bIns="0" rtlCol="0" anchor="ctr"/>
          <a:lstStyle/>
          <a:p>
            <a:pPr algn="ctr" indent="0" marL="0">
              <a:buNone/>
            </a:pPr>
            <a:r>
              <a:rPr lang="en-US" sz="1300" b="1" dirty="0">
                <a:solidFill>
                  <a:srgbClr val="0F1522"/>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6912864" y="3584448"/>
            <a:ext cx="4663440" cy="329184"/>
          </a:xfrm>
          <a:prstGeom prst="rect">
            <a:avLst/>
          </a:prstGeom>
          <a:noFill/>
          <a:ln/>
        </p:spPr>
        <p:txBody>
          <a:bodyPr wrap="square" lIns="0" tIns="0" rIns="0" bIns="0" rtlCol="0" anchor="ctr"/>
          <a:lstStyle/>
          <a:p>
            <a:pPr indent="0" marL="0">
              <a:buNone/>
            </a:pPr>
            <a:r>
              <a:rPr lang="en-US" sz="1700" b="1" dirty="0">
                <a:solidFill>
                  <a:srgbClr val="0F1522"/>
                </a:solidFill>
                <a:latin typeface="Arial" pitchFamily="34" charset="0"/>
                <a:ea typeface="Arial" pitchFamily="34" charset="-122"/>
                <a:cs typeface="Arial" pitchFamily="34" charset="-120"/>
              </a:rPr>
              <a:t>This week’s shifts</a:t>
            </a:r>
            <a:endParaRPr lang="en-US" sz="1700" dirty="0"/>
          </a:p>
        </p:txBody>
      </p:sp>
      <p:sp>
        <p:nvSpPr>
          <p:cNvPr id="11" name="Text 9"/>
          <p:cNvSpPr txBox="1"/>
          <p:nvPr/>
        </p:nvSpPr>
        <p:spPr>
          <a:xfrm>
            <a:off x="6912864" y="3950208"/>
            <a:ext cx="4663440" cy="457200"/>
          </a:xfrm>
          <a:prstGeom prst="rect">
            <a:avLst/>
          </a:prstGeom>
          <a:noFill/>
          <a:ln/>
        </p:spPr>
        <p:txBody>
          <a:bodyPr wrap="square" lIns="0" tIns="0" rIns="0" bIns="0" rtlCol="0" anchor="t"/>
          <a:lstStyle/>
          <a:p>
            <a:pPr indent="0" marL="0">
              <a:lnSpc>
                <a:spcPts val="1900"/>
              </a:lnSpc>
              <a:buNone/>
            </a:pPr>
            <a:r>
              <a:rPr lang="en-US" sz="1350" dirty="0">
                <a:solidFill>
                  <a:srgbClr val="4B5565"/>
                </a:solidFill>
                <a:latin typeface="Calibri" pitchFamily="34" charset="0"/>
                <a:ea typeface="Calibri" pitchFamily="34" charset="-122"/>
                <a:cs typeface="Calibri" pitchFamily="34" charset="-120"/>
              </a:rPr>
              <a:t>One tap if you’re a normal Mon–Fri.</a:t>
            </a:r>
            <a:endParaRPr lang="en-US" sz="1350" dirty="0"/>
          </a:p>
        </p:txBody>
      </p:sp>
      <p:sp>
        <p:nvSpPr>
          <p:cNvPr id="12" name="Shape 10"/>
          <p:cNvSpPr/>
          <p:nvPr/>
        </p:nvSpPr>
        <p:spPr>
          <a:xfrm>
            <a:off x="6400800" y="4626864"/>
            <a:ext cx="347472" cy="347472"/>
          </a:xfrm>
          <a:prstGeom prst="ellipse">
            <a:avLst/>
          </a:prstGeom>
          <a:solidFill>
            <a:srgbClr val="2F6BC4"/>
          </a:solidFill>
          <a:ln w="12700">
            <a:solidFill>
              <a:srgbClr val="2F6BC4"/>
            </a:solidFill>
            <a:prstDash val="solid"/>
          </a:ln>
        </p:spPr>
      </p:sp>
      <p:sp>
        <p:nvSpPr>
          <p:cNvPr id="13" name="Text 11"/>
          <p:cNvSpPr txBox="1"/>
          <p:nvPr/>
        </p:nvSpPr>
        <p:spPr>
          <a:xfrm>
            <a:off x="6400800" y="4626864"/>
            <a:ext cx="347472" cy="347472"/>
          </a:xfrm>
          <a:prstGeom prst="rect">
            <a:avLst/>
          </a:prstGeom>
          <a:noFill/>
          <a:ln/>
        </p:spPr>
        <p:txBody>
          <a:bodyPr wrap="square" lIns="0" tIns="0" rIns="0" bIns="0" rtlCol="0" anchor="ctr"/>
          <a:lstStyle/>
          <a:p>
            <a:pPr algn="ctr" indent="0" marL="0">
              <a:buNone/>
            </a:pPr>
            <a:r>
              <a:rPr lang="en-US" sz="1300" b="1" dirty="0">
                <a:solidFill>
                  <a:srgbClr val="0F1522"/>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6912864" y="4608576"/>
            <a:ext cx="4663440" cy="329184"/>
          </a:xfrm>
          <a:prstGeom prst="rect">
            <a:avLst/>
          </a:prstGeom>
          <a:noFill/>
          <a:ln/>
        </p:spPr>
        <p:txBody>
          <a:bodyPr wrap="square" lIns="0" tIns="0" rIns="0" bIns="0" rtlCol="0" anchor="ctr"/>
          <a:lstStyle/>
          <a:p>
            <a:pPr indent="0" marL="0">
              <a:buNone/>
            </a:pPr>
            <a:r>
              <a:rPr lang="en-US" sz="1700" b="1" dirty="0">
                <a:solidFill>
                  <a:srgbClr val="0F1522"/>
                </a:solidFill>
                <a:latin typeface="Arial" pitchFamily="34" charset="0"/>
                <a:ea typeface="Arial" pitchFamily="34" charset="-122"/>
                <a:cs typeface="Arial" pitchFamily="34" charset="-120"/>
              </a:rPr>
              <a:t>How it works</a:t>
            </a:r>
            <a:endParaRPr lang="en-US" sz="1700" dirty="0"/>
          </a:p>
        </p:txBody>
      </p:sp>
      <p:sp>
        <p:nvSpPr>
          <p:cNvPr id="15" name="Text 13"/>
          <p:cNvSpPr txBox="1"/>
          <p:nvPr/>
        </p:nvSpPr>
        <p:spPr>
          <a:xfrm>
            <a:off x="6912864" y="4974336"/>
            <a:ext cx="4663440" cy="457200"/>
          </a:xfrm>
          <a:prstGeom prst="rect">
            <a:avLst/>
          </a:prstGeom>
          <a:noFill/>
          <a:ln/>
        </p:spPr>
        <p:txBody>
          <a:bodyPr wrap="square" lIns="0" tIns="0" rIns="0" bIns="0" rtlCol="0" anchor="t"/>
          <a:lstStyle/>
          <a:p>
            <a:pPr indent="0" marL="0">
              <a:lnSpc>
                <a:spcPts val="1900"/>
              </a:lnSpc>
              <a:buNone/>
            </a:pPr>
            <a:r>
              <a:rPr lang="en-US" sz="1350" dirty="0">
                <a:solidFill>
                  <a:srgbClr val="4B5565"/>
                </a:solidFill>
                <a:latin typeface="Calibri" pitchFamily="34" charset="0"/>
                <a:ea typeface="Calibri" pitchFamily="34" charset="-122"/>
                <a:cs typeface="Calibri" pitchFamily="34" charset="-120"/>
              </a:rPr>
              <a:t>Two minutes, covering where the data lives.</a:t>
            </a:r>
            <a:endParaRPr lang="en-US" sz="1350" dirty="0"/>
          </a:p>
        </p:txBody>
      </p:sp>
      <p:sp>
        <p:nvSpPr>
          <p:cNvPr id="16" name="Text 14"/>
          <p:cNvSpPr txBox="1"/>
          <p:nvPr/>
        </p:nvSpPr>
        <p:spPr>
          <a:xfrm>
            <a:off x="6400800" y="5715000"/>
            <a:ext cx="5175504" cy="365760"/>
          </a:xfrm>
          <a:prstGeom prst="rect">
            <a:avLst/>
          </a:prstGeom>
          <a:noFill/>
          <a:ln/>
        </p:spPr>
        <p:txBody>
          <a:bodyPr wrap="square" lIns="0" tIns="0" rIns="0" bIns="0" rtlCol="0" anchor="ctr"/>
          <a:lstStyle/>
          <a:p>
            <a:pPr indent="0" marL="0">
              <a:buNone/>
            </a:pPr>
            <a:r>
              <a:rPr lang="en-US" sz="1300" i="1" dirty="0">
                <a:solidFill>
                  <a:srgbClr val="6B7485"/>
                </a:solidFill>
                <a:latin typeface="Calibri" pitchFamily="34" charset="0"/>
                <a:ea typeface="Calibri" pitchFamily="34" charset="-122"/>
                <a:cs typeface="Calibri" pitchFamily="34" charset="-120"/>
              </a:rPr>
              <a:t>The card ticks each step off and disappears for good once they are done.</a:t>
            </a:r>
            <a:endParaRPr lang="en-US" sz="1300" dirty="0"/>
          </a:p>
        </p:txBody>
      </p:sp>
      <p:sp>
        <p:nvSpPr>
          <p:cNvPr id="17" name="Shape 15"/>
          <p:cNvSpPr/>
          <p:nvPr/>
        </p:nvSpPr>
        <p:spPr>
          <a:xfrm>
            <a:off x="1303020" y="589788"/>
            <a:ext cx="2714598" cy="5715000"/>
          </a:xfrm>
          <a:prstGeom prst="roundRect">
            <a:avLst>
              <a:gd name="adj" fmla="val 7411"/>
            </a:avLst>
          </a:prstGeom>
          <a:solidFill>
            <a:srgbClr val="DDE3EC"/>
          </a:solidFill>
          <a:ln w="12700">
            <a:solidFill>
              <a:srgbClr val="DDE3EC"/>
            </a:solidFill>
            <a:prstDash val="solid"/>
          </a:ln>
        </p:spPr>
      </p:sp>
      <p:pic>
        <p:nvPicPr>
          <p:cNvPr id="18" name="Image 0" descr="shots/setup-card.png">    </p:cNvPr>
          <p:cNvPicPr>
            <a:picLocks noChangeAspect="1"/>
          </p:cNvPicPr>
          <p:nvPr/>
        </p:nvPicPr>
        <p:blipFill>
          <a:blip r:embed="rId1"/>
          <a:stretch>
            <a:fillRect/>
          </a:stretch>
        </p:blipFill>
        <p:spPr>
          <a:xfrm>
            <a:off x="1371600" y="658368"/>
            <a:ext cx="2577438" cy="55778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566928"/>
            <a:ext cx="6766560" cy="237744"/>
          </a:xfrm>
          <a:prstGeom prst="rect">
            <a:avLst/>
          </a:prstGeom>
          <a:noFill/>
          <a:ln/>
        </p:spPr>
        <p:txBody>
          <a:bodyPr wrap="square" lIns="0" tIns="0" rIns="0" bIns="0" rtlCol="0" anchor="ctr"/>
          <a:lstStyle/>
          <a:p>
            <a:pPr indent="0" marL="0">
              <a:buNone/>
            </a:pPr>
            <a:r>
              <a:rPr lang="en-US" sz="1100" b="1" spc="240" kern="0" dirty="0">
                <a:solidFill>
                  <a:srgbClr val="2F6BC4"/>
                </a:solidFill>
                <a:latin typeface="Arial" pitchFamily="34" charset="0"/>
                <a:ea typeface="Arial" pitchFamily="34" charset="-122"/>
                <a:cs typeface="Arial" pitchFamily="34" charset="-120"/>
              </a:rPr>
              <a:t>WHAT IT IS WORTH</a:t>
            </a:r>
            <a:endParaRPr lang="en-US" sz="1100" dirty="0"/>
          </a:p>
        </p:txBody>
      </p:sp>
      <p:sp>
        <p:nvSpPr>
          <p:cNvPr id="3" name="Text 1"/>
          <p:cNvSpPr txBox="1"/>
          <p:nvPr/>
        </p:nvSpPr>
        <p:spPr>
          <a:xfrm>
            <a:off x="566928" y="877824"/>
            <a:ext cx="6766560" cy="1280160"/>
          </a:xfrm>
          <a:prstGeom prst="rect">
            <a:avLst/>
          </a:prstGeom>
          <a:noFill/>
          <a:ln/>
        </p:spPr>
        <p:txBody>
          <a:bodyPr wrap="square" lIns="0" tIns="0" rIns="0" bIns="0" rtlCol="0" anchor="ctr"/>
          <a:lstStyle/>
          <a:p>
            <a:pPr indent="0" marL="0">
              <a:lnSpc>
                <a:spcPts val="4000"/>
              </a:lnSpc>
              <a:buNone/>
            </a:pPr>
            <a:r>
              <a:rPr lang="en-US" sz="3200" b="1" dirty="0">
                <a:solidFill>
                  <a:srgbClr val="0F1522"/>
                </a:solidFill>
                <a:latin typeface="Arial" pitchFamily="34" charset="0"/>
                <a:ea typeface="Arial" pitchFamily="34" charset="-122"/>
                <a:cs typeface="Arial" pitchFamily="34" charset="-120"/>
              </a:rPr>
              <a:t>Hours, converted into</a:t>
            </a:r>
            <a:endParaRPr lang="en-US" sz="3200" dirty="0"/>
          </a:p>
          <a:p>
            <a:pPr indent="0" marL="0">
              <a:lnSpc>
                <a:spcPts val="4000"/>
              </a:lnSpc>
              <a:buNone/>
            </a:pPr>
            <a:r>
              <a:rPr lang="en-US" sz="3200" b="1" dirty="0">
                <a:solidFill>
                  <a:srgbClr val="0F1522"/>
                </a:solidFill>
                <a:latin typeface="Arial" pitchFamily="34" charset="0"/>
                <a:ea typeface="Arial" pitchFamily="34" charset="-122"/>
                <a:cs typeface="Arial" pitchFamily="34" charset="-120"/>
              </a:rPr>
              <a:t>what reaches your bank.</a:t>
            </a:r>
            <a:endParaRPr lang="en-US" sz="3200" dirty="0"/>
          </a:p>
        </p:txBody>
      </p:sp>
      <p:sp>
        <p:nvSpPr>
          <p:cNvPr id="4" name="Shape 2"/>
          <p:cNvSpPr/>
          <p:nvPr/>
        </p:nvSpPr>
        <p:spPr>
          <a:xfrm>
            <a:off x="566928" y="2377440"/>
            <a:ext cx="6720840" cy="1371600"/>
          </a:xfrm>
          <a:prstGeom prst="roundRect">
            <a:avLst>
              <a:gd name="adj" fmla="val 8000"/>
            </a:avLst>
          </a:prstGeom>
          <a:solidFill>
            <a:srgbClr val="F2F2F7"/>
          </a:solidFill>
          <a:ln w="12700">
            <a:solidFill>
              <a:srgbClr val="DDE3EC"/>
            </a:solidFill>
            <a:prstDash val="solid"/>
          </a:ln>
        </p:spPr>
      </p:sp>
      <p:sp>
        <p:nvSpPr>
          <p:cNvPr id="5" name="Text 3"/>
          <p:cNvSpPr txBox="1"/>
          <p:nvPr/>
        </p:nvSpPr>
        <p:spPr>
          <a:xfrm>
            <a:off x="859536" y="2578608"/>
            <a:ext cx="6126480" cy="219456"/>
          </a:xfrm>
          <a:prstGeom prst="rect">
            <a:avLst/>
          </a:prstGeom>
          <a:noFill/>
          <a:ln/>
        </p:spPr>
        <p:txBody>
          <a:bodyPr wrap="square" lIns="0" tIns="0" rIns="0" bIns="0" rtlCol="0" anchor="ctr"/>
          <a:lstStyle/>
          <a:p>
            <a:pPr indent="0" marL="0">
              <a:buNone/>
            </a:pPr>
            <a:r>
              <a:rPr lang="en-US" sz="1000" spc="160" kern="0" dirty="0">
                <a:solidFill>
                  <a:srgbClr val="6B7485"/>
                </a:solidFill>
                <a:latin typeface="Arial" pitchFamily="34" charset="0"/>
                <a:ea typeface="Arial" pitchFamily="34" charset="-122"/>
                <a:cs typeface="Arial" pitchFamily="34" charset="-120"/>
              </a:rPr>
              <a:t>WEEKLY TARGET</a:t>
            </a:r>
            <a:endParaRPr lang="en-US" sz="1000" dirty="0"/>
          </a:p>
        </p:txBody>
      </p:sp>
      <p:sp>
        <p:nvSpPr>
          <p:cNvPr id="6" name="Text 4"/>
          <p:cNvSpPr txBox="1"/>
          <p:nvPr/>
        </p:nvSpPr>
        <p:spPr>
          <a:xfrm>
            <a:off x="859536" y="2852928"/>
            <a:ext cx="6126480" cy="457200"/>
          </a:xfrm>
          <a:prstGeom prst="rect">
            <a:avLst/>
          </a:prstGeom>
          <a:noFill/>
          <a:ln/>
        </p:spPr>
        <p:txBody>
          <a:bodyPr wrap="square" lIns="0" tIns="0" rIns="0" bIns="0" rtlCol="0" anchor="ctr"/>
          <a:lstStyle/>
          <a:p>
            <a:pPr indent="0" marL="0">
              <a:buNone/>
            </a:pPr>
            <a:r>
              <a:rPr lang="en-US" sz="1900" dirty="0">
                <a:solidFill>
                  <a:srgbClr val="0F1522"/>
                </a:solidFill>
                <a:latin typeface="Arial" pitchFamily="34" charset="0"/>
                <a:ea typeface="Arial" pitchFamily="34" charset="-122"/>
                <a:cs typeface="Arial" pitchFamily="34" charset="-120"/>
              </a:rPr>
              <a:t>40.0h</a:t>
            </a:r>
            <a:pPr indent="0" marL="0">
              <a:buNone/>
            </a:pPr>
            <a:r>
              <a:rPr lang="en-US" sz="1900" dirty="0">
                <a:solidFill>
                  <a:srgbClr val="6B7485"/>
                </a:solidFill>
                <a:latin typeface="Arial" pitchFamily="34" charset="0"/>
                <a:ea typeface="Arial" pitchFamily="34" charset="-122"/>
                <a:cs typeface="Arial" pitchFamily="34" charset="-120"/>
              </a:rPr>
              <a:t>  rostered  ×  </a:t>
            </a:r>
            <a:pPr indent="0" marL="0">
              <a:buNone/>
            </a:pPr>
            <a:r>
              <a:rPr lang="en-US" sz="1900" dirty="0">
                <a:solidFill>
                  <a:srgbClr val="0F1522"/>
                </a:solidFill>
                <a:latin typeface="Arial" pitchFamily="34" charset="0"/>
                <a:ea typeface="Arial" pitchFamily="34" charset="-122"/>
                <a:cs typeface="Arial" pitchFamily="34" charset="-120"/>
              </a:rPr>
              <a:t>80%</a:t>
            </a:r>
            <a:pPr indent="0" marL="0">
              <a:buNone/>
            </a:pPr>
            <a:r>
              <a:rPr lang="en-US" sz="1900" dirty="0">
                <a:solidFill>
                  <a:srgbClr val="6B7485"/>
                </a:solidFill>
                <a:latin typeface="Arial" pitchFamily="34" charset="0"/>
                <a:ea typeface="Arial" pitchFamily="34" charset="-122"/>
                <a:cs typeface="Arial" pitchFamily="34" charset="-120"/>
              </a:rPr>
              <a:t>   =   </a:t>
            </a:r>
            <a:pPr indent="0" marL="0">
              <a:buNone/>
            </a:pPr>
            <a:r>
              <a:rPr lang="en-US" sz="1900" b="1" dirty="0">
                <a:solidFill>
                  <a:srgbClr val="2F6BC4"/>
                </a:solidFill>
                <a:latin typeface="Arial" pitchFamily="34" charset="0"/>
                <a:ea typeface="Arial" pitchFamily="34" charset="-122"/>
                <a:cs typeface="Arial" pitchFamily="34" charset="-120"/>
              </a:rPr>
              <a:t>32.0h</a:t>
            </a:r>
            <a:endParaRPr lang="en-US" sz="1900" dirty="0"/>
          </a:p>
        </p:txBody>
      </p:sp>
      <p:sp>
        <p:nvSpPr>
          <p:cNvPr id="7" name="Text 5"/>
          <p:cNvSpPr txBox="1"/>
          <p:nvPr/>
        </p:nvSpPr>
        <p:spPr>
          <a:xfrm>
            <a:off x="859536" y="3310128"/>
            <a:ext cx="6126480" cy="365760"/>
          </a:xfrm>
          <a:prstGeom prst="rect">
            <a:avLst/>
          </a:prstGeom>
          <a:noFill/>
          <a:ln/>
        </p:spPr>
        <p:txBody>
          <a:bodyPr wrap="square" lIns="0" tIns="0" rIns="0" bIns="0" rtlCol="0" anchor="ctr"/>
          <a:lstStyle/>
          <a:p>
            <a:pPr indent="0" marL="0">
              <a:buNone/>
            </a:pPr>
            <a:r>
              <a:rPr lang="en-US" sz="1200" dirty="0">
                <a:solidFill>
                  <a:srgbClr val="6B7485"/>
                </a:solidFill>
                <a:latin typeface="Calibri" pitchFamily="34" charset="0"/>
                <a:ea typeface="Calibri" pitchFamily="34" charset="-122"/>
                <a:cs typeface="Calibri" pitchFamily="34" charset="-120"/>
              </a:rPr>
              <a:t>The 80% is a buffer for travel and performance factor. After four logged weeks it uses your own rolling average instead.</a:t>
            </a:r>
            <a:endParaRPr lang="en-US" sz="1200" dirty="0"/>
          </a:p>
        </p:txBody>
      </p:sp>
      <p:sp>
        <p:nvSpPr>
          <p:cNvPr id="8" name="Shape 6"/>
          <p:cNvSpPr/>
          <p:nvPr/>
        </p:nvSpPr>
        <p:spPr>
          <a:xfrm>
            <a:off x="566928" y="3931920"/>
            <a:ext cx="6720840" cy="1691640"/>
          </a:xfrm>
          <a:prstGeom prst="roundRect">
            <a:avLst>
              <a:gd name="adj" fmla="val 6486"/>
            </a:avLst>
          </a:prstGeom>
          <a:solidFill>
            <a:srgbClr val="F2F2F7"/>
          </a:solidFill>
          <a:ln w="12700">
            <a:solidFill>
              <a:srgbClr val="2F6BC4"/>
            </a:solidFill>
            <a:prstDash val="solid"/>
          </a:ln>
        </p:spPr>
      </p:sp>
      <p:sp>
        <p:nvSpPr>
          <p:cNvPr id="9" name="Text 7"/>
          <p:cNvSpPr txBox="1"/>
          <p:nvPr/>
        </p:nvSpPr>
        <p:spPr>
          <a:xfrm>
            <a:off x="859536" y="4133088"/>
            <a:ext cx="6126480" cy="219456"/>
          </a:xfrm>
          <a:prstGeom prst="rect">
            <a:avLst/>
          </a:prstGeom>
          <a:noFill/>
          <a:ln/>
        </p:spPr>
        <p:txBody>
          <a:bodyPr wrap="square" lIns="0" tIns="0" rIns="0" bIns="0" rtlCol="0" anchor="ctr"/>
          <a:lstStyle/>
          <a:p>
            <a:pPr indent="0" marL="0">
              <a:buNone/>
            </a:pPr>
            <a:r>
              <a:rPr lang="en-US" sz="1000" spc="160" kern="0" dirty="0">
                <a:solidFill>
                  <a:srgbClr val="6B7485"/>
                </a:solidFill>
                <a:latin typeface="Arial" pitchFamily="34" charset="0"/>
                <a:ea typeface="Arial" pitchFamily="34" charset="-122"/>
                <a:cs typeface="Arial" pitchFamily="34" charset="-120"/>
              </a:rPr>
              <a:t>CASH-OUT</a:t>
            </a:r>
            <a:endParaRPr lang="en-US" sz="1000" dirty="0"/>
          </a:p>
        </p:txBody>
      </p:sp>
      <p:sp>
        <p:nvSpPr>
          <p:cNvPr id="10" name="Text 8"/>
          <p:cNvSpPr txBox="1"/>
          <p:nvPr/>
        </p:nvSpPr>
        <p:spPr>
          <a:xfrm>
            <a:off x="859536" y="4407408"/>
            <a:ext cx="6126480" cy="384048"/>
          </a:xfrm>
          <a:prstGeom prst="rect">
            <a:avLst/>
          </a:prstGeom>
          <a:noFill/>
          <a:ln/>
        </p:spPr>
        <p:txBody>
          <a:bodyPr wrap="square" lIns="0" tIns="0" rIns="0" bIns="0" rtlCol="0" anchor="ctr"/>
          <a:lstStyle/>
          <a:p>
            <a:pPr indent="0" marL="0">
              <a:buNone/>
            </a:pPr>
            <a:r>
              <a:rPr lang="en-US" sz="1700" dirty="0">
                <a:solidFill>
                  <a:srgbClr val="0F1522"/>
                </a:solidFill>
                <a:latin typeface="Arial" pitchFamily="34" charset="0"/>
                <a:ea typeface="Arial" pitchFamily="34" charset="-122"/>
                <a:cs typeface="Arial" pitchFamily="34" charset="-120"/>
              </a:rPr>
              <a:t>17.23h</a:t>
            </a:r>
            <a:pPr indent="0" marL="0">
              <a:buNone/>
            </a:pPr>
            <a:r>
              <a:rPr lang="en-US" sz="1700" dirty="0">
                <a:solidFill>
                  <a:srgbClr val="6B7485"/>
                </a:solidFill>
                <a:latin typeface="Arial" pitchFamily="34" charset="0"/>
                <a:ea typeface="Arial" pitchFamily="34" charset="-122"/>
                <a:cs typeface="Arial" pitchFamily="34" charset="-120"/>
              </a:rPr>
              <a:t>  ×  </a:t>
            </a:r>
            <a:pPr indent="0" marL="0">
              <a:buNone/>
            </a:pPr>
            <a:r>
              <a:rPr lang="en-US" sz="1700" dirty="0">
                <a:solidFill>
                  <a:srgbClr val="0F1522"/>
                </a:solidFill>
                <a:latin typeface="Arial" pitchFamily="34" charset="0"/>
                <a:ea typeface="Arial" pitchFamily="34" charset="-122"/>
                <a:cs typeface="Arial" pitchFamily="34" charset="-120"/>
              </a:rPr>
              <a:t>£19.39</a:t>
            </a:r>
            <a:pPr indent="0" marL="0">
              <a:buNone/>
            </a:pPr>
            <a:r>
              <a:rPr lang="en-US" sz="1700" dirty="0">
                <a:solidFill>
                  <a:srgbClr val="6B7485"/>
                </a:solidFill>
                <a:latin typeface="Arial" pitchFamily="34" charset="0"/>
                <a:ea typeface="Arial" pitchFamily="34" charset="-122"/>
                <a:cs typeface="Arial" pitchFamily="34" charset="-120"/>
              </a:rPr>
              <a:t>  ×  </a:t>
            </a:r>
            <a:pPr indent="0" marL="0">
              <a:buNone/>
            </a:pPr>
            <a:r>
              <a:rPr lang="en-US" sz="1700" dirty="0">
                <a:solidFill>
                  <a:srgbClr val="0F1522"/>
                </a:solidFill>
                <a:latin typeface="Arial" pitchFamily="34" charset="0"/>
                <a:ea typeface="Arial" pitchFamily="34" charset="-122"/>
                <a:cs typeface="Arial" pitchFamily="34" charset="-120"/>
              </a:rPr>
              <a:t>1.4×</a:t>
            </a:r>
            <a:pPr indent="0" marL="0">
              <a:buNone/>
            </a:pPr>
            <a:r>
              <a:rPr lang="en-US" sz="1700" dirty="0">
                <a:solidFill>
                  <a:srgbClr val="6B7485"/>
                </a:solidFill>
                <a:latin typeface="Arial" pitchFamily="34" charset="0"/>
                <a:ea typeface="Arial" pitchFamily="34" charset="-122"/>
                <a:cs typeface="Arial" pitchFamily="34" charset="-120"/>
              </a:rPr>
              <a:t>  − 28%</a:t>
            </a:r>
            <a:endParaRPr lang="en-US" sz="1700" dirty="0"/>
          </a:p>
        </p:txBody>
      </p:sp>
      <p:sp>
        <p:nvSpPr>
          <p:cNvPr id="11" name="Text 9"/>
          <p:cNvSpPr txBox="1"/>
          <p:nvPr/>
        </p:nvSpPr>
        <p:spPr>
          <a:xfrm>
            <a:off x="859536" y="4846320"/>
            <a:ext cx="6126480" cy="548640"/>
          </a:xfrm>
          <a:prstGeom prst="rect">
            <a:avLst/>
          </a:prstGeom>
          <a:noFill/>
          <a:ln/>
        </p:spPr>
        <p:txBody>
          <a:bodyPr wrap="square" lIns="0" tIns="0" rIns="0" bIns="0" rtlCol="0" anchor="ctr"/>
          <a:lstStyle/>
          <a:p>
            <a:pPr indent="0" marL="0">
              <a:buNone/>
            </a:pPr>
            <a:r>
              <a:rPr lang="en-US" sz="3400" b="1" dirty="0">
                <a:solidFill>
                  <a:srgbClr val="1F8A4C"/>
                </a:solidFill>
                <a:latin typeface="Arial" pitchFamily="34" charset="0"/>
                <a:ea typeface="Arial" pitchFamily="34" charset="-122"/>
                <a:cs typeface="Arial" pitchFamily="34" charset="-120"/>
              </a:rPr>
              <a:t>£336.83</a:t>
            </a:r>
            <a:pPr indent="0" marL="0">
              <a:buNone/>
            </a:pPr>
            <a:r>
              <a:rPr lang="en-US" sz="1500" dirty="0">
                <a:solidFill>
                  <a:srgbClr val="6B7485"/>
                </a:solidFill>
                <a:latin typeface="Arial" pitchFamily="34" charset="0"/>
                <a:ea typeface="Arial" pitchFamily="34" charset="-122"/>
                <a:cs typeface="Arial" pitchFamily="34" charset="-120"/>
              </a:rPr>
              <a:t>   take-home</a:t>
            </a:r>
            <a:endParaRPr lang="en-US" sz="3400" dirty="0"/>
          </a:p>
        </p:txBody>
      </p:sp>
      <p:sp>
        <p:nvSpPr>
          <p:cNvPr id="12" name="Text 10"/>
          <p:cNvSpPr txBox="1"/>
          <p:nvPr/>
        </p:nvSpPr>
        <p:spPr>
          <a:xfrm>
            <a:off x="566928" y="5897880"/>
            <a:ext cx="6720840" cy="365760"/>
          </a:xfrm>
          <a:prstGeom prst="rect">
            <a:avLst/>
          </a:prstGeom>
          <a:noFill/>
          <a:ln/>
        </p:spPr>
        <p:txBody>
          <a:bodyPr wrap="square" lIns="0" tIns="0" rIns="0" bIns="0" rtlCol="0" anchor="ctr"/>
          <a:lstStyle/>
          <a:p>
            <a:pPr indent="0" marL="0">
              <a:buNone/>
            </a:pPr>
            <a:r>
              <a:rPr lang="en-US" sz="1300" i="1" dirty="0">
                <a:solidFill>
                  <a:srgbClr val="6B7485"/>
                </a:solidFill>
                <a:latin typeface="Calibri" pitchFamily="34" charset="0"/>
                <a:ea typeface="Calibri" pitchFamily="34" charset="-122"/>
                <a:cs typeface="Calibri" pitchFamily="34" charset="-120"/>
              </a:rPr>
              <a:t>The arithmetic is printed under the figure in the app, so it can be checked rather than trusted.</a:t>
            </a:r>
            <a:endParaRPr lang="en-US" sz="1300" dirty="0"/>
          </a:p>
        </p:txBody>
      </p:sp>
      <p:sp>
        <p:nvSpPr>
          <p:cNvPr id="13" name="Shape 11"/>
          <p:cNvSpPr/>
          <p:nvPr/>
        </p:nvSpPr>
        <p:spPr>
          <a:xfrm>
            <a:off x="8206740" y="589788"/>
            <a:ext cx="2714598" cy="5715000"/>
          </a:xfrm>
          <a:prstGeom prst="roundRect">
            <a:avLst>
              <a:gd name="adj" fmla="val 7411"/>
            </a:avLst>
          </a:prstGeom>
          <a:solidFill>
            <a:srgbClr val="DDE3EC"/>
          </a:solidFill>
          <a:ln w="12700">
            <a:solidFill>
              <a:srgbClr val="DDE3EC"/>
            </a:solidFill>
            <a:prstDash val="solid"/>
          </a:ln>
        </p:spPr>
      </p:sp>
      <p:pic>
        <p:nvPicPr>
          <p:cNvPr id="14" name="Image 0" descr="shots/cashout-sheet.png">    </p:cNvPr>
          <p:cNvPicPr>
            <a:picLocks noChangeAspect="1"/>
          </p:cNvPicPr>
          <p:nvPr/>
        </p:nvPicPr>
        <p:blipFill>
          <a:blip r:embed="rId1"/>
          <a:stretch>
            <a:fillRect/>
          </a:stretch>
        </p:blipFill>
        <p:spPr>
          <a:xfrm>
            <a:off x="8275320" y="658368"/>
            <a:ext cx="2577438" cy="55778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09360" y="566928"/>
            <a:ext cx="5349240" cy="237744"/>
          </a:xfrm>
          <a:prstGeom prst="rect">
            <a:avLst/>
          </a:prstGeom>
          <a:noFill/>
          <a:ln/>
        </p:spPr>
        <p:txBody>
          <a:bodyPr wrap="square" lIns="0" tIns="0" rIns="0" bIns="0" rtlCol="0" anchor="ctr"/>
          <a:lstStyle/>
          <a:p>
            <a:pPr indent="0" marL="0">
              <a:buNone/>
            </a:pPr>
            <a:r>
              <a:rPr lang="en-US" sz="1100" b="1" spc="240" kern="0" dirty="0">
                <a:solidFill>
                  <a:srgbClr val="2F6BC4"/>
                </a:solidFill>
                <a:latin typeface="Arial" pitchFamily="34" charset="0"/>
                <a:ea typeface="Arial" pitchFamily="34" charset="-122"/>
                <a:cs typeface="Arial" pitchFamily="34" charset="-120"/>
              </a:rPr>
              <a:t>WHERE YOU STAND</a:t>
            </a:r>
            <a:endParaRPr lang="en-US" sz="1100" dirty="0"/>
          </a:p>
        </p:txBody>
      </p:sp>
      <p:sp>
        <p:nvSpPr>
          <p:cNvPr id="3" name="Text 1"/>
          <p:cNvSpPr txBox="1"/>
          <p:nvPr/>
        </p:nvSpPr>
        <p:spPr>
          <a:xfrm>
            <a:off x="6309360" y="877824"/>
            <a:ext cx="5349240" cy="1280160"/>
          </a:xfrm>
          <a:prstGeom prst="rect">
            <a:avLst/>
          </a:prstGeom>
          <a:noFill/>
          <a:ln/>
        </p:spPr>
        <p:txBody>
          <a:bodyPr wrap="square" lIns="0" tIns="0" rIns="0" bIns="0" rtlCol="0" anchor="ctr"/>
          <a:lstStyle/>
          <a:p>
            <a:pPr indent="0" marL="0">
              <a:lnSpc>
                <a:spcPts val="3800"/>
              </a:lnSpc>
              <a:buNone/>
            </a:pPr>
            <a:r>
              <a:rPr lang="en-GB" sz="3000" b="1" dirty="0">
                <a:solidFill>
                  <a:srgbClr val="0F1522"/>
                </a:solidFill>
                <a:latin typeface="Arial" pitchFamily="34" charset="0"/>
                <a:ea typeface="Arial" pitchFamily="34" charset="-122"/>
                <a:cs typeface="Arial" pitchFamily="34" charset="-120"/>
              </a:rPr>
              <a:t>Every week you’ve logged,</a:t>
            </a:r>
            <a:endParaRPr lang="en-GB" sz="3000" dirty="0"/>
          </a:p>
          <a:p>
            <a:pPr indent="0" marL="0">
              <a:lnSpc>
                <a:spcPts val="3800"/>
              </a:lnSpc>
              <a:buNone/>
            </a:pPr>
            <a:r>
              <a:rPr lang="en-GB" sz="3000" b="1" dirty="0">
                <a:solidFill>
                  <a:srgbClr val="0F1522"/>
                </a:solidFill>
                <a:latin typeface="Arial" pitchFamily="34" charset="0"/>
                <a:ea typeface="Arial" pitchFamily="34" charset="-122"/>
                <a:cs typeface="Arial" pitchFamily="34" charset="-120"/>
              </a:rPr>
              <a:t>and the balance that carries.</a:t>
            </a:r>
            <a:endParaRPr lang="en-GB" sz="3000" dirty="0"/>
          </a:p>
        </p:txBody>
      </p:sp>
      <p:sp>
        <p:nvSpPr>
          <p:cNvPr id="4" name="Shape 2"/>
          <p:cNvSpPr/>
          <p:nvPr/>
        </p:nvSpPr>
        <p:spPr>
          <a:xfrm>
            <a:off x="6309360" y="2459736"/>
            <a:ext cx="173736" cy="173736"/>
          </a:xfrm>
          <a:prstGeom prst="ellipse">
            <a:avLst/>
          </a:prstGeom>
          <a:solidFill>
            <a:srgbClr val="1F8A4C"/>
          </a:solidFill>
          <a:ln w="12700">
            <a:solidFill>
              <a:srgbClr val="1F8A4C"/>
            </a:solidFill>
            <a:prstDash val="solid"/>
          </a:ln>
        </p:spPr>
      </p:sp>
      <p:sp>
        <p:nvSpPr>
          <p:cNvPr id="5" name="Text 3"/>
          <p:cNvSpPr txBox="1"/>
          <p:nvPr/>
        </p:nvSpPr>
        <p:spPr>
          <a:xfrm>
            <a:off x="6675120" y="2395728"/>
            <a:ext cx="4937760" cy="310896"/>
          </a:xfrm>
          <a:prstGeom prst="rect">
            <a:avLst/>
          </a:prstGeom>
          <a:noFill/>
          <a:ln/>
        </p:spPr>
        <p:txBody>
          <a:bodyPr wrap="square" lIns="0" tIns="0" rIns="0" bIns="0" rtlCol="0" anchor="ctr"/>
          <a:lstStyle/>
          <a:p>
            <a:pPr indent="0" marL="0">
              <a:buNone/>
            </a:pPr>
            <a:r>
              <a:rPr lang="en-US" sz="1500" dirty="0">
                <a:solidFill>
                  <a:srgbClr val="4B5565"/>
                </a:solidFill>
                <a:latin typeface="Calibri" pitchFamily="34" charset="0"/>
                <a:ea typeface="Calibri" pitchFamily="34" charset="-122"/>
                <a:cs typeface="Calibri" pitchFamily="34" charset="-120"/>
              </a:rPr>
              <a:t>Green — bonus hit</a:t>
            </a:r>
            <a:endParaRPr lang="en-US" sz="1500" dirty="0"/>
          </a:p>
        </p:txBody>
      </p:sp>
      <p:sp>
        <p:nvSpPr>
          <p:cNvPr id="6" name="Shape 4"/>
          <p:cNvSpPr/>
          <p:nvPr/>
        </p:nvSpPr>
        <p:spPr>
          <a:xfrm>
            <a:off x="6309360" y="2916936"/>
            <a:ext cx="173736" cy="173736"/>
          </a:xfrm>
          <a:prstGeom prst="ellipse">
            <a:avLst/>
          </a:prstGeom>
          <a:solidFill>
            <a:srgbClr val="D9A21B"/>
          </a:solidFill>
          <a:ln w="12700">
            <a:solidFill>
              <a:srgbClr val="D9A21B"/>
            </a:solidFill>
            <a:prstDash val="solid"/>
          </a:ln>
        </p:spPr>
      </p:sp>
      <p:sp>
        <p:nvSpPr>
          <p:cNvPr id="7" name="Text 5"/>
          <p:cNvSpPr txBox="1"/>
          <p:nvPr/>
        </p:nvSpPr>
        <p:spPr>
          <a:xfrm>
            <a:off x="6675120" y="2852928"/>
            <a:ext cx="4937760" cy="310896"/>
          </a:xfrm>
          <a:prstGeom prst="rect">
            <a:avLst/>
          </a:prstGeom>
          <a:noFill/>
          <a:ln/>
        </p:spPr>
        <p:txBody>
          <a:bodyPr wrap="square" lIns="0" tIns="0" rIns="0" bIns="0" rtlCol="0" anchor="ctr"/>
          <a:lstStyle/>
          <a:p>
            <a:pPr indent="0" marL="0">
              <a:buNone/>
            </a:pPr>
            <a:r>
              <a:rPr lang="en-US" sz="1500" dirty="0">
                <a:solidFill>
                  <a:srgbClr val="4B5565"/>
                </a:solidFill>
                <a:latin typeface="Calibri" pitchFamily="34" charset="0"/>
                <a:ea typeface="Calibri" pitchFamily="34" charset="-122"/>
                <a:cs typeface="Calibri" pitchFamily="34" charset="-120"/>
              </a:rPr>
              <a:t>Amber — on track</a:t>
            </a:r>
            <a:endParaRPr lang="en-US" sz="1500" dirty="0"/>
          </a:p>
        </p:txBody>
      </p:sp>
      <p:sp>
        <p:nvSpPr>
          <p:cNvPr id="8" name="Shape 6"/>
          <p:cNvSpPr/>
          <p:nvPr/>
        </p:nvSpPr>
        <p:spPr>
          <a:xfrm>
            <a:off x="6309360" y="3374136"/>
            <a:ext cx="173736" cy="173736"/>
          </a:xfrm>
          <a:prstGeom prst="ellipse">
            <a:avLst/>
          </a:prstGeom>
          <a:solidFill>
            <a:srgbClr val="D64545"/>
          </a:solidFill>
          <a:ln w="12700">
            <a:solidFill>
              <a:srgbClr val="D64545"/>
            </a:solidFill>
            <a:prstDash val="solid"/>
          </a:ln>
        </p:spPr>
      </p:sp>
      <p:sp>
        <p:nvSpPr>
          <p:cNvPr id="9" name="Text 7"/>
          <p:cNvSpPr txBox="1"/>
          <p:nvPr/>
        </p:nvSpPr>
        <p:spPr>
          <a:xfrm>
            <a:off x="6675120" y="3310128"/>
            <a:ext cx="4937760" cy="310896"/>
          </a:xfrm>
          <a:prstGeom prst="rect">
            <a:avLst/>
          </a:prstGeom>
          <a:noFill/>
          <a:ln/>
        </p:spPr>
        <p:txBody>
          <a:bodyPr wrap="square" lIns="0" tIns="0" rIns="0" bIns="0" rtlCol="0" anchor="ctr"/>
          <a:lstStyle/>
          <a:p>
            <a:pPr indent="0" marL="0">
              <a:buNone/>
            </a:pPr>
            <a:r>
              <a:rPr lang="en-US" sz="1500" dirty="0">
                <a:solidFill>
                  <a:srgbClr val="4B5565"/>
                </a:solidFill>
                <a:latin typeface="Calibri" pitchFamily="34" charset="0"/>
                <a:ea typeface="Calibri" pitchFamily="34" charset="-122"/>
                <a:cs typeface="Calibri" pitchFamily="34" charset="-120"/>
              </a:rPr>
              <a:t>Red — below target</a:t>
            </a:r>
            <a:endParaRPr lang="en-US" sz="1500" dirty="0"/>
          </a:p>
        </p:txBody>
      </p:sp>
      <p:sp>
        <p:nvSpPr>
          <p:cNvPr id="10" name="Text 8"/>
          <p:cNvSpPr txBox="1"/>
          <p:nvPr/>
        </p:nvSpPr>
        <p:spPr>
          <a:xfrm>
            <a:off x="6309360" y="3977640"/>
            <a:ext cx="5349240" cy="1005840"/>
          </a:xfrm>
          <a:prstGeom prst="rect">
            <a:avLst/>
          </a:prstGeom>
          <a:noFill/>
          <a:ln/>
        </p:spPr>
        <p:txBody>
          <a:bodyPr wrap="square" lIns="0" tIns="0" rIns="0" bIns="0" rtlCol="0" anchor="t"/>
          <a:lstStyle/>
          <a:p>
            <a:pPr indent="0" marL="0">
              <a:lnSpc>
                <a:spcPts val="2100"/>
              </a:lnSpc>
              <a:buNone/>
            </a:pPr>
            <a:r>
              <a:rPr lang="en-GB" sz="1400" dirty="0">
                <a:solidFill>
                  <a:srgbClr val="4B5565"/>
                </a:solidFill>
                <a:latin typeface="Calibri" pitchFamily="34" charset="0"/>
                <a:ea typeface="Calibri" pitchFamily="34" charset="-122"/>
                <a:cs typeface="Calibri" pitchFamily="34" charset="-120"/>
              </a:rPr>
              <a:t>Had a week that wasn’t a fair test? Sickness, a phased return, a week you were still getting the hang of the app. Untick it and it stays out of your balance without being deleted.</a:t>
            </a:r>
            <a:endParaRPr lang="en-GB" sz="1400" dirty="0"/>
          </a:p>
        </p:txBody>
      </p:sp>
      <p:sp>
        <p:nvSpPr>
          <p:cNvPr id="11" name="Text 9"/>
          <p:cNvSpPr txBox="1"/>
          <p:nvPr/>
        </p:nvSpPr>
        <p:spPr>
          <a:xfrm>
            <a:off x="6309360" y="5029200"/>
            <a:ext cx="5349240" cy="822960"/>
          </a:xfrm>
          <a:prstGeom prst="rect">
            <a:avLst/>
          </a:prstGeom>
          <a:noFill/>
          <a:ln/>
        </p:spPr>
        <p:txBody>
          <a:bodyPr wrap="square" lIns="0" tIns="0" rIns="0" bIns="0" rtlCol="0" anchor="ctr"/>
          <a:lstStyle/>
          <a:p>
            <a:pPr indent="0" marL="0">
              <a:lnSpc>
                <a:spcPts val="2100"/>
              </a:lnSpc>
              <a:buNone/>
            </a:pPr>
            <a:r>
              <a:rPr lang="en-GB" sz="1400" b="1" dirty="0">
                <a:solidFill>
                  <a:srgbClr val="0F1522"/>
                </a:solidFill>
                <a:latin typeface="Calibri" pitchFamily="34" charset="0"/>
                <a:ea typeface="Calibri" pitchFamily="34" charset="-122"/>
                <a:cs typeface="Calibri" pitchFamily="34" charset="-120"/>
              </a:rPr>
              <a:t>Your balance never resets.</a:t>
            </a:r>
            <a:r>
              <a:rPr lang="en-GB" sz="1400" dirty="0">
                <a:solidFill>
                  <a:srgbClr val="0F1522"/>
                </a:solidFill>
                <a:latin typeface="Calibri" pitchFamily="34" charset="0"/>
                <a:ea typeface="Calibri" pitchFamily="34" charset="-122"/>
                <a:cs typeface="Calibri" pitchFamily="34" charset="-120"/>
              </a:rPr>
              <a:t> It carries on from wherever you were already up or down, week after week.</a:t>
            </a:r>
            <a:endParaRPr lang="en-GB" sz="1400" dirty="0"/>
          </a:p>
        </p:txBody>
      </p:sp>
      <p:sp>
        <p:nvSpPr>
          <p:cNvPr id="12" name="Shape 10"/>
          <p:cNvSpPr/>
          <p:nvPr/>
        </p:nvSpPr>
        <p:spPr>
          <a:xfrm>
            <a:off x="1257300" y="589788"/>
            <a:ext cx="2714598" cy="5715000"/>
          </a:xfrm>
          <a:prstGeom prst="roundRect">
            <a:avLst>
              <a:gd name="adj" fmla="val 7411"/>
            </a:avLst>
          </a:prstGeom>
          <a:solidFill>
            <a:srgbClr val="DDE3EC"/>
          </a:solidFill>
          <a:ln w="12700">
            <a:solidFill>
              <a:srgbClr val="DDE3EC"/>
            </a:solidFill>
            <a:prstDash val="solid"/>
          </a:ln>
        </p:spPr>
      </p:sp>
      <p:pic>
        <p:nvPicPr>
          <p:cNvPr id="13" name="Image 0" descr="shots/history.png">    </p:cNvPr>
          <p:cNvPicPr>
            <a:picLocks noChangeAspect="1"/>
          </p:cNvPicPr>
          <p:nvPr/>
        </p:nvPicPr>
        <p:blipFill>
          <a:blip r:embed="rId1"/>
          <a:stretch>
            <a:fillRect/>
          </a:stretch>
        </p:blipFill>
        <p:spPr>
          <a:xfrm>
            <a:off x="1325880" y="658368"/>
            <a:ext cx="2577438" cy="5577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566928"/>
            <a:ext cx="10515600" cy="237744"/>
          </a:xfrm>
          <a:prstGeom prst="rect">
            <a:avLst/>
          </a:prstGeom>
          <a:noFill/>
          <a:ln/>
        </p:spPr>
        <p:txBody>
          <a:bodyPr wrap="square" lIns="0" tIns="0" rIns="0" bIns="0" rtlCol="0" anchor="ctr"/>
          <a:lstStyle/>
          <a:p>
            <a:pPr indent="0" marL="0">
              <a:buNone/>
            </a:pPr>
            <a:r>
              <a:rPr lang="en-GB" sz="1100" b="1" spc="240" kern="0" dirty="0">
                <a:solidFill>
                  <a:srgbClr val="2F6BC4"/>
                </a:solidFill>
                <a:latin typeface="Arial" pitchFamily="34" charset="0"/>
                <a:ea typeface="Arial" pitchFamily="34" charset="-122"/>
                <a:cs typeface="Arial" pitchFamily="34" charset="-120"/>
              </a:rPr>
              <a:t>COACH MODE AND THE DAILY CHECK-IN  ·  BOTH OPTIONAL</a:t>
            </a:r>
            <a:endParaRPr lang="en-GB" sz="1100" dirty="0"/>
          </a:p>
        </p:txBody>
      </p:sp>
      <p:sp>
        <p:nvSpPr>
          <p:cNvPr id="3" name="Text 1"/>
          <p:cNvSpPr txBox="1"/>
          <p:nvPr/>
        </p:nvSpPr>
        <p:spPr>
          <a:xfrm>
            <a:off x="566928" y="877824"/>
            <a:ext cx="10515600" cy="1280160"/>
          </a:xfrm>
          <a:prstGeom prst="rect">
            <a:avLst/>
          </a:prstGeom>
          <a:noFill/>
          <a:ln/>
        </p:spPr>
        <p:txBody>
          <a:bodyPr wrap="square" lIns="0" tIns="0" rIns="0" bIns="0" rtlCol="0" anchor="ctr"/>
          <a:lstStyle/>
          <a:p>
            <a:pPr indent="0" marL="0">
              <a:lnSpc>
                <a:spcPts val="4000"/>
              </a:lnSpc>
              <a:buNone/>
            </a:pPr>
            <a:r>
              <a:rPr lang="en-GB" sz="3200" b="1" dirty="0">
                <a:solidFill>
                  <a:srgbClr val="0F1522"/>
                </a:solidFill>
                <a:latin typeface="Arial" pitchFamily="34" charset="0"/>
                <a:ea typeface="Arial" pitchFamily="34" charset="-122"/>
                <a:cs typeface="Arial" pitchFamily="34" charset="-120"/>
              </a:rPr>
              <a:t>Coach works out the way back.</a:t>
            </a:r>
            <a:endParaRPr lang="en-GB" sz="3200" dirty="0"/>
          </a:p>
          <a:p>
            <a:pPr indent="0" marL="0">
              <a:lnSpc>
                <a:spcPts val="4000"/>
              </a:lnSpc>
              <a:buNone/>
            </a:pPr>
            <a:r>
              <a:rPr lang="en-GB" sz="3200" b="1" dirty="0">
                <a:solidFill>
                  <a:srgbClr val="0F1522"/>
                </a:solidFill>
                <a:latin typeface="Arial" pitchFamily="34" charset="0"/>
                <a:ea typeface="Arial" pitchFamily="34" charset="-122"/>
                <a:cs typeface="Arial" pitchFamily="34" charset="-120"/>
              </a:rPr>
              <a:t>The check-in is your own diary.</a:t>
            </a:r>
            <a:endParaRPr lang="en-GB" sz="3200" dirty="0"/>
          </a:p>
        </p:txBody>
      </p:sp>
      <p:sp>
        <p:nvSpPr>
          <p:cNvPr id="4" name="Shape 2"/>
          <p:cNvSpPr/>
          <p:nvPr/>
        </p:nvSpPr>
        <p:spPr>
          <a:xfrm>
            <a:off x="566928" y="2423160"/>
            <a:ext cx="5440680" cy="3840480"/>
          </a:xfrm>
          <a:prstGeom prst="roundRect">
            <a:avLst>
              <a:gd name="adj" fmla="val 2857"/>
            </a:avLst>
          </a:prstGeom>
          <a:solidFill>
            <a:srgbClr val="F2F2F7"/>
          </a:solidFill>
          <a:ln w="12700">
            <a:solidFill>
              <a:srgbClr val="DDE3EC"/>
            </a:solidFill>
            <a:prstDash val="solid"/>
          </a:ln>
        </p:spPr>
      </p:sp>
      <p:sp>
        <p:nvSpPr>
          <p:cNvPr id="5" name="Text 3"/>
          <p:cNvSpPr txBox="1"/>
          <p:nvPr/>
        </p:nvSpPr>
        <p:spPr>
          <a:xfrm>
            <a:off x="877824" y="2670048"/>
            <a:ext cx="4846320" cy="365760"/>
          </a:xfrm>
          <a:prstGeom prst="rect">
            <a:avLst/>
          </a:prstGeom>
          <a:noFill/>
          <a:ln/>
        </p:spPr>
        <p:txBody>
          <a:bodyPr wrap="square" lIns="0" tIns="0" rIns="0" bIns="0" rtlCol="0" anchor="ctr"/>
          <a:lstStyle/>
          <a:p>
            <a:pPr indent="0" marL="0">
              <a:buNone/>
            </a:pPr>
            <a:r>
              <a:rPr lang="en-GB" sz="2100" b="1" dirty="0">
                <a:solidFill>
                  <a:srgbClr val="0F1522"/>
                </a:solidFill>
                <a:latin typeface="Arial" pitchFamily="34" charset="0"/>
                <a:ea typeface="Arial" pitchFamily="34" charset="-122"/>
                <a:cs typeface="Arial" pitchFamily="34" charset="-120"/>
              </a:rPr>
              <a:t>Coach Mode</a:t>
            </a:r>
            <a:endParaRPr lang="en-GB" sz="2100" dirty="0"/>
          </a:p>
        </p:txBody>
      </p:sp>
      <p:pic>
        <p:nvPicPr>
          <p:cNvPr id="6" name="Image 0" descr="shots/coach-card.png">    </p:cNvPr>
          <p:cNvPicPr>
            <a:picLocks noChangeAspect="1"/>
          </p:cNvPicPr>
          <p:nvPr/>
        </p:nvPicPr>
        <p:blipFill>
          <a:blip r:embed="rId1"/>
          <a:stretch>
            <a:fillRect/>
          </a:stretch>
        </p:blipFill>
        <p:spPr>
          <a:xfrm>
            <a:off x="877824" y="3108960"/>
            <a:ext cx="3931920" cy="1554480"/>
          </a:xfrm>
          <a:prstGeom prst="rect">
            <a:avLst/>
          </a:prstGeom>
        </p:spPr>
      </p:pic>
      <p:sp>
        <p:nvSpPr>
          <p:cNvPr id="7" name="Text 4"/>
          <p:cNvSpPr txBox="1"/>
          <p:nvPr/>
        </p:nvSpPr>
        <p:spPr>
          <a:xfrm>
            <a:off x="877824" y="4773168"/>
            <a:ext cx="4818888" cy="1371600"/>
          </a:xfrm>
          <a:prstGeom prst="rect">
            <a:avLst/>
          </a:prstGeom>
          <a:noFill/>
          <a:ln/>
        </p:spPr>
        <p:txBody>
          <a:bodyPr wrap="square" lIns="0" tIns="0" rIns="0" bIns="0" rtlCol="0" anchor="t"/>
          <a:lstStyle/>
          <a:p>
            <a:pPr indent="0" marL="0">
              <a:lnSpc>
                <a:spcPts val="1450"/>
              </a:lnSpc>
              <a:spcAft>
                <a:spcPts val="500"/>
              </a:spcAft>
              <a:buNone/>
            </a:pPr>
            <a:r>
              <a:rPr lang="en-GB" sz="1150" b="1" dirty="0">
                <a:solidFill>
                  <a:srgbClr val="0F1522"/>
                </a:solidFill>
                <a:latin typeface="Calibri" pitchFamily="34" charset="0"/>
                <a:ea typeface="Calibri" pitchFamily="34" charset="-122"/>
                <a:cs typeface="Calibri" pitchFamily="34" charset="-120"/>
              </a:rPr>
              <a:t>Your run rate.</a:t>
            </a:r>
            <a:r>
              <a:rPr lang="en-GB" sz="1150" dirty="0">
                <a:solidFill>
                  <a:srgbClr val="0F1522"/>
                </a:solidFill>
                <a:latin typeface="Calibri" pitchFamily="34" charset="0"/>
                <a:ea typeface="Calibri" pitchFamily="34" charset="-122"/>
                <a:cs typeface="Calibri" pitchFamily="34" charset="-120"/>
              </a:rPr>
              <a:t> How many jobs, or how many hours, get a deficit down, and by when. Keep going as you are today and it tells you where you’ll be in ten days.</a:t>
            </a:r>
            <a:endParaRPr lang="en-GB" sz="1150" dirty="0"/>
          </a:p>
          <a:p>
            <a:pPr indent="0" marL="0">
              <a:lnSpc>
                <a:spcPts val="1450"/>
              </a:lnSpc>
              <a:spcAft>
                <a:spcPts val="500"/>
              </a:spcAft>
              <a:buNone/>
            </a:pPr>
            <a:r>
              <a:rPr lang="en-GB" sz="1150" b="1" dirty="0">
                <a:solidFill>
                  <a:srgbClr val="0F1522"/>
                </a:solidFill>
                <a:latin typeface="Calibri" pitchFamily="34" charset="0"/>
                <a:ea typeface="Calibri" pitchFamily="34" charset="-122"/>
                <a:cs typeface="Calibri" pitchFamily="34" charset="-120"/>
              </a:rPr>
              <a:t>What lifts the balance most.</a:t>
            </a:r>
            <a:r>
              <a:rPr lang="en-GB" sz="1150" dirty="0">
                <a:solidFill>
                  <a:srgbClr val="0F1522"/>
                </a:solidFill>
                <a:latin typeface="Calibri" pitchFamily="34" charset="0"/>
                <a:ea typeface="Calibri" pitchFamily="34" charset="-122"/>
                <a:cs typeface="Calibri" pitchFamily="34" charset="-120"/>
              </a:rPr>
              <a:t> On the visit you’re already on: a Hive, an inhibitor, a CO alarm, a boiler lead. It shows what each one is worth against today’s gap.</a:t>
            </a:r>
            <a:endParaRPr lang="en-GB" sz="1150" dirty="0"/>
          </a:p>
          <a:p>
            <a:pPr indent="0" marL="0">
              <a:lnSpc>
                <a:spcPts val="1450"/>
              </a:lnSpc>
              <a:spcAft>
                <a:spcPts val="500"/>
              </a:spcAft>
              <a:buNone/>
            </a:pPr>
            <a:r>
              <a:rPr lang="en-GB" sz="1150" b="1" dirty="0">
                <a:solidFill>
                  <a:srgbClr val="0F1522"/>
                </a:solidFill>
                <a:latin typeface="Calibri" pitchFamily="34" charset="0"/>
                <a:ea typeface="Calibri" pitchFamily="34" charset="-122"/>
                <a:cs typeface="Calibri" pitchFamily="34" charset="-120"/>
              </a:rPr>
              <a:t>Never dispatched work.</a:t>
            </a:r>
            <a:r>
              <a:rPr lang="en-GB" sz="1150" dirty="0">
                <a:solidFill>
                  <a:srgbClr val="0F1522"/>
                </a:solidFill>
                <a:latin typeface="Calibri" pitchFamily="34" charset="0"/>
                <a:ea typeface="Calibri" pitchFamily="34" charset="-122"/>
                <a:cs typeface="Calibri" pitchFamily="34" charset="-120"/>
              </a:rPr>
              <a:t> It won’t suggest a service or a repair you weren’t given, so it can’t nudge anyone into raising work that wasn’t done.</a:t>
            </a:r>
            <a:endParaRPr lang="en-GB" sz="1150" dirty="0"/>
          </a:p>
        </p:txBody>
      </p:sp>
      <p:sp>
        <p:nvSpPr>
          <p:cNvPr id="8" name="Shape 5"/>
          <p:cNvSpPr/>
          <p:nvPr/>
        </p:nvSpPr>
        <p:spPr>
          <a:xfrm>
            <a:off x="6373368" y="2423160"/>
            <a:ext cx="5440680" cy="3840480"/>
          </a:xfrm>
          <a:prstGeom prst="roundRect">
            <a:avLst>
              <a:gd name="adj" fmla="val 2857"/>
            </a:avLst>
          </a:prstGeom>
          <a:solidFill>
            <a:srgbClr val="F2F2F7"/>
          </a:solidFill>
          <a:ln w="12700">
            <a:solidFill>
              <a:srgbClr val="DDE3EC"/>
            </a:solidFill>
            <a:prstDash val="solid"/>
          </a:ln>
        </p:spPr>
      </p:sp>
      <p:sp>
        <p:nvSpPr>
          <p:cNvPr id="9" name="Text 6"/>
          <p:cNvSpPr txBox="1"/>
          <p:nvPr/>
        </p:nvSpPr>
        <p:spPr>
          <a:xfrm>
            <a:off x="6684264" y="2670048"/>
            <a:ext cx="4846320" cy="365760"/>
          </a:xfrm>
          <a:prstGeom prst="rect">
            <a:avLst/>
          </a:prstGeom>
          <a:noFill/>
          <a:ln/>
        </p:spPr>
        <p:txBody>
          <a:bodyPr wrap="square" lIns="0" tIns="0" rIns="0" bIns="0" rtlCol="0" anchor="ctr"/>
          <a:lstStyle/>
          <a:p>
            <a:pPr indent="0" marL="0">
              <a:buNone/>
            </a:pPr>
            <a:r>
              <a:rPr lang="en-GB" sz="2100" b="1" dirty="0">
                <a:solidFill>
                  <a:srgbClr val="0F1522"/>
                </a:solidFill>
                <a:latin typeface="Arial" pitchFamily="34" charset="0"/>
                <a:ea typeface="Arial" pitchFamily="34" charset="-122"/>
                <a:cs typeface="Arial" pitchFamily="34" charset="-120"/>
              </a:rPr>
              <a:t>The daily check-in</a:t>
            </a:r>
            <a:endParaRPr lang="en-GB" sz="2100" dirty="0"/>
          </a:p>
        </p:txBody>
      </p:sp>
      <p:pic>
        <p:nvPicPr>
          <p:cNvPr id="10" name="Image 1" descr="shots/checkin-card.png">    </p:cNvPr>
          <p:cNvPicPr>
            <a:picLocks noChangeAspect="1"/>
          </p:cNvPicPr>
          <p:nvPr/>
        </p:nvPicPr>
        <p:blipFill>
          <a:blip r:embed="rId2"/>
          <a:stretch>
            <a:fillRect/>
          </a:stretch>
        </p:blipFill>
        <p:spPr>
          <a:xfrm>
            <a:off x="6684264" y="3127248"/>
            <a:ext cx="4818888" cy="928780"/>
          </a:xfrm>
          <a:prstGeom prst="rect">
            <a:avLst/>
          </a:prstGeom>
        </p:spPr>
      </p:pic>
      <p:sp>
        <p:nvSpPr>
          <p:cNvPr id="11" name="Text 7"/>
          <p:cNvSpPr txBox="1"/>
          <p:nvPr/>
        </p:nvSpPr>
        <p:spPr>
          <a:xfrm>
            <a:off x="6684264" y="4224528"/>
            <a:ext cx="4818888" cy="1874519"/>
          </a:xfrm>
          <a:prstGeom prst="rect">
            <a:avLst/>
          </a:prstGeom>
          <a:noFill/>
          <a:ln/>
        </p:spPr>
        <p:txBody>
          <a:bodyPr wrap="square" lIns="0" tIns="0" rIns="0" bIns="0" rtlCol="0" anchor="t"/>
          <a:lstStyle/>
          <a:p>
            <a:pPr indent="0" marL="0">
              <a:lnSpc>
                <a:spcPts val="1500"/>
              </a:lnSpc>
              <a:spcAft>
                <a:spcPts val="600"/>
              </a:spcAft>
              <a:buNone/>
            </a:pPr>
            <a:r>
              <a:rPr lang="en-GB" sz="1200" b="1" dirty="0">
                <a:solidFill>
                  <a:srgbClr val="0F1522"/>
                </a:solidFill>
                <a:latin typeface="Calibri" pitchFamily="34" charset="0"/>
                <a:ea typeface="Calibri" pitchFamily="34" charset="-122"/>
                <a:cs typeface="Calibri" pitchFamily="34" charset="-120"/>
              </a:rPr>
              <a:t>Built on GROW.</a:t>
            </a:r>
            <a:r>
              <a:rPr lang="en-GB" sz="1200" dirty="0">
                <a:solidFill>
                  <a:srgbClr val="0F1522"/>
                </a:solidFill>
                <a:latin typeface="Calibri" pitchFamily="34" charset="0"/>
                <a:ea typeface="Calibri" pitchFamily="34" charset="-122"/>
                <a:cs typeface="Calibri" pitchFamily="34" charset="-120"/>
              </a:rPr>
              <a:t> Goal, Reality, Options, Will. One question a day, and it takes under a minute.</a:t>
            </a:r>
            <a:endParaRPr lang="en-GB" sz="1200" dirty="0"/>
          </a:p>
          <a:p>
            <a:pPr indent="0" marL="0">
              <a:lnSpc>
                <a:spcPts val="1500"/>
              </a:lnSpc>
              <a:spcAft>
                <a:spcPts val="600"/>
              </a:spcAft>
              <a:buNone/>
            </a:pPr>
            <a:r>
              <a:rPr lang="en-GB" sz="1200" b="1" dirty="0">
                <a:solidFill>
                  <a:srgbClr val="0F1522"/>
                </a:solidFill>
                <a:latin typeface="Calibri" pitchFamily="34" charset="0"/>
                <a:ea typeface="Calibri" pitchFamily="34" charset="-122"/>
                <a:cs typeface="Calibri" pitchFamily="34" charset="-120"/>
              </a:rPr>
              <a:t>An honest diary.</a:t>
            </a:r>
            <a:r>
              <a:rPr lang="en-GB" sz="1200" dirty="0">
                <a:solidFill>
                  <a:srgbClr val="0F1522"/>
                </a:solidFill>
                <a:latin typeface="Calibri" pitchFamily="34" charset="0"/>
                <a:ea typeface="Calibri" pitchFamily="34" charset="-122"/>
                <a:cs typeface="Calibri" pitchFamily="34" charset="-120"/>
              </a:rPr>
              <a:t> Where the gaps in the day were, what you’re struggling with, what you’d do differently. It’s there for the engineers who genuinely want to use it.</a:t>
            </a:r>
            <a:endParaRPr lang="en-GB" sz="1200" dirty="0"/>
          </a:p>
          <a:p>
            <a:pPr indent="0" marL="0">
              <a:lnSpc>
                <a:spcPts val="1500"/>
              </a:lnSpc>
              <a:spcAft>
                <a:spcPts val="600"/>
              </a:spcAft>
              <a:buNone/>
            </a:pPr>
            <a:r>
              <a:rPr lang="en-GB" sz="1200" b="1" dirty="0">
                <a:solidFill>
                  <a:srgbClr val="0F1522"/>
                </a:solidFill>
                <a:latin typeface="Calibri" pitchFamily="34" charset="0"/>
                <a:ea typeface="Calibri" pitchFamily="34" charset="-122"/>
                <a:cs typeface="Calibri" pitchFamily="34" charset="-120"/>
              </a:rPr>
              <a:t>Only you can read it.</a:t>
            </a:r>
            <a:r>
              <a:rPr lang="en-GB" sz="1200" dirty="0">
                <a:solidFill>
                  <a:srgbClr val="0F1522"/>
                </a:solidFill>
                <a:latin typeface="Calibri" pitchFamily="34" charset="0"/>
                <a:ea typeface="Calibri" pitchFamily="34" charset="-122"/>
                <a:cs typeface="Calibri" pitchFamily="34" charset="-120"/>
              </a:rPr>
              <a:t> No team view, no export, no comparing engineers. That’s how it’s built, not a setting.</a:t>
            </a:r>
            <a:endParaRPr lang="en-GB"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566928"/>
            <a:ext cx="6766560" cy="237744"/>
          </a:xfrm>
          <a:prstGeom prst="rect">
            <a:avLst/>
          </a:prstGeom>
          <a:noFill/>
          <a:ln/>
        </p:spPr>
        <p:txBody>
          <a:bodyPr wrap="square" lIns="0" tIns="0" rIns="0" bIns="0" rtlCol="0" anchor="ctr"/>
          <a:lstStyle/>
          <a:p>
            <a:pPr indent="0" marL="0">
              <a:buNone/>
            </a:pPr>
            <a:r>
              <a:rPr lang="en-GB" sz="1100" b="1" spc="240" kern="0" dirty="0">
                <a:solidFill>
                  <a:srgbClr val="2F6BC4"/>
                </a:solidFill>
                <a:latin typeface="Arial" pitchFamily="34" charset="0"/>
                <a:ea typeface="Arial" pitchFamily="34" charset="-122"/>
                <a:cs typeface="Arial" pitchFamily="34" charset="-120"/>
              </a:rPr>
              <a:t>YOUR DATA</a:t>
            </a:r>
            <a:endParaRPr lang="en-GB" sz="1100" dirty="0"/>
          </a:p>
        </p:txBody>
      </p:sp>
      <p:sp>
        <p:nvSpPr>
          <p:cNvPr id="3" name="Text 1"/>
          <p:cNvSpPr txBox="1"/>
          <p:nvPr/>
        </p:nvSpPr>
        <p:spPr>
          <a:xfrm>
            <a:off x="566928" y="877824"/>
            <a:ext cx="6766560" cy="1371600"/>
          </a:xfrm>
          <a:prstGeom prst="rect">
            <a:avLst/>
          </a:prstGeom>
          <a:noFill/>
          <a:ln/>
        </p:spPr>
        <p:txBody>
          <a:bodyPr wrap="square" lIns="0" tIns="0" rIns="0" bIns="0" rtlCol="0" anchor="ctr"/>
          <a:lstStyle/>
          <a:p>
            <a:pPr indent="0" marL="0">
              <a:lnSpc>
                <a:spcPts val="4200"/>
              </a:lnSpc>
              <a:buNone/>
            </a:pPr>
            <a:r>
              <a:rPr lang="en-GB" sz="3400" b="1" dirty="0">
                <a:solidFill>
                  <a:srgbClr val="0F1522"/>
                </a:solidFill>
                <a:latin typeface="Arial" pitchFamily="34" charset="0"/>
                <a:ea typeface="Arial" pitchFamily="34" charset="-122"/>
                <a:cs typeface="Arial" pitchFamily="34" charset="-120"/>
              </a:rPr>
              <a:t>Everything stays</a:t>
            </a:r>
            <a:endParaRPr lang="en-GB" sz="3400" dirty="0"/>
          </a:p>
          <a:p>
            <a:pPr indent="0" marL="0">
              <a:lnSpc>
                <a:spcPts val="4200"/>
              </a:lnSpc>
              <a:buNone/>
            </a:pPr>
            <a:r>
              <a:rPr lang="en-GB" sz="3400" b="1" dirty="0">
                <a:solidFill>
                  <a:srgbClr val="0F1522"/>
                </a:solidFill>
                <a:latin typeface="Arial" pitchFamily="34" charset="0"/>
                <a:ea typeface="Arial" pitchFamily="34" charset="-122"/>
                <a:cs typeface="Arial" pitchFamily="34" charset="-120"/>
              </a:rPr>
              <a:t>on your phone.</a:t>
            </a:r>
            <a:endParaRPr lang="en-GB" sz="3400" dirty="0"/>
          </a:p>
        </p:txBody>
      </p:sp>
      <p:sp>
        <p:nvSpPr>
          <p:cNvPr id="4" name="Text 2"/>
          <p:cNvSpPr txBox="1"/>
          <p:nvPr/>
        </p:nvSpPr>
        <p:spPr>
          <a:xfrm>
            <a:off x="566928" y="2487168"/>
            <a:ext cx="6675120" cy="1005840"/>
          </a:xfrm>
          <a:prstGeom prst="rect">
            <a:avLst/>
          </a:prstGeom>
          <a:noFill/>
          <a:ln/>
        </p:spPr>
        <p:txBody>
          <a:bodyPr wrap="square" lIns="0" tIns="0" rIns="0" bIns="0" rtlCol="0" anchor="t"/>
          <a:lstStyle/>
          <a:p>
            <a:pPr indent="0" marL="0">
              <a:lnSpc>
                <a:spcPts val="2200"/>
              </a:lnSpc>
              <a:buNone/>
            </a:pPr>
            <a:r>
              <a:rPr lang="en-GB" sz="1500" dirty="0">
                <a:solidFill>
                  <a:srgbClr val="4B5565"/>
                </a:solidFill>
                <a:latin typeface="Calibri" pitchFamily="34" charset="0"/>
                <a:ea typeface="Calibri" pitchFamily="34" charset="-122"/>
                <a:cs typeface="Calibri" pitchFamily="34" charset="-120"/>
              </a:rPr>
              <a:t>It’s completely secure, because there’s nothing to secure: every figure you log lives on your own phone and nowhere else. No account, no upload, no server. Nobody can see your CTAP figures but you.</a:t>
            </a:r>
            <a:endParaRPr lang="en-GB" sz="1500" dirty="0"/>
          </a:p>
        </p:txBody>
      </p:sp>
      <p:sp>
        <p:nvSpPr>
          <p:cNvPr id="5" name="Text 3"/>
          <p:cNvSpPr txBox="1"/>
          <p:nvPr/>
        </p:nvSpPr>
        <p:spPr>
          <a:xfrm>
            <a:off x="566928" y="3611880"/>
            <a:ext cx="1417320" cy="274320"/>
          </a:xfrm>
          <a:prstGeom prst="rect">
            <a:avLst/>
          </a:prstGeom>
          <a:noFill/>
          <a:ln/>
        </p:spPr>
        <p:txBody>
          <a:bodyPr wrap="square" lIns="0" tIns="0" rIns="0" bIns="0" rtlCol="0" anchor="ctr"/>
          <a:lstStyle/>
          <a:p>
            <a:pPr indent="0" marL="0">
              <a:buNone/>
            </a:pPr>
            <a:r>
              <a:rPr lang="en-US" sz="950" spc="120" kern="0" dirty="0">
                <a:solidFill>
                  <a:srgbClr val="6B7485"/>
                </a:solidFill>
                <a:latin typeface="Arial" pitchFamily="34" charset="0"/>
                <a:ea typeface="Arial" pitchFamily="34" charset="-122"/>
                <a:cs typeface="Arial" pitchFamily="34" charset="-120"/>
              </a:rPr>
              <a:t>ACCOUNT</a:t>
            </a:r>
            <a:endParaRPr lang="en-US" sz="950" dirty="0"/>
          </a:p>
        </p:txBody>
      </p:sp>
      <p:sp>
        <p:nvSpPr>
          <p:cNvPr id="6" name="Text 4"/>
          <p:cNvSpPr txBox="1"/>
          <p:nvPr/>
        </p:nvSpPr>
        <p:spPr>
          <a:xfrm>
            <a:off x="2103120" y="3575304"/>
            <a:ext cx="5120640" cy="402336"/>
          </a:xfrm>
          <a:prstGeom prst="rect">
            <a:avLst/>
          </a:prstGeom>
          <a:noFill/>
          <a:ln/>
        </p:spPr>
        <p:txBody>
          <a:bodyPr wrap="square" lIns="0" tIns="0" rIns="0" bIns="0" rtlCol="0" anchor="ctr"/>
          <a:lstStyle/>
          <a:p>
            <a:pPr indent="0" marL="0">
              <a:lnSpc>
                <a:spcPts val="1700"/>
              </a:lnSpc>
              <a:buNone/>
            </a:pPr>
            <a:r>
              <a:rPr lang="en-GB" sz="1300" dirty="0">
                <a:solidFill>
                  <a:srgbClr val="4B5565"/>
                </a:solidFill>
                <a:latin typeface="Calibri" pitchFamily="34" charset="0"/>
                <a:ea typeface="Calibri" pitchFamily="34" charset="-122"/>
                <a:cs typeface="Calibri" pitchFamily="34" charset="-120"/>
              </a:rPr>
              <a:t>None. Nothing to sign into, nothing to sign out of.</a:t>
            </a:r>
            <a:endParaRPr lang="en-GB" sz="1300" dirty="0"/>
          </a:p>
        </p:txBody>
      </p:sp>
      <p:sp>
        <p:nvSpPr>
          <p:cNvPr id="7" name="Shape 5"/>
          <p:cNvSpPr/>
          <p:nvPr/>
        </p:nvSpPr>
        <p:spPr>
          <a:xfrm>
            <a:off x="566928" y="4050792"/>
            <a:ext cx="6675120" cy="7315"/>
          </a:xfrm>
          <a:prstGeom prst="rect">
            <a:avLst/>
          </a:prstGeom>
          <a:solidFill>
            <a:srgbClr val="DDE3EC"/>
          </a:solidFill>
          <a:ln w="12700">
            <a:solidFill>
              <a:srgbClr val="DDE3EC"/>
            </a:solidFill>
            <a:prstDash val="solid"/>
          </a:ln>
        </p:spPr>
      </p:sp>
      <p:sp>
        <p:nvSpPr>
          <p:cNvPr id="8" name="Text 6"/>
          <p:cNvSpPr txBox="1"/>
          <p:nvPr/>
        </p:nvSpPr>
        <p:spPr>
          <a:xfrm>
            <a:off x="566928" y="4123944"/>
            <a:ext cx="1417320" cy="274320"/>
          </a:xfrm>
          <a:prstGeom prst="rect">
            <a:avLst/>
          </a:prstGeom>
          <a:noFill/>
          <a:ln/>
        </p:spPr>
        <p:txBody>
          <a:bodyPr wrap="square" lIns="0" tIns="0" rIns="0" bIns="0" rtlCol="0" anchor="ctr"/>
          <a:lstStyle/>
          <a:p>
            <a:pPr indent="0" marL="0">
              <a:buNone/>
            </a:pPr>
            <a:r>
              <a:rPr lang="en-US" sz="950" spc="120" kern="0" dirty="0">
                <a:solidFill>
                  <a:srgbClr val="6B7485"/>
                </a:solidFill>
                <a:latin typeface="Arial" pitchFamily="34" charset="0"/>
                <a:ea typeface="Arial" pitchFamily="34" charset="-122"/>
                <a:cs typeface="Arial" pitchFamily="34" charset="-120"/>
              </a:rPr>
              <a:t>UPLOAD</a:t>
            </a:r>
            <a:endParaRPr lang="en-US" sz="950" dirty="0"/>
          </a:p>
        </p:txBody>
      </p:sp>
      <p:sp>
        <p:nvSpPr>
          <p:cNvPr id="9" name="Text 7"/>
          <p:cNvSpPr txBox="1"/>
          <p:nvPr/>
        </p:nvSpPr>
        <p:spPr>
          <a:xfrm>
            <a:off x="2103120" y="4087368"/>
            <a:ext cx="5120640" cy="402336"/>
          </a:xfrm>
          <a:prstGeom prst="rect">
            <a:avLst/>
          </a:prstGeom>
          <a:noFill/>
          <a:ln/>
        </p:spPr>
        <p:txBody>
          <a:bodyPr wrap="square" lIns="0" tIns="0" rIns="0" bIns="0" rtlCol="0" anchor="ctr"/>
          <a:lstStyle/>
          <a:p>
            <a:pPr indent="0" marL="0">
              <a:lnSpc>
                <a:spcPts val="1700"/>
              </a:lnSpc>
              <a:buNone/>
            </a:pPr>
            <a:r>
              <a:rPr lang="en-GB" sz="1300" dirty="0">
                <a:solidFill>
                  <a:srgbClr val="4B5565"/>
                </a:solidFill>
                <a:latin typeface="Calibri" pitchFamily="34" charset="0"/>
                <a:ea typeface="Calibri" pitchFamily="34" charset="-122"/>
                <a:cs typeface="Calibri" pitchFamily="34" charset="-120"/>
              </a:rPr>
              <a:t>None. Once it’s installed it makes no network requests at all.</a:t>
            </a:r>
            <a:endParaRPr lang="en-GB" sz="1300" dirty="0"/>
          </a:p>
        </p:txBody>
      </p:sp>
      <p:sp>
        <p:nvSpPr>
          <p:cNvPr id="10" name="Shape 8"/>
          <p:cNvSpPr/>
          <p:nvPr/>
        </p:nvSpPr>
        <p:spPr>
          <a:xfrm>
            <a:off x="566928" y="4562856"/>
            <a:ext cx="6675120" cy="7315"/>
          </a:xfrm>
          <a:prstGeom prst="rect">
            <a:avLst/>
          </a:prstGeom>
          <a:solidFill>
            <a:srgbClr val="DDE3EC"/>
          </a:solidFill>
          <a:ln w="12700">
            <a:solidFill>
              <a:srgbClr val="DDE3EC"/>
            </a:solidFill>
            <a:prstDash val="solid"/>
          </a:ln>
        </p:spPr>
      </p:sp>
      <p:sp>
        <p:nvSpPr>
          <p:cNvPr id="11" name="Text 9"/>
          <p:cNvSpPr txBox="1"/>
          <p:nvPr/>
        </p:nvSpPr>
        <p:spPr>
          <a:xfrm>
            <a:off x="566928" y="4636008"/>
            <a:ext cx="1417320" cy="274320"/>
          </a:xfrm>
          <a:prstGeom prst="rect">
            <a:avLst/>
          </a:prstGeom>
          <a:noFill/>
          <a:ln/>
        </p:spPr>
        <p:txBody>
          <a:bodyPr wrap="square" lIns="0" tIns="0" rIns="0" bIns="0" rtlCol="0" anchor="ctr"/>
          <a:lstStyle/>
          <a:p>
            <a:pPr indent="0" marL="0">
              <a:buNone/>
            </a:pPr>
            <a:r>
              <a:rPr lang="en-US" sz="950" spc="120" kern="0" dirty="0">
                <a:solidFill>
                  <a:srgbClr val="6B7485"/>
                </a:solidFill>
                <a:latin typeface="Arial" pitchFamily="34" charset="0"/>
                <a:ea typeface="Arial" pitchFamily="34" charset="-122"/>
                <a:cs typeface="Arial" pitchFamily="34" charset="-120"/>
              </a:rPr>
              <a:t>SHARED WITH</a:t>
            </a:r>
            <a:endParaRPr lang="en-US" sz="950" dirty="0"/>
          </a:p>
        </p:txBody>
      </p:sp>
      <p:sp>
        <p:nvSpPr>
          <p:cNvPr id="12" name="Text 10"/>
          <p:cNvSpPr txBox="1"/>
          <p:nvPr/>
        </p:nvSpPr>
        <p:spPr>
          <a:xfrm>
            <a:off x="2103120" y="4599432"/>
            <a:ext cx="5120640" cy="402336"/>
          </a:xfrm>
          <a:prstGeom prst="rect">
            <a:avLst/>
          </a:prstGeom>
          <a:noFill/>
          <a:ln/>
        </p:spPr>
        <p:txBody>
          <a:bodyPr wrap="square" lIns="0" tIns="0" rIns="0" bIns="0" rtlCol="0" anchor="ctr"/>
          <a:lstStyle/>
          <a:p>
            <a:pPr indent="0" marL="0">
              <a:lnSpc>
                <a:spcPts val="1700"/>
              </a:lnSpc>
              <a:buNone/>
            </a:pPr>
            <a:r>
              <a:rPr lang="en-GB" sz="1300" dirty="0">
                <a:solidFill>
                  <a:srgbClr val="4B5565"/>
                </a:solidFill>
                <a:latin typeface="Calibri" pitchFamily="34" charset="0"/>
                <a:ea typeface="Calibri" pitchFamily="34" charset="-122"/>
                <a:cs typeface="Calibri" pitchFamily="34" charset="-120"/>
              </a:rPr>
              <a:t>Nobody. Not your manager, not me, no analytics.</a:t>
            </a:r>
            <a:endParaRPr lang="en-GB" sz="1300" dirty="0"/>
          </a:p>
        </p:txBody>
      </p:sp>
      <p:sp>
        <p:nvSpPr>
          <p:cNvPr id="13" name="Shape 11"/>
          <p:cNvSpPr/>
          <p:nvPr/>
        </p:nvSpPr>
        <p:spPr>
          <a:xfrm>
            <a:off x="566928" y="5074920"/>
            <a:ext cx="6675120" cy="7315"/>
          </a:xfrm>
          <a:prstGeom prst="rect">
            <a:avLst/>
          </a:prstGeom>
          <a:solidFill>
            <a:srgbClr val="DDE3EC"/>
          </a:solidFill>
          <a:ln w="12700">
            <a:solidFill>
              <a:srgbClr val="DDE3EC"/>
            </a:solidFill>
            <a:prstDash val="solid"/>
          </a:ln>
        </p:spPr>
      </p:sp>
      <p:sp>
        <p:nvSpPr>
          <p:cNvPr id="14" name="Text 12"/>
          <p:cNvSpPr txBox="1"/>
          <p:nvPr/>
        </p:nvSpPr>
        <p:spPr>
          <a:xfrm>
            <a:off x="566928" y="5148072"/>
            <a:ext cx="1417320" cy="274320"/>
          </a:xfrm>
          <a:prstGeom prst="rect">
            <a:avLst/>
          </a:prstGeom>
          <a:noFill/>
          <a:ln/>
        </p:spPr>
        <p:txBody>
          <a:bodyPr wrap="square" lIns="0" tIns="0" rIns="0" bIns="0" rtlCol="0" anchor="ctr"/>
          <a:lstStyle/>
          <a:p>
            <a:pPr indent="0" marL="0">
              <a:buNone/>
            </a:pPr>
            <a:r>
              <a:rPr lang="en-US" sz="950" spc="120" kern="0" dirty="0">
                <a:solidFill>
                  <a:srgbClr val="6B7485"/>
                </a:solidFill>
                <a:latin typeface="Arial" pitchFamily="34" charset="0"/>
                <a:ea typeface="Arial" pitchFamily="34" charset="-122"/>
                <a:cs typeface="Arial" pitchFamily="34" charset="-120"/>
              </a:rPr>
              <a:t>OFFLINE</a:t>
            </a:r>
            <a:endParaRPr lang="en-US" sz="950" dirty="0"/>
          </a:p>
        </p:txBody>
      </p:sp>
      <p:sp>
        <p:nvSpPr>
          <p:cNvPr id="15" name="Text 13"/>
          <p:cNvSpPr txBox="1"/>
          <p:nvPr/>
        </p:nvSpPr>
        <p:spPr>
          <a:xfrm>
            <a:off x="2103120" y="5111496"/>
            <a:ext cx="5120640" cy="402336"/>
          </a:xfrm>
          <a:prstGeom prst="rect">
            <a:avLst/>
          </a:prstGeom>
          <a:noFill/>
          <a:ln/>
        </p:spPr>
        <p:txBody>
          <a:bodyPr wrap="square" lIns="0" tIns="0" rIns="0" bIns="0" rtlCol="0" anchor="ctr"/>
          <a:lstStyle/>
          <a:p>
            <a:pPr indent="0" marL="0">
              <a:lnSpc>
                <a:spcPts val="1700"/>
              </a:lnSpc>
              <a:buNone/>
            </a:pPr>
            <a:r>
              <a:rPr lang="en-GB" sz="1300" dirty="0">
                <a:solidFill>
                  <a:srgbClr val="4B5565"/>
                </a:solidFill>
                <a:latin typeface="Calibri" pitchFamily="34" charset="0"/>
                <a:ea typeface="Calibri" pitchFamily="34" charset="-122"/>
                <a:cs typeface="Calibri" pitchFamily="34" charset="-120"/>
              </a:rPr>
              <a:t>Works fully, which matters in plant rooms and cellars.</a:t>
            </a:r>
            <a:endParaRPr lang="en-GB" sz="1300" dirty="0"/>
          </a:p>
        </p:txBody>
      </p:sp>
      <p:sp>
        <p:nvSpPr>
          <p:cNvPr id="16" name="Shape 14"/>
          <p:cNvSpPr/>
          <p:nvPr/>
        </p:nvSpPr>
        <p:spPr>
          <a:xfrm>
            <a:off x="566928" y="5586984"/>
            <a:ext cx="6675120" cy="7315"/>
          </a:xfrm>
          <a:prstGeom prst="rect">
            <a:avLst/>
          </a:prstGeom>
          <a:solidFill>
            <a:srgbClr val="DDE3EC"/>
          </a:solidFill>
          <a:ln w="12700">
            <a:solidFill>
              <a:srgbClr val="DDE3EC"/>
            </a:solidFill>
            <a:prstDash val="solid"/>
          </a:ln>
        </p:spPr>
      </p:sp>
      <p:sp>
        <p:nvSpPr>
          <p:cNvPr id="17" name="Text 15"/>
          <p:cNvSpPr txBox="1"/>
          <p:nvPr/>
        </p:nvSpPr>
        <p:spPr>
          <a:xfrm>
            <a:off x="566928" y="5660136"/>
            <a:ext cx="1417320" cy="274320"/>
          </a:xfrm>
          <a:prstGeom prst="rect">
            <a:avLst/>
          </a:prstGeom>
          <a:noFill/>
          <a:ln/>
        </p:spPr>
        <p:txBody>
          <a:bodyPr wrap="square" lIns="0" tIns="0" rIns="0" bIns="0" rtlCol="0" anchor="ctr"/>
          <a:lstStyle/>
          <a:p>
            <a:pPr indent="0" marL="0">
              <a:buNone/>
            </a:pPr>
            <a:r>
              <a:rPr lang="en-US" sz="950" spc="120" kern="0" dirty="0">
                <a:solidFill>
                  <a:srgbClr val="6B7485"/>
                </a:solidFill>
                <a:latin typeface="Arial" pitchFamily="34" charset="0"/>
                <a:ea typeface="Arial" pitchFamily="34" charset="-122"/>
                <a:cs typeface="Arial" pitchFamily="34" charset="-120"/>
              </a:rPr>
              <a:t>DELETING</a:t>
            </a:r>
            <a:endParaRPr lang="en-US" sz="950" dirty="0"/>
          </a:p>
        </p:txBody>
      </p:sp>
      <p:sp>
        <p:nvSpPr>
          <p:cNvPr id="18" name="Text 16"/>
          <p:cNvSpPr txBox="1"/>
          <p:nvPr/>
        </p:nvSpPr>
        <p:spPr>
          <a:xfrm>
            <a:off x="2103120" y="5623560"/>
            <a:ext cx="5120640" cy="402336"/>
          </a:xfrm>
          <a:prstGeom prst="rect">
            <a:avLst/>
          </a:prstGeom>
          <a:noFill/>
          <a:ln/>
        </p:spPr>
        <p:txBody>
          <a:bodyPr wrap="square" lIns="0" tIns="0" rIns="0" bIns="0" rtlCol="0" anchor="ctr"/>
          <a:lstStyle/>
          <a:p>
            <a:pPr indent="0" marL="0">
              <a:lnSpc>
                <a:spcPts val="1700"/>
              </a:lnSpc>
              <a:buNone/>
            </a:pPr>
            <a:r>
              <a:rPr lang="en-GB" sz="1300" dirty="0">
                <a:solidFill>
                  <a:srgbClr val="4B5565"/>
                </a:solidFill>
                <a:latin typeface="Calibri" pitchFamily="34" charset="0"/>
                <a:ea typeface="Calibri" pitchFamily="34" charset="-122"/>
                <a:cs typeface="Calibri" pitchFamily="34" charset="-120"/>
              </a:rPr>
              <a:t>Settings → Erase all data, and it’s gone straight away.</a:t>
            </a:r>
            <a:endParaRPr lang="en-GB" sz="1300" dirty="0"/>
          </a:p>
        </p:txBody>
      </p:sp>
      <p:sp>
        <p:nvSpPr>
          <p:cNvPr id="19" name="Shape 17"/>
          <p:cNvSpPr/>
          <p:nvPr/>
        </p:nvSpPr>
        <p:spPr>
          <a:xfrm>
            <a:off x="7772400" y="3136392"/>
            <a:ext cx="3858768" cy="2286000"/>
          </a:xfrm>
          <a:prstGeom prst="roundRect">
            <a:avLst>
              <a:gd name="adj" fmla="val 4800"/>
            </a:avLst>
          </a:prstGeom>
          <a:solidFill>
            <a:srgbClr val="F2F2F7"/>
          </a:solidFill>
          <a:ln w="12700">
            <a:solidFill>
              <a:srgbClr val="D9A21B"/>
            </a:solidFill>
            <a:prstDash val="solid"/>
          </a:ln>
        </p:spPr>
      </p:sp>
      <p:sp>
        <p:nvSpPr>
          <p:cNvPr id="20" name="Text 18"/>
          <p:cNvSpPr txBox="1"/>
          <p:nvPr/>
        </p:nvSpPr>
        <p:spPr>
          <a:xfrm>
            <a:off x="8065008" y="3374136"/>
            <a:ext cx="274320" cy="310896"/>
          </a:xfrm>
          <a:prstGeom prst="rect">
            <a:avLst/>
          </a:prstGeom>
          <a:noFill/>
          <a:ln/>
        </p:spPr>
        <p:txBody>
          <a:bodyPr wrap="square" lIns="0" tIns="0" rIns="0" bIns="0" rtlCol="0" anchor="ctr"/>
          <a:lstStyle/>
          <a:p>
            <a:pPr indent="0" marL="0">
              <a:buNone/>
            </a:pPr>
            <a:r>
              <a:rPr lang="en-US" sz="2000" b="1" dirty="0">
                <a:solidFill>
                  <a:srgbClr val="A86B00"/>
                </a:solidFill>
                <a:latin typeface="Arial" pitchFamily="34" charset="0"/>
                <a:ea typeface="Arial" pitchFamily="34" charset="-122"/>
                <a:cs typeface="Arial" pitchFamily="34" charset="-120"/>
              </a:rPr>
              <a:t>!</a:t>
            </a:r>
            <a:endParaRPr lang="en-US" sz="2000" dirty="0"/>
          </a:p>
        </p:txBody>
      </p:sp>
      <p:sp>
        <p:nvSpPr>
          <p:cNvPr id="21" name="Text 19"/>
          <p:cNvSpPr txBox="1"/>
          <p:nvPr/>
        </p:nvSpPr>
        <p:spPr>
          <a:xfrm>
            <a:off x="8357616" y="3374136"/>
            <a:ext cx="3017520" cy="310896"/>
          </a:xfrm>
          <a:prstGeom prst="rect">
            <a:avLst/>
          </a:prstGeom>
          <a:noFill/>
          <a:ln/>
        </p:spPr>
        <p:txBody>
          <a:bodyPr wrap="square" lIns="0" tIns="0" rIns="0" bIns="0" rtlCol="0" anchor="ctr"/>
          <a:lstStyle/>
          <a:p>
            <a:pPr indent="0" marL="0">
              <a:buNone/>
            </a:pPr>
            <a:r>
              <a:rPr lang="en-GB" sz="1700" b="1" dirty="0">
                <a:solidFill>
                  <a:srgbClr val="0F1522"/>
                </a:solidFill>
                <a:latin typeface="Arial" pitchFamily="34" charset="0"/>
                <a:ea typeface="Arial" pitchFamily="34" charset="-122"/>
                <a:cs typeface="Arial" pitchFamily="34" charset="-120"/>
              </a:rPr>
              <a:t>The one catch</a:t>
            </a:r>
            <a:endParaRPr lang="en-GB" sz="1700" dirty="0"/>
          </a:p>
        </p:txBody>
      </p:sp>
      <p:sp>
        <p:nvSpPr>
          <p:cNvPr id="22" name="Text 20"/>
          <p:cNvSpPr txBox="1"/>
          <p:nvPr/>
        </p:nvSpPr>
        <p:spPr>
          <a:xfrm>
            <a:off x="8065008" y="3831336"/>
            <a:ext cx="3291840" cy="1463040"/>
          </a:xfrm>
          <a:prstGeom prst="rect">
            <a:avLst/>
          </a:prstGeom>
          <a:noFill/>
          <a:ln/>
        </p:spPr>
        <p:txBody>
          <a:bodyPr wrap="square" lIns="0" tIns="0" rIns="0" bIns="0" rtlCol="0" anchor="t"/>
          <a:lstStyle/>
          <a:p>
            <a:pPr indent="0" marL="0">
              <a:lnSpc>
                <a:spcPts val="1900"/>
              </a:lnSpc>
              <a:spcAft>
                <a:spcPts val="600"/>
              </a:spcAft>
              <a:buNone/>
            </a:pPr>
            <a:r>
              <a:rPr lang="en-GB" sz="1300" dirty="0">
                <a:solidFill>
                  <a:srgbClr val="4B5565"/>
                </a:solidFill>
                <a:latin typeface="Calibri" pitchFamily="34" charset="0"/>
                <a:ea typeface="Calibri" pitchFamily="34" charset="-122"/>
                <a:cs typeface="Calibri" pitchFamily="34" charset="-120"/>
              </a:rPr>
              <a:t>There’s no backup. Delete the app, erase the data or lose the phone and it’s gone. Nobody can get it back, because nobody else ever had it.</a:t>
            </a:r>
            <a:endParaRPr lang="en-GB" sz="1300" dirty="0"/>
          </a:p>
          <a:p>
            <a:pPr indent="0" marL="0">
              <a:lnSpc>
                <a:spcPts val="1900"/>
              </a:lnSpc>
              <a:spcAft>
                <a:spcPts val="600"/>
              </a:spcAft>
              <a:buNone/>
            </a:pPr>
            <a:r>
              <a:rPr lang="en-GB" sz="1300" dirty="0">
                <a:solidFill>
                  <a:srgbClr val="4B5565"/>
                </a:solidFill>
                <a:latin typeface="Calibri" pitchFamily="34" charset="0"/>
                <a:ea typeface="Calibri" pitchFamily="34" charset="-122"/>
                <a:cs typeface="Calibri" pitchFamily="34" charset="-120"/>
              </a:rPr>
              <a:t>Engineers are told this before they start.</a:t>
            </a:r>
            <a:endParaRPr lang="en-GB"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566928"/>
            <a:ext cx="10515600" cy="237744"/>
          </a:xfrm>
          <a:prstGeom prst="rect">
            <a:avLst/>
          </a:prstGeom>
          <a:noFill/>
          <a:ln/>
        </p:spPr>
        <p:txBody>
          <a:bodyPr wrap="square" lIns="0" tIns="0" rIns="0" bIns="0" rtlCol="0" anchor="ctr"/>
          <a:lstStyle/>
          <a:p>
            <a:pPr indent="0" marL="0">
              <a:buNone/>
            </a:pPr>
            <a:r>
              <a:rPr lang="en-US" sz="1100" b="1" spc="240" kern="0" dirty="0">
                <a:solidFill>
                  <a:srgbClr val="2F6BC4"/>
                </a:solidFill>
                <a:latin typeface="Arial" pitchFamily="34" charset="0"/>
                <a:ea typeface="Arial" pitchFamily="34" charset="-122"/>
                <a:cs typeface="Arial" pitchFamily="34" charset="-120"/>
              </a:rPr>
              <a:t>TRIAL</a:t>
            </a:r>
            <a:endParaRPr lang="en-US" sz="1100" dirty="0"/>
          </a:p>
        </p:txBody>
      </p:sp>
      <p:sp>
        <p:nvSpPr>
          <p:cNvPr id="3" name="Text 1"/>
          <p:cNvSpPr txBox="1"/>
          <p:nvPr/>
        </p:nvSpPr>
        <p:spPr>
          <a:xfrm>
            <a:off x="566928" y="877824"/>
            <a:ext cx="10515600" cy="731520"/>
          </a:xfrm>
          <a:prstGeom prst="rect">
            <a:avLst/>
          </a:prstGeom>
          <a:noFill/>
          <a:ln/>
        </p:spPr>
        <p:txBody>
          <a:bodyPr wrap="square" lIns="0" tIns="0" rIns="0" bIns="0" rtlCol="0" anchor="ctr"/>
          <a:lstStyle/>
          <a:p>
            <a:pPr indent="0" marL="0">
              <a:lnSpc>
                <a:spcPts val="3800"/>
              </a:lnSpc>
              <a:buNone/>
            </a:pPr>
            <a:r>
              <a:rPr lang="en-GB" sz="3400" b="1" dirty="0">
                <a:solidFill>
                  <a:srgbClr val="0F1522"/>
                </a:solidFill>
                <a:latin typeface="Arial" pitchFamily="34" charset="0"/>
                <a:ea typeface="Arial" pitchFamily="34" charset="-122"/>
                <a:cs typeface="Arial" pitchFamily="34" charset="-120"/>
              </a:rPr>
              <a:t>Where it’s up to, and who I’m after.</a:t>
            </a:r>
            <a:endParaRPr lang="en-GB" sz="3400" dirty="0"/>
          </a:p>
        </p:txBody>
      </p:sp>
      <p:sp>
        <p:nvSpPr>
          <p:cNvPr id="4" name="Shape 2"/>
          <p:cNvSpPr/>
          <p:nvPr/>
        </p:nvSpPr>
        <p:spPr>
          <a:xfrm>
            <a:off x="566928" y="2286000"/>
            <a:ext cx="2578608" cy="1691640"/>
          </a:xfrm>
          <a:prstGeom prst="roundRect">
            <a:avLst>
              <a:gd name="adj" fmla="val 6486"/>
            </a:avLst>
          </a:prstGeom>
          <a:solidFill>
            <a:srgbClr val="F2F2F7"/>
          </a:solidFill>
          <a:ln w="12700">
            <a:solidFill>
              <a:srgbClr val="DDE3EC"/>
            </a:solidFill>
            <a:prstDash val="solid"/>
          </a:ln>
        </p:spPr>
      </p:sp>
      <p:sp>
        <p:nvSpPr>
          <p:cNvPr id="5" name="Text 3"/>
          <p:cNvSpPr txBox="1"/>
          <p:nvPr/>
        </p:nvSpPr>
        <p:spPr>
          <a:xfrm>
            <a:off x="804672" y="2542032"/>
            <a:ext cx="2103120" cy="731520"/>
          </a:xfrm>
          <a:prstGeom prst="rect">
            <a:avLst/>
          </a:prstGeom>
          <a:noFill/>
          <a:ln/>
        </p:spPr>
        <p:txBody>
          <a:bodyPr wrap="square" lIns="0" tIns="0" rIns="0" bIns="0" rtlCol="0" anchor="ctr"/>
          <a:lstStyle/>
          <a:p>
            <a:pPr indent="0" marL="0">
              <a:buNone/>
            </a:pPr>
            <a:r>
              <a:rPr lang="en-US" sz="3800" b="1" dirty="0">
                <a:solidFill>
                  <a:srgbClr val="0F1522"/>
                </a:solidFill>
                <a:latin typeface="Arial" pitchFamily="34" charset="0"/>
                <a:ea typeface="Arial" pitchFamily="34" charset="-122"/>
                <a:cs typeface="Arial" pitchFamily="34" charset="-120"/>
              </a:rPr>
              <a:t>v0.8.0</a:t>
            </a:r>
            <a:endParaRPr lang="en-US" sz="3800" dirty="0"/>
          </a:p>
        </p:txBody>
      </p:sp>
      <p:sp>
        <p:nvSpPr>
          <p:cNvPr id="6" name="Text 4"/>
          <p:cNvSpPr txBox="1"/>
          <p:nvPr/>
        </p:nvSpPr>
        <p:spPr>
          <a:xfrm>
            <a:off x="804672" y="3346704"/>
            <a:ext cx="2103120" cy="457200"/>
          </a:xfrm>
          <a:prstGeom prst="rect">
            <a:avLst/>
          </a:prstGeom>
          <a:noFill/>
          <a:ln/>
        </p:spPr>
        <p:txBody>
          <a:bodyPr wrap="square" lIns="0" tIns="0" rIns="0" bIns="0" rtlCol="0" anchor="ctr"/>
          <a:lstStyle/>
          <a:p>
            <a:pPr indent="0" marL="0">
              <a:lnSpc>
                <a:spcPts val="1300"/>
              </a:lnSpc>
              <a:buNone/>
            </a:pPr>
            <a:r>
              <a:rPr lang="en-US" sz="900" spc="110" kern="0" dirty="0">
                <a:solidFill>
                  <a:srgbClr val="6B7485"/>
                </a:solidFill>
                <a:latin typeface="Arial" pitchFamily="34" charset="0"/>
                <a:ea typeface="Arial" pitchFamily="34" charset="-122"/>
                <a:cs typeface="Arial" pitchFamily="34" charset="-120"/>
              </a:rPr>
              <a:t>SHIPPED VERSION</a:t>
            </a:r>
            <a:endParaRPr lang="en-US" sz="900" dirty="0"/>
          </a:p>
        </p:txBody>
      </p:sp>
      <p:sp>
        <p:nvSpPr>
          <p:cNvPr id="7" name="Shape 5"/>
          <p:cNvSpPr/>
          <p:nvPr/>
        </p:nvSpPr>
        <p:spPr>
          <a:xfrm>
            <a:off x="3364992" y="2286000"/>
            <a:ext cx="2578608" cy="1691640"/>
          </a:xfrm>
          <a:prstGeom prst="roundRect">
            <a:avLst>
              <a:gd name="adj" fmla="val 6486"/>
            </a:avLst>
          </a:prstGeom>
          <a:solidFill>
            <a:srgbClr val="F2F2F7"/>
          </a:solidFill>
          <a:ln w="12700">
            <a:solidFill>
              <a:srgbClr val="DDE3EC"/>
            </a:solidFill>
            <a:prstDash val="solid"/>
          </a:ln>
        </p:spPr>
      </p:sp>
      <p:sp>
        <p:nvSpPr>
          <p:cNvPr id="8" name="Text 6"/>
          <p:cNvSpPr txBox="1"/>
          <p:nvPr/>
        </p:nvSpPr>
        <p:spPr>
          <a:xfrm>
            <a:off x="3602736" y="2542032"/>
            <a:ext cx="2103120" cy="731520"/>
          </a:xfrm>
          <a:prstGeom prst="rect">
            <a:avLst/>
          </a:prstGeom>
          <a:noFill/>
          <a:ln/>
        </p:spPr>
        <p:txBody>
          <a:bodyPr wrap="square" lIns="0" tIns="0" rIns="0" bIns="0" rtlCol="0" anchor="ctr"/>
          <a:lstStyle/>
          <a:p>
            <a:pPr indent="0" marL="0">
              <a:buNone/>
            </a:pPr>
            <a:r>
              <a:rPr lang="en-US" sz="3800" b="1" dirty="0">
                <a:solidFill>
                  <a:srgbClr val="0F1522"/>
                </a:solidFill>
                <a:latin typeface="Arial" pitchFamily="34" charset="0"/>
                <a:ea typeface="Arial" pitchFamily="34" charset="-122"/>
                <a:cs typeface="Arial" pitchFamily="34" charset="-120"/>
              </a:rPr>
              <a:t>5–10</a:t>
            </a:r>
            <a:endParaRPr lang="en-US" sz="3800" dirty="0"/>
          </a:p>
        </p:txBody>
      </p:sp>
      <p:sp>
        <p:nvSpPr>
          <p:cNvPr id="9" name="Text 7"/>
          <p:cNvSpPr txBox="1"/>
          <p:nvPr/>
        </p:nvSpPr>
        <p:spPr>
          <a:xfrm>
            <a:off x="3602736" y="3346704"/>
            <a:ext cx="2103120" cy="457200"/>
          </a:xfrm>
          <a:prstGeom prst="rect">
            <a:avLst/>
          </a:prstGeom>
          <a:noFill/>
          <a:ln/>
        </p:spPr>
        <p:txBody>
          <a:bodyPr wrap="square" lIns="0" tIns="0" rIns="0" bIns="0" rtlCol="0" anchor="ctr"/>
          <a:lstStyle/>
          <a:p>
            <a:pPr indent="0" marL="0">
              <a:lnSpc>
                <a:spcPts val="1300"/>
              </a:lnSpc>
              <a:buNone/>
            </a:pPr>
            <a:r>
              <a:rPr lang="en-US" sz="900" spc="110" kern="0" dirty="0">
                <a:solidFill>
                  <a:srgbClr val="6B7485"/>
                </a:solidFill>
                <a:latin typeface="Arial" pitchFamily="34" charset="0"/>
                <a:ea typeface="Arial" pitchFamily="34" charset="-122"/>
                <a:cs typeface="Arial" pitchFamily="34" charset="-120"/>
              </a:rPr>
              <a:t>ENGINEERS WANTED</a:t>
            </a:r>
            <a:endParaRPr lang="en-US" sz="900" dirty="0"/>
          </a:p>
        </p:txBody>
      </p:sp>
      <p:sp>
        <p:nvSpPr>
          <p:cNvPr id="10" name="Shape 8"/>
          <p:cNvSpPr/>
          <p:nvPr/>
        </p:nvSpPr>
        <p:spPr>
          <a:xfrm>
            <a:off x="6163056" y="2286000"/>
            <a:ext cx="2578608" cy="1691640"/>
          </a:xfrm>
          <a:prstGeom prst="roundRect">
            <a:avLst>
              <a:gd name="adj" fmla="val 6486"/>
            </a:avLst>
          </a:prstGeom>
          <a:solidFill>
            <a:srgbClr val="F2F2F7"/>
          </a:solidFill>
          <a:ln w="12700">
            <a:solidFill>
              <a:srgbClr val="DDE3EC"/>
            </a:solidFill>
            <a:prstDash val="solid"/>
          </a:ln>
        </p:spPr>
      </p:sp>
      <p:sp>
        <p:nvSpPr>
          <p:cNvPr id="11" name="Text 9"/>
          <p:cNvSpPr txBox="1"/>
          <p:nvPr/>
        </p:nvSpPr>
        <p:spPr>
          <a:xfrm>
            <a:off x="6400800" y="2542032"/>
            <a:ext cx="2103120" cy="731520"/>
          </a:xfrm>
          <a:prstGeom prst="rect">
            <a:avLst/>
          </a:prstGeom>
          <a:noFill/>
          <a:ln/>
        </p:spPr>
        <p:txBody>
          <a:bodyPr wrap="square" lIns="0" tIns="0" rIns="0" bIns="0" rtlCol="0" anchor="ctr"/>
          <a:lstStyle/>
          <a:p>
            <a:pPr indent="0" marL="0">
              <a:buNone/>
            </a:pPr>
            <a:r>
              <a:rPr lang="en-US" sz="3800" b="1" dirty="0">
                <a:solidFill>
                  <a:srgbClr val="1F8A4C"/>
                </a:solidFill>
                <a:latin typeface="Arial" pitchFamily="34" charset="0"/>
                <a:ea typeface="Arial" pitchFamily="34" charset="-122"/>
                <a:cs typeface="Arial" pitchFamily="34" charset="-120"/>
              </a:rPr>
              <a:t>0</a:t>
            </a:r>
            <a:endParaRPr lang="en-US" sz="3800" dirty="0"/>
          </a:p>
        </p:txBody>
      </p:sp>
      <p:sp>
        <p:nvSpPr>
          <p:cNvPr id="12" name="Text 10"/>
          <p:cNvSpPr txBox="1"/>
          <p:nvPr/>
        </p:nvSpPr>
        <p:spPr>
          <a:xfrm>
            <a:off x="6400800" y="3346704"/>
            <a:ext cx="2103120" cy="457200"/>
          </a:xfrm>
          <a:prstGeom prst="rect">
            <a:avLst/>
          </a:prstGeom>
          <a:noFill/>
          <a:ln/>
        </p:spPr>
        <p:txBody>
          <a:bodyPr wrap="square" lIns="0" tIns="0" rIns="0" bIns="0" rtlCol="0" anchor="ctr"/>
          <a:lstStyle/>
          <a:p>
            <a:pPr indent="0" marL="0">
              <a:lnSpc>
                <a:spcPts val="1300"/>
              </a:lnSpc>
              <a:buNone/>
            </a:pPr>
            <a:r>
              <a:rPr lang="en-US" sz="900" spc="110" kern="0" dirty="0">
                <a:solidFill>
                  <a:srgbClr val="6B7485"/>
                </a:solidFill>
                <a:latin typeface="Arial" pitchFamily="34" charset="0"/>
                <a:ea typeface="Arial" pitchFamily="34" charset="-122"/>
                <a:cs typeface="Arial" pitchFamily="34" charset="-120"/>
              </a:rPr>
              <a:t>THIRD-PARTY REQUESTS</a:t>
            </a:r>
            <a:endParaRPr lang="en-US" sz="900" dirty="0"/>
          </a:p>
        </p:txBody>
      </p:sp>
      <p:sp>
        <p:nvSpPr>
          <p:cNvPr id="13" name="Shape 11"/>
          <p:cNvSpPr/>
          <p:nvPr/>
        </p:nvSpPr>
        <p:spPr>
          <a:xfrm>
            <a:off x="8961120" y="2286000"/>
            <a:ext cx="2578608" cy="1691640"/>
          </a:xfrm>
          <a:prstGeom prst="roundRect">
            <a:avLst>
              <a:gd name="adj" fmla="val 6486"/>
            </a:avLst>
          </a:prstGeom>
          <a:solidFill>
            <a:srgbClr val="F2F2F7"/>
          </a:solidFill>
          <a:ln w="12700">
            <a:solidFill>
              <a:srgbClr val="DDE3EC"/>
            </a:solidFill>
            <a:prstDash val="solid"/>
          </a:ln>
        </p:spPr>
      </p:sp>
      <p:sp>
        <p:nvSpPr>
          <p:cNvPr id="14" name="Text 12"/>
          <p:cNvSpPr txBox="1"/>
          <p:nvPr/>
        </p:nvSpPr>
        <p:spPr>
          <a:xfrm>
            <a:off x="9198864" y="2542032"/>
            <a:ext cx="2103120" cy="731520"/>
          </a:xfrm>
          <a:prstGeom prst="rect">
            <a:avLst/>
          </a:prstGeom>
          <a:noFill/>
          <a:ln/>
        </p:spPr>
        <p:txBody>
          <a:bodyPr wrap="square" lIns="0" tIns="0" rIns="0" bIns="0" rtlCol="0" anchor="ctr"/>
          <a:lstStyle/>
          <a:p>
            <a:pPr indent="0" marL="0">
              <a:buNone/>
            </a:pPr>
            <a:r>
              <a:rPr lang="en-US" sz="3800" b="1" dirty="0">
                <a:solidFill>
                  <a:srgbClr val="1F8A4C"/>
                </a:solidFill>
                <a:latin typeface="Arial" pitchFamily="34" charset="0"/>
                <a:ea typeface="Arial" pitchFamily="34" charset="-122"/>
                <a:cs typeface="Arial" pitchFamily="34" charset="-120"/>
              </a:rPr>
              <a:t>429</a:t>
            </a:r>
            <a:endParaRPr lang="en-US" sz="3800" dirty="0"/>
          </a:p>
        </p:txBody>
      </p:sp>
      <p:sp>
        <p:nvSpPr>
          <p:cNvPr id="15" name="Text 13"/>
          <p:cNvSpPr txBox="1"/>
          <p:nvPr/>
        </p:nvSpPr>
        <p:spPr>
          <a:xfrm>
            <a:off x="9198864" y="3346704"/>
            <a:ext cx="2103120" cy="457200"/>
          </a:xfrm>
          <a:prstGeom prst="rect">
            <a:avLst/>
          </a:prstGeom>
          <a:noFill/>
          <a:ln/>
        </p:spPr>
        <p:txBody>
          <a:bodyPr wrap="square" lIns="0" tIns="0" rIns="0" bIns="0" rtlCol="0" anchor="ctr"/>
          <a:lstStyle/>
          <a:p>
            <a:pPr indent="0" marL="0">
              <a:lnSpc>
                <a:spcPts val="1300"/>
              </a:lnSpc>
              <a:buNone/>
            </a:pPr>
            <a:r>
              <a:rPr lang="en-US" sz="900" spc="110" kern="0" dirty="0">
                <a:solidFill>
                  <a:srgbClr val="6B7485"/>
                </a:solidFill>
                <a:latin typeface="Arial" pitchFamily="34" charset="0"/>
                <a:ea typeface="Arial" pitchFamily="34" charset="-122"/>
                <a:cs typeface="Arial" pitchFamily="34" charset="-120"/>
              </a:rPr>
              <a:t>AUTOMATED TESTS PASSING</a:t>
            </a:r>
            <a:endParaRPr lang="en-US" sz="900" dirty="0"/>
          </a:p>
        </p:txBody>
      </p:sp>
      <p:sp>
        <p:nvSpPr>
          <p:cNvPr id="16" name="Text 14"/>
          <p:cNvSpPr txBox="1"/>
          <p:nvPr/>
        </p:nvSpPr>
        <p:spPr>
          <a:xfrm>
            <a:off x="566928" y="4434840"/>
            <a:ext cx="5486400" cy="365760"/>
          </a:xfrm>
          <a:prstGeom prst="rect">
            <a:avLst/>
          </a:prstGeom>
          <a:noFill/>
          <a:ln/>
        </p:spPr>
        <p:txBody>
          <a:bodyPr wrap="square" lIns="0" tIns="0" rIns="0" bIns="0" rtlCol="0" anchor="ctr"/>
          <a:lstStyle/>
          <a:p>
            <a:pPr indent="0" marL="0">
              <a:buNone/>
            </a:pPr>
            <a:r>
              <a:rPr lang="en-GB" sz="1900" b="1" dirty="0">
                <a:solidFill>
                  <a:srgbClr val="0F1522"/>
                </a:solidFill>
                <a:latin typeface="Arial" pitchFamily="34" charset="0"/>
                <a:ea typeface="Arial" pitchFamily="34" charset="-122"/>
                <a:cs typeface="Arial" pitchFamily="34" charset="-120"/>
              </a:rPr>
              <a:t>Who I’m looking for</a:t>
            </a:r>
            <a:endParaRPr lang="en-GB" sz="1900" dirty="0"/>
          </a:p>
        </p:txBody>
      </p:sp>
      <p:sp>
        <p:nvSpPr>
          <p:cNvPr id="17" name="Text 15"/>
          <p:cNvSpPr txBox="1"/>
          <p:nvPr/>
        </p:nvSpPr>
        <p:spPr>
          <a:xfrm>
            <a:off x="566928" y="4846320"/>
            <a:ext cx="10881360" cy="105156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GB" sz="1400" dirty="0">
                <a:solidFill>
                  <a:srgbClr val="4B5565"/>
                </a:solidFill>
                <a:latin typeface="Calibri" pitchFamily="34" charset="0"/>
                <a:ea typeface="Calibri" pitchFamily="34" charset="-122"/>
                <a:cs typeface="Calibri" pitchFamily="34" charset="-120"/>
              </a:rPr>
              <a:t>Engineers in a slight deficit who want to get it back.</a:t>
            </a:r>
            <a:endParaRPr lang="en-GB" sz="1400" dirty="0"/>
          </a:p>
          <a:p>
            <a:pPr marL="342900" indent="-342900">
              <a:lnSpc>
                <a:spcPts val="1800"/>
              </a:lnSpc>
              <a:spcAft>
                <a:spcPts val="500"/>
              </a:spcAft>
              <a:buSzPct val="100000"/>
              <a:buChar char="•"/>
            </a:pPr>
            <a:r>
              <a:rPr lang="en-GB" sz="1400" dirty="0">
                <a:solidFill>
                  <a:srgbClr val="4B5565"/>
                </a:solidFill>
                <a:latin typeface="Calibri" pitchFamily="34" charset="0"/>
                <a:ea typeface="Calibri" pitchFamily="34" charset="-122"/>
                <a:cs typeface="Calibri" pitchFamily="34" charset="-120"/>
              </a:rPr>
              <a:t>New recruits who aren’t on CTAP yet, or are just starting.</a:t>
            </a:r>
            <a:endParaRPr lang="en-GB" sz="1400" dirty="0"/>
          </a:p>
          <a:p>
            <a:pPr marL="342900" indent="-342900">
              <a:lnSpc>
                <a:spcPts val="1800"/>
              </a:lnSpc>
              <a:spcAft>
                <a:spcPts val="500"/>
              </a:spcAft>
              <a:buSzPct val="100000"/>
              <a:buChar char="•"/>
            </a:pPr>
            <a:r>
              <a:rPr lang="en-GB" sz="1400" dirty="0">
                <a:solidFill>
                  <a:srgbClr val="4B5565"/>
                </a:solidFill>
                <a:latin typeface="Calibri" pitchFamily="34" charset="0"/>
                <a:ea typeface="Calibri" pitchFamily="34" charset="-122"/>
                <a:cs typeface="Calibri" pitchFamily="34" charset="-120"/>
              </a:rPr>
              <a:t>Anyone a manager thinks would get something out of seeing their figures day to day.</a:t>
            </a:r>
            <a:endParaRPr lang="en-GB" sz="1400" dirty="0"/>
          </a:p>
        </p:txBody>
      </p:sp>
      <p:sp>
        <p:nvSpPr>
          <p:cNvPr id="18" name="Text 16"/>
          <p:cNvSpPr txBox="1"/>
          <p:nvPr/>
        </p:nvSpPr>
        <p:spPr>
          <a:xfrm>
            <a:off x="566928" y="5961888"/>
            <a:ext cx="10881360" cy="274320"/>
          </a:xfrm>
          <a:prstGeom prst="rect">
            <a:avLst/>
          </a:prstGeom>
          <a:noFill/>
          <a:ln/>
        </p:spPr>
        <p:txBody>
          <a:bodyPr wrap="square" lIns="0" tIns="0" rIns="0" bIns="0" rtlCol="0" anchor="ctr"/>
          <a:lstStyle/>
          <a:p>
            <a:pPr indent="0" marL="0">
              <a:buNone/>
            </a:pPr>
            <a:r>
              <a:rPr lang="en-GB" sz="1300" dirty="0">
                <a:solidFill>
                  <a:srgbClr val="6B7485"/>
                </a:solidFill>
                <a:latin typeface="Calibri" pitchFamily="34" charset="0"/>
                <a:ea typeface="Calibri" pitchFamily="34" charset="-122"/>
                <a:cs typeface="Calibri" pitchFamily="34" charset="-120"/>
              </a:rPr>
              <a:t>Jake Rainford  ·  Service &amp; Repair Engineer  ·  any questions, get me on email or Teams</a:t>
            </a:r>
            <a:endParaRPr lang="en-GB" sz="1300" dirty="0"/>
          </a:p>
        </p:txBody>
      </p:sp>
      <p:sp>
        <p:nvSpPr>
          <p:cNvPr id="19" name="Text 17"/>
          <p:cNvSpPr txBox="1"/>
          <p:nvPr/>
        </p:nvSpPr>
        <p:spPr>
          <a:xfrm>
            <a:off x="566928" y="6291072"/>
            <a:ext cx="10881360" cy="457200"/>
          </a:xfrm>
          <a:prstGeom prst="rect">
            <a:avLst/>
          </a:prstGeom>
          <a:noFill/>
          <a:ln/>
        </p:spPr>
        <p:txBody>
          <a:bodyPr wrap="square" lIns="0" tIns="0" rIns="0" bIns="0" rtlCol="0" anchor="ctr"/>
          <a:lstStyle/>
          <a:p>
            <a:pPr indent="0" marL="0">
              <a:lnSpc>
                <a:spcPts val="1400"/>
              </a:lnSpc>
              <a:buNone/>
            </a:pPr>
            <a:r>
              <a:rPr lang="en-US" sz="1050" dirty="0">
                <a:solidFill>
                  <a:srgbClr val="6B7485"/>
                </a:solidFill>
                <a:latin typeface="Calibri" pitchFamily="34" charset="0"/>
                <a:ea typeface="Calibri" pitchFamily="34" charset="-122"/>
                <a:cs typeface="Calibri" pitchFamily="34" charset="-120"/>
              </a:rPr>
              <a:t>Personal estimates only — verify against your payslip and company tools. Not affiliated with, endorsed by, or representative of Centrica plc, British Gas or any employer.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583680" y="566928"/>
            <a:ext cx="5151120" cy="237744"/>
          </a:xfrm>
          <a:prstGeom prst="rect">
            <a:avLst/>
          </a:prstGeom>
          <a:noFill/>
          <a:ln/>
        </p:spPr>
        <p:txBody>
          <a:bodyPr wrap="square" lIns="0" tIns="0" rIns="0" bIns="0" rtlCol="0" anchor="ctr"/>
          <a:lstStyle/>
          <a:p>
            <a:pPr indent="0" marL="0">
              <a:buNone/>
            </a:pPr>
            <a:r>
              <a:rPr lang="en-GB" sz="1100" b="1" spc="240" kern="0" dirty="0">
                <a:solidFill>
                  <a:srgbClr val="2F6BC4"/>
                </a:solidFill>
                <a:latin typeface="Arial" pitchFamily="34" charset="0"/>
                <a:ea typeface="Arial" pitchFamily="34" charset="-122"/>
                <a:cs typeface="Arial" pitchFamily="34" charset="-120"/>
              </a:rPr>
              <a:t>YOUR WEEK</a:t>
            </a:r>
            <a:endParaRPr lang="en-GB" sz="1100" dirty="0"/>
          </a:p>
        </p:txBody>
      </p:sp>
      <p:sp>
        <p:nvSpPr>
          <p:cNvPr id="3" name="Text 1"/>
          <p:cNvSpPr txBox="1"/>
          <p:nvPr/>
        </p:nvSpPr>
        <p:spPr>
          <a:xfrm>
            <a:off x="6583680" y="877824"/>
            <a:ext cx="5151120" cy="1280160"/>
          </a:xfrm>
          <a:prstGeom prst="rect">
            <a:avLst/>
          </a:prstGeom>
          <a:noFill/>
          <a:ln/>
        </p:spPr>
        <p:txBody>
          <a:bodyPr wrap="square" lIns="0" tIns="0" rIns="0" bIns="0" rtlCol="0" anchor="ctr"/>
          <a:lstStyle/>
          <a:p>
            <a:pPr indent="0" marL="0">
              <a:lnSpc>
                <a:spcPts val="3800"/>
              </a:lnSpc>
              <a:buNone/>
            </a:pPr>
            <a:r>
              <a:rPr lang="en-GB" sz="3000" b="1" dirty="0">
                <a:solidFill>
                  <a:srgbClr val="0F1522"/>
                </a:solidFill>
                <a:latin typeface="Arial" pitchFamily="34" charset="0"/>
                <a:ea typeface="Arial" pitchFamily="34" charset="-122"/>
                <a:cs typeface="Arial" pitchFamily="34" charset="-120"/>
              </a:rPr>
              <a:t>Set the week you work,</a:t>
            </a:r>
            <a:endParaRPr lang="en-GB" sz="3000" dirty="0"/>
          </a:p>
          <a:p>
            <a:pPr indent="0" marL="0">
              <a:lnSpc>
                <a:spcPts val="3800"/>
              </a:lnSpc>
              <a:buNone/>
            </a:pPr>
            <a:r>
              <a:rPr lang="en-GB" sz="3000" b="1" dirty="0">
                <a:solidFill>
                  <a:srgbClr val="0F1522"/>
                </a:solidFill>
                <a:latin typeface="Arial" pitchFamily="34" charset="0"/>
                <a:ea typeface="Arial" pitchFamily="34" charset="-122"/>
                <a:cs typeface="Arial" pitchFamily="34" charset="-120"/>
              </a:rPr>
              <a:t>then see all of it.</a:t>
            </a:r>
            <a:endParaRPr lang="en-GB" sz="3000" dirty="0"/>
          </a:p>
        </p:txBody>
      </p:sp>
      <p:sp>
        <p:nvSpPr>
          <p:cNvPr id="4" name="Shape 2"/>
          <p:cNvSpPr/>
          <p:nvPr/>
        </p:nvSpPr>
        <p:spPr>
          <a:xfrm>
            <a:off x="6583680" y="2459736"/>
            <a:ext cx="173736" cy="173736"/>
          </a:xfrm>
          <a:prstGeom prst="ellipse">
            <a:avLst/>
          </a:prstGeom>
          <a:solidFill>
            <a:srgbClr val="2F6BC4"/>
          </a:solidFill>
          <a:ln w="12700">
            <a:solidFill>
              <a:srgbClr val="2F6BC4"/>
            </a:solidFill>
            <a:prstDash val="solid"/>
          </a:ln>
        </p:spPr>
      </p:sp>
      <p:sp>
        <p:nvSpPr>
          <p:cNvPr id="5" name="Text 3"/>
          <p:cNvSpPr txBox="1"/>
          <p:nvPr/>
        </p:nvSpPr>
        <p:spPr>
          <a:xfrm>
            <a:off x="6949440" y="2395728"/>
            <a:ext cx="4785360" cy="310896"/>
          </a:xfrm>
          <a:prstGeom prst="rect">
            <a:avLst/>
          </a:prstGeom>
          <a:noFill/>
          <a:ln/>
        </p:spPr>
        <p:txBody>
          <a:bodyPr wrap="square" lIns="0" tIns="0" rIns="0" bIns="0" rtlCol="0" anchor="ctr"/>
          <a:lstStyle/>
          <a:p>
            <a:pPr indent="0" marL="0">
              <a:buNone/>
            </a:pPr>
            <a:r>
              <a:rPr lang="en-GB" sz="1500" dirty="0">
                <a:solidFill>
                  <a:srgbClr val="4B5565"/>
                </a:solidFill>
                <a:latin typeface="Calibri" pitchFamily="34" charset="0"/>
                <a:ea typeface="Calibri" pitchFamily="34" charset="-122"/>
                <a:cs typeface="Calibri" pitchFamily="34" charset="-120"/>
              </a:rPr>
              <a:t>Tap a day's times, set them, Confirm</a:t>
            </a:r>
            <a:endParaRPr lang="en-GB" sz="1500" dirty="0"/>
          </a:p>
        </p:txBody>
      </p:sp>
      <p:sp>
        <p:nvSpPr>
          <p:cNvPr id="6" name="Shape 4"/>
          <p:cNvSpPr/>
          <p:nvPr/>
        </p:nvSpPr>
        <p:spPr>
          <a:xfrm>
            <a:off x="6583680" y="2916936"/>
            <a:ext cx="173736" cy="173736"/>
          </a:xfrm>
          <a:prstGeom prst="ellipse">
            <a:avLst/>
          </a:prstGeom>
          <a:solidFill>
            <a:srgbClr val="2F6BC4"/>
          </a:solidFill>
          <a:ln w="12700">
            <a:solidFill>
              <a:srgbClr val="2F6BC4"/>
            </a:solidFill>
            <a:prstDash val="solid"/>
          </a:ln>
        </p:spPr>
      </p:sp>
      <p:sp>
        <p:nvSpPr>
          <p:cNvPr id="7" name="Text 5"/>
          <p:cNvSpPr txBox="1"/>
          <p:nvPr/>
        </p:nvSpPr>
        <p:spPr>
          <a:xfrm>
            <a:off x="6949440" y="2852928"/>
            <a:ext cx="4785360" cy="310896"/>
          </a:xfrm>
          <a:prstGeom prst="rect">
            <a:avLst/>
          </a:prstGeom>
          <a:noFill/>
          <a:ln/>
        </p:spPr>
        <p:txBody>
          <a:bodyPr wrap="square" lIns="0" tIns="0" rIns="0" bIns="0" rtlCol="0" anchor="ctr"/>
          <a:lstStyle/>
          <a:p>
            <a:pPr indent="0" marL="0">
              <a:buNone/>
            </a:pPr>
            <a:r>
              <a:rPr lang="en-GB" sz="1500" dirty="0">
                <a:solidFill>
                  <a:srgbClr val="4B5565"/>
                </a:solidFill>
                <a:latin typeface="Calibri" pitchFamily="34" charset="0"/>
                <a:ea typeface="Calibri" pitchFamily="34" charset="-122"/>
                <a:cs typeface="Calibri" pitchFamily="34" charset="-120"/>
              </a:rPr>
              <a:t>Copy a shift to any days you choose</a:t>
            </a:r>
            <a:endParaRPr lang="en-GB" sz="1500" dirty="0"/>
          </a:p>
        </p:txBody>
      </p:sp>
      <p:sp>
        <p:nvSpPr>
          <p:cNvPr id="8" name="Shape 6"/>
          <p:cNvSpPr/>
          <p:nvPr/>
        </p:nvSpPr>
        <p:spPr>
          <a:xfrm>
            <a:off x="6583680" y="3374136"/>
            <a:ext cx="173736" cy="173736"/>
          </a:xfrm>
          <a:prstGeom prst="ellipse">
            <a:avLst/>
          </a:prstGeom>
          <a:solidFill>
            <a:srgbClr val="2F6BC4"/>
          </a:solidFill>
          <a:ln w="12700">
            <a:solidFill>
              <a:srgbClr val="2F6BC4"/>
            </a:solidFill>
            <a:prstDash val="solid"/>
          </a:ln>
        </p:spPr>
      </p:sp>
      <p:sp>
        <p:nvSpPr>
          <p:cNvPr id="9" name="Text 7"/>
          <p:cNvSpPr txBox="1"/>
          <p:nvPr/>
        </p:nvSpPr>
        <p:spPr>
          <a:xfrm>
            <a:off x="6949440" y="3310128"/>
            <a:ext cx="4785360" cy="310896"/>
          </a:xfrm>
          <a:prstGeom prst="rect">
            <a:avLst/>
          </a:prstGeom>
          <a:noFill/>
          <a:ln/>
        </p:spPr>
        <p:txBody>
          <a:bodyPr wrap="square" lIns="0" tIns="0" rIns="0" bIns="0" rtlCol="0" anchor="ctr"/>
          <a:lstStyle/>
          <a:p>
            <a:pPr indent="0" marL="0">
              <a:buNone/>
            </a:pPr>
            <a:r>
              <a:rPr lang="en-GB" sz="1500" dirty="0">
                <a:solidFill>
                  <a:srgbClr val="4B5565"/>
                </a:solidFill>
                <a:latin typeface="Calibri" pitchFamily="34" charset="0"/>
                <a:ea typeface="Calibri" pitchFamily="34" charset="-122"/>
                <a:cs typeface="Calibri" pitchFamily="34" charset="-120"/>
              </a:rPr>
              <a:t>No times means a rest day, not leave</a:t>
            </a:r>
            <a:endParaRPr lang="en-GB" sz="1500" dirty="0"/>
          </a:p>
        </p:txBody>
      </p:sp>
      <p:sp>
        <p:nvSpPr>
          <p:cNvPr id="10" name="Text 8"/>
          <p:cNvSpPr txBox="1"/>
          <p:nvPr/>
        </p:nvSpPr>
        <p:spPr>
          <a:xfrm>
            <a:off x="6583680" y="3977640"/>
            <a:ext cx="5151120" cy="1005840"/>
          </a:xfrm>
          <a:prstGeom prst="rect">
            <a:avLst/>
          </a:prstGeom>
          <a:noFill/>
          <a:ln/>
        </p:spPr>
        <p:txBody>
          <a:bodyPr wrap="square" lIns="0" tIns="0" rIns="0" bIns="0" rtlCol="0" anchor="t"/>
          <a:lstStyle/>
          <a:p>
            <a:pPr indent="0" marL="0">
              <a:lnSpc>
                <a:spcPts val="2100"/>
              </a:lnSpc>
              <a:buNone/>
            </a:pPr>
            <a:r>
              <a:rPr lang="en-GB" sz="1400" dirty="0">
                <a:solidFill>
                  <a:srgbClr val="4B5565"/>
                </a:solidFill>
                <a:latin typeface="Calibri" pitchFamily="34" charset="0"/>
                <a:ea typeface="Calibri" pitchFamily="34" charset="-122"/>
                <a:cs typeface="Calibri" pitchFamily="34" charset="-120"/>
              </a:rPr>
              <a:t>The Weekly Forecast runs Monday to Sunday and opens on today. Days left counts only the days you're working, so a Friday off doesn't spread the target over an extra day.</a:t>
            </a:r>
            <a:endParaRPr lang="en-GB" sz="1400" dirty="0"/>
          </a:p>
        </p:txBody>
      </p:sp>
      <p:sp>
        <p:nvSpPr>
          <p:cNvPr id="11" name="Text 9"/>
          <p:cNvSpPr txBox="1"/>
          <p:nvPr/>
        </p:nvSpPr>
        <p:spPr>
          <a:xfrm>
            <a:off x="6583680" y="5029200"/>
            <a:ext cx="5151120" cy="822960"/>
          </a:xfrm>
          <a:prstGeom prst="rect">
            <a:avLst/>
          </a:prstGeom>
          <a:noFill/>
          <a:ln/>
        </p:spPr>
        <p:txBody>
          <a:bodyPr wrap="square" lIns="0" tIns="0" rIns="0" bIns="0" rtlCol="0" anchor="ctr"/>
          <a:lstStyle/>
          <a:p>
            <a:pPr indent="0" marL="0">
              <a:lnSpc>
                <a:spcPts val="2100"/>
              </a:lnSpc>
              <a:buNone/>
            </a:pPr>
            <a:r>
              <a:rPr lang="en-GB" sz="1400" b="1" dirty="0">
                <a:solidFill>
                  <a:srgbClr val="0F1522"/>
                </a:solidFill>
                <a:latin typeface="Calibri" pitchFamily="34" charset="0"/>
                <a:ea typeface="Calibri" pitchFamily="34" charset="-122"/>
                <a:cs typeface="Calibri" pitchFamily="34" charset="-120"/>
              </a:rPr>
              <a:t xml:space="preserve">A rest day keeps your 40 hours. </a:t>
            </a:r>
            <a:r>
              <a:rPr lang="en-GB" sz="1400" dirty="0">
                <a:solidFill>
                  <a:srgbClr val="4B5565"/>
                </a:solidFill>
                <a:latin typeface="Calibri" pitchFamily="34" charset="0"/>
                <a:ea typeface="Calibri" pitchFamily="34" charset="-122"/>
                <a:cs typeface="Calibri" pitchFamily="34" charset="-120"/>
              </a:rPr>
              <a:t>It just isn't a day you're expected to earn on, unlike leave, which takes that day's hours off the week.</a:t>
            </a:r>
            <a:endParaRPr lang="en-GB" sz="1400" dirty="0"/>
          </a:p>
        </p:txBody>
      </p:sp>
      <p:sp>
        <p:nvSpPr>
          <p:cNvPr id="12" name="Shape 10"/>
          <p:cNvSpPr/>
          <p:nvPr/>
        </p:nvSpPr>
        <p:spPr>
          <a:xfrm>
            <a:off x="457200" y="589788"/>
            <a:ext cx="2714598" cy="5715000"/>
          </a:xfrm>
          <a:prstGeom prst="roundRect">
            <a:avLst>
              <a:gd name="adj" fmla="val 7411"/>
            </a:avLst>
          </a:prstGeom>
          <a:solidFill>
            <a:srgbClr val="DDE3EC"/>
          </a:solidFill>
          <a:ln w="12700">
            <a:solidFill>
              <a:srgbClr val="DDE3EC"/>
            </a:solidFill>
            <a:prstDash val="solid"/>
          </a:ln>
        </p:spPr>
      </p:sp>
      <p:pic>
        <p:nvPicPr>
          <p:cNvPr id="13" name="Image 0" descr="Schedule: Monday to Saturday 08:00 to 16:30, Sunday shown as a rest day"/>
          <p:cNvPicPr>
            <a:picLocks noChangeAspect="1"/>
          </p:cNvPicPr>
          <p:nvPr/>
        </p:nvPicPr>
        <p:blipFill>
          <a:blip r:embed="rId1"/>
          <a:stretch>
            <a:fillRect/>
          </a:stretch>
        </p:blipFill>
        <p:spPr>
          <a:xfrm>
            <a:off x="525780" y="658368"/>
            <a:ext cx="2577438" cy="5577840"/>
          </a:xfrm>
          <a:prstGeom prst="rect">
            <a:avLst/>
          </a:prstGeom>
        </p:spPr>
      </p:pic>
      <p:sp>
        <p:nvSpPr>
          <p:cNvPr id="14" name="Shape 11"/>
          <p:cNvSpPr/>
          <p:nvPr/>
        </p:nvSpPr>
        <p:spPr>
          <a:xfrm>
            <a:off x="3446118" y="589788"/>
            <a:ext cx="2714598" cy="5715000"/>
          </a:xfrm>
          <a:prstGeom prst="roundRect">
            <a:avLst>
              <a:gd name="adj" fmla="val 7411"/>
            </a:avLst>
          </a:prstGeom>
          <a:solidFill>
            <a:srgbClr val="DDE3EC"/>
          </a:solidFill>
          <a:ln w="12700">
            <a:solidFill>
              <a:srgbClr val="DDE3EC"/>
            </a:solidFill>
            <a:prstDash val="solid"/>
          </a:ln>
        </p:spPr>
      </p:sp>
      <p:pic>
        <p:nvPicPr>
          <p:cNvPr id="15" name="Image 1" descr="Weekly Forecast: a Monday to Sunday day strip open on Saturday, with the week's totals"/>
          <p:cNvPicPr>
            <a:picLocks noChangeAspect="1"/>
          </p:cNvPicPr>
          <p:nvPr/>
        </p:nvPicPr>
        <p:blipFill>
          <a:blip r:embed="rId4"/>
          <a:stretch>
            <a:fillRect/>
          </a:stretch>
        </p:blipFill>
        <p:spPr>
          <a:xfrm>
            <a:off x="3514698" y="658368"/>
            <a:ext cx="2577438" cy="5577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CTAP Tracker</dc:title>
  <dc:subject>PptxGenJS Presentation</dc:subject>
  <dc:creator>Jake Rainford</dc:creator>
  <cp:lastModifiedBy>Jake Rainford</cp:lastModifiedBy>
  <cp:revision>1</cp:revision>
  <dcterms:created xsi:type="dcterms:W3CDTF">2026-09-13T06:03:52Z</dcterms:created>
  <dcterms:modified xsi:type="dcterms:W3CDTF">2026-09-13T06:03:52Z</dcterms:modified>
</cp:coreProperties>
</file>